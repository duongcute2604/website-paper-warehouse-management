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2"/>
  </p:notesMasterIdLst>
  <p:handoutMasterIdLst>
    <p:handoutMasterId r:id="rId43"/>
  </p:handoutMasterIdLst>
  <p:sldIdLst>
    <p:sldId id="288" r:id="rId5"/>
    <p:sldId id="273" r:id="rId6"/>
    <p:sldId id="275" r:id="rId7"/>
    <p:sldId id="289" r:id="rId8"/>
    <p:sldId id="259" r:id="rId9"/>
    <p:sldId id="290" r:id="rId10"/>
    <p:sldId id="309" r:id="rId11"/>
    <p:sldId id="310" r:id="rId12"/>
    <p:sldId id="300" r:id="rId13"/>
    <p:sldId id="282" r:id="rId14"/>
    <p:sldId id="291" r:id="rId15"/>
    <p:sldId id="277" r:id="rId16"/>
    <p:sldId id="293" r:id="rId17"/>
    <p:sldId id="294" r:id="rId18"/>
    <p:sldId id="276" r:id="rId19"/>
    <p:sldId id="299" r:id="rId20"/>
    <p:sldId id="287" r:id="rId21"/>
    <p:sldId id="297" r:id="rId22"/>
    <p:sldId id="311" r:id="rId23"/>
    <p:sldId id="312" r:id="rId24"/>
    <p:sldId id="298" r:id="rId25"/>
    <p:sldId id="301" r:id="rId26"/>
    <p:sldId id="303" r:id="rId27"/>
    <p:sldId id="304" r:id="rId28"/>
    <p:sldId id="305" r:id="rId29"/>
    <p:sldId id="306" r:id="rId30"/>
    <p:sldId id="307" r:id="rId31"/>
    <p:sldId id="296" r:id="rId32"/>
    <p:sldId id="284" r:id="rId33"/>
    <p:sldId id="267" r:id="rId34"/>
    <p:sldId id="313" r:id="rId35"/>
    <p:sldId id="315" r:id="rId36"/>
    <p:sldId id="292" r:id="rId37"/>
    <p:sldId id="281" r:id="rId38"/>
    <p:sldId id="283" r:id="rId39"/>
    <p:sldId id="314" r:id="rId40"/>
    <p:sldId id="278"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12C8C85-51F0-491E-9774-3900AFEF0F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10" autoAdjust="0"/>
    <p:restoredTop sz="94694" autoAdjust="0"/>
  </p:normalViewPr>
  <p:slideViewPr>
    <p:cSldViewPr snapToGrid="0">
      <p:cViewPr varScale="1">
        <p:scale>
          <a:sx n="63" d="100"/>
          <a:sy n="63" d="100"/>
        </p:scale>
        <p:origin x="72" y="15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 Id="rId48" Type="http://schemas.microsoft.com/office/2018/10/relationships/authors" Targe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11/28/2025</a:t>
            </a:fld>
            <a:endParaRPr lang="en-US" dirty="0"/>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dirty="0"/>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9CA527-F925-414F-B4F4-8F4244CDDC80}" type="datetimeFigureOut">
              <a:rPr lang="en-US" smtClean="0"/>
              <a:t>11/28/2025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37E2AA-278D-0B48-A5DE-00B1FC5BDAF9}" type="slidenum">
              <a:rPr lang="en-US" smtClean="0"/>
              <a:t>‹#›</a:t>
            </a:fld>
            <a:endParaRPr lang="en-US" dirty="0"/>
          </a:p>
        </p:txBody>
      </p:sp>
    </p:spTree>
    <p:extLst>
      <p:ext uri="{BB962C8B-B14F-4D97-AF65-F5344CB8AC3E}">
        <p14:creationId xmlns:p14="http://schemas.microsoft.com/office/powerpoint/2010/main" val="4266559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37E2AA-278D-0B48-A5DE-00B1FC5BDAF9}" type="slidenum">
              <a:rPr lang="en-US" smtClean="0"/>
              <a:t>5</a:t>
            </a:fld>
            <a:endParaRPr lang="en-US" dirty="0"/>
          </a:p>
        </p:txBody>
      </p:sp>
    </p:spTree>
    <p:extLst>
      <p:ext uri="{BB962C8B-B14F-4D97-AF65-F5344CB8AC3E}">
        <p14:creationId xmlns:p14="http://schemas.microsoft.com/office/powerpoint/2010/main" val="15722720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22899-2235-A0B0-66CA-FF00D09398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15D4BB-41A8-1A27-CB41-B9A4B3A73F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EAE16B-A950-07BA-5006-B3FFB28990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5D5022-D551-6224-1636-85D8534827F1}"/>
              </a:ext>
            </a:extLst>
          </p:cNvPr>
          <p:cNvSpPr>
            <a:spLocks noGrp="1"/>
          </p:cNvSpPr>
          <p:nvPr>
            <p:ph type="sldNum" sz="quarter" idx="5"/>
          </p:nvPr>
        </p:nvSpPr>
        <p:spPr/>
        <p:txBody>
          <a:bodyPr/>
          <a:lstStyle/>
          <a:p>
            <a:fld id="{6937E2AA-278D-0B48-A5DE-00B1FC5BDAF9}" type="slidenum">
              <a:rPr lang="en-US" smtClean="0"/>
              <a:t>6</a:t>
            </a:fld>
            <a:endParaRPr lang="en-US" dirty="0"/>
          </a:p>
        </p:txBody>
      </p:sp>
    </p:spTree>
    <p:extLst>
      <p:ext uri="{BB962C8B-B14F-4D97-AF65-F5344CB8AC3E}">
        <p14:creationId xmlns:p14="http://schemas.microsoft.com/office/powerpoint/2010/main" val="14053525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0316D-0F9E-FD1D-239A-EE309347DB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D1291F-FCF6-8109-29E5-32DB41A83B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4DBD5A-8E4A-119F-A908-9208979AFC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04ADCD-31E8-00D7-980E-D62383565906}"/>
              </a:ext>
            </a:extLst>
          </p:cNvPr>
          <p:cNvSpPr>
            <a:spLocks noGrp="1"/>
          </p:cNvSpPr>
          <p:nvPr>
            <p:ph type="sldNum" sz="quarter" idx="5"/>
          </p:nvPr>
        </p:nvSpPr>
        <p:spPr/>
        <p:txBody>
          <a:bodyPr/>
          <a:lstStyle/>
          <a:p>
            <a:fld id="{6937E2AA-278D-0B48-A5DE-00B1FC5BDAF9}" type="slidenum">
              <a:rPr lang="en-US" smtClean="0"/>
              <a:t>7</a:t>
            </a:fld>
            <a:endParaRPr lang="en-US" dirty="0"/>
          </a:p>
        </p:txBody>
      </p:sp>
    </p:spTree>
    <p:extLst>
      <p:ext uri="{BB962C8B-B14F-4D97-AF65-F5344CB8AC3E}">
        <p14:creationId xmlns:p14="http://schemas.microsoft.com/office/powerpoint/2010/main" val="20697952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AF2D5-B175-F3EF-C294-54B3A31FAA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091AAF-17D6-5E84-A336-C43B438F12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658E05-3326-1E1F-46CD-26570E1B0F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556110-653F-6398-F57E-8E83487D05DB}"/>
              </a:ext>
            </a:extLst>
          </p:cNvPr>
          <p:cNvSpPr>
            <a:spLocks noGrp="1"/>
          </p:cNvSpPr>
          <p:nvPr>
            <p:ph type="sldNum" sz="quarter" idx="5"/>
          </p:nvPr>
        </p:nvSpPr>
        <p:spPr/>
        <p:txBody>
          <a:bodyPr/>
          <a:lstStyle/>
          <a:p>
            <a:fld id="{6937E2AA-278D-0B48-A5DE-00B1FC5BDAF9}" type="slidenum">
              <a:rPr lang="en-US" smtClean="0"/>
              <a:t>8</a:t>
            </a:fld>
            <a:endParaRPr lang="en-US" dirty="0"/>
          </a:p>
        </p:txBody>
      </p:sp>
    </p:spTree>
    <p:extLst>
      <p:ext uri="{BB962C8B-B14F-4D97-AF65-F5344CB8AC3E}">
        <p14:creationId xmlns:p14="http://schemas.microsoft.com/office/powerpoint/2010/main" val="36206508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956D3-DD6F-C676-91F8-38F0F57FFA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63C0E-02F8-DF17-2B15-AE9D511E32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1D2CF3-1C79-25DB-8EAE-7A4DC5E1C6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D097BA-003C-5BE9-22C7-7FD24EC3C2A9}"/>
              </a:ext>
            </a:extLst>
          </p:cNvPr>
          <p:cNvSpPr>
            <a:spLocks noGrp="1"/>
          </p:cNvSpPr>
          <p:nvPr>
            <p:ph type="sldNum" sz="quarter" idx="5"/>
          </p:nvPr>
        </p:nvSpPr>
        <p:spPr/>
        <p:txBody>
          <a:bodyPr/>
          <a:lstStyle/>
          <a:p>
            <a:fld id="{6937E2AA-278D-0B48-A5DE-00B1FC5BDAF9}" type="slidenum">
              <a:rPr lang="en-US" smtClean="0"/>
              <a:t>9</a:t>
            </a:fld>
            <a:endParaRPr lang="en-US" dirty="0"/>
          </a:p>
        </p:txBody>
      </p:sp>
    </p:spTree>
    <p:extLst>
      <p:ext uri="{BB962C8B-B14F-4D97-AF65-F5344CB8AC3E}">
        <p14:creationId xmlns:p14="http://schemas.microsoft.com/office/powerpoint/2010/main" val="22630752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BE272-F6E0-D6B5-D260-BDC6CA25A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F2A99B-C57F-518D-595C-BECF1BC9D3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86F3A0-2AA5-71FD-E849-A21752C4C2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8E25D3-E3C3-55D6-D1B3-534B79690021}"/>
              </a:ext>
            </a:extLst>
          </p:cNvPr>
          <p:cNvSpPr>
            <a:spLocks noGrp="1"/>
          </p:cNvSpPr>
          <p:nvPr>
            <p:ph type="sldNum" sz="quarter" idx="5"/>
          </p:nvPr>
        </p:nvSpPr>
        <p:spPr/>
        <p:txBody>
          <a:bodyPr/>
          <a:lstStyle/>
          <a:p>
            <a:fld id="{6937E2AA-278D-0B48-A5DE-00B1FC5BDAF9}" type="slidenum">
              <a:rPr lang="en-US" smtClean="0"/>
              <a:t>18</a:t>
            </a:fld>
            <a:endParaRPr lang="en-US" dirty="0"/>
          </a:p>
        </p:txBody>
      </p:sp>
    </p:spTree>
    <p:extLst>
      <p:ext uri="{BB962C8B-B14F-4D97-AF65-F5344CB8AC3E}">
        <p14:creationId xmlns:p14="http://schemas.microsoft.com/office/powerpoint/2010/main" val="18731903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B4456-24D3-5902-B481-E268CD2E7E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019D59-A4F3-E66F-A970-FD44F7B2B7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E810E5-B40D-6578-28FA-8D2AD1D3F3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A8272A-A9B9-280A-7F6A-31B0F3232091}"/>
              </a:ext>
            </a:extLst>
          </p:cNvPr>
          <p:cNvSpPr>
            <a:spLocks noGrp="1"/>
          </p:cNvSpPr>
          <p:nvPr>
            <p:ph type="sldNum" sz="quarter" idx="5"/>
          </p:nvPr>
        </p:nvSpPr>
        <p:spPr/>
        <p:txBody>
          <a:bodyPr/>
          <a:lstStyle/>
          <a:p>
            <a:fld id="{6937E2AA-278D-0B48-A5DE-00B1FC5BDAF9}" type="slidenum">
              <a:rPr lang="en-US" smtClean="0"/>
              <a:t>19</a:t>
            </a:fld>
            <a:endParaRPr lang="en-US" dirty="0"/>
          </a:p>
        </p:txBody>
      </p:sp>
    </p:spTree>
    <p:extLst>
      <p:ext uri="{BB962C8B-B14F-4D97-AF65-F5344CB8AC3E}">
        <p14:creationId xmlns:p14="http://schemas.microsoft.com/office/powerpoint/2010/main" val="25887759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A4F04-2D89-F978-AA38-4980988232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52E02D-9802-24B2-0123-C3BB83153C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708354-DF9A-C6DC-BE9E-D1EC8829E3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B688D1-FB93-B78E-DF34-AB9FFE554328}"/>
              </a:ext>
            </a:extLst>
          </p:cNvPr>
          <p:cNvSpPr>
            <a:spLocks noGrp="1"/>
          </p:cNvSpPr>
          <p:nvPr>
            <p:ph type="sldNum" sz="quarter" idx="5"/>
          </p:nvPr>
        </p:nvSpPr>
        <p:spPr/>
        <p:txBody>
          <a:bodyPr/>
          <a:lstStyle/>
          <a:p>
            <a:fld id="{6937E2AA-278D-0B48-A5DE-00B1FC5BDAF9}" type="slidenum">
              <a:rPr lang="en-US" smtClean="0"/>
              <a:t>20</a:t>
            </a:fld>
            <a:endParaRPr lang="en-US" dirty="0"/>
          </a:p>
        </p:txBody>
      </p:sp>
    </p:spTree>
    <p:extLst>
      <p:ext uri="{BB962C8B-B14F-4D97-AF65-F5344CB8AC3E}">
        <p14:creationId xmlns:p14="http://schemas.microsoft.com/office/powerpoint/2010/main" val="37004927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37E2AA-278D-0B48-A5DE-00B1FC5BDAF9}" type="slidenum">
              <a:rPr lang="en-US" smtClean="0"/>
              <a:t>30</a:t>
            </a:fld>
            <a:endParaRPr lang="en-US" dirty="0"/>
          </a:p>
        </p:txBody>
      </p:sp>
    </p:spTree>
    <p:extLst>
      <p:ext uri="{BB962C8B-B14F-4D97-AF65-F5344CB8AC3E}">
        <p14:creationId xmlns:p14="http://schemas.microsoft.com/office/powerpoint/2010/main" val="27102744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2" name="Picture Placeholder 8">
            <a:extLst>
              <a:ext uri="{FF2B5EF4-FFF2-40B4-BE49-F238E27FC236}">
                <a16:creationId xmlns:a16="http://schemas.microsoft.com/office/drawing/2014/main" id="{D56268A4-B555-72BE-6160-318763ECAA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7" name="Rectangle 6">
            <a:extLst>
              <a:ext uri="{FF2B5EF4-FFF2-40B4-BE49-F238E27FC236}">
                <a16:creationId xmlns:a16="http://schemas.microsoft.com/office/drawing/2014/main" id="{12D44DBA-D665-923B-A38C-C68A9C039EA9}"/>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anchor="ctr" anchorCtr="0">
            <a:noAutofit/>
          </a:bodyPr>
          <a:lstStyle>
            <a:lvl1pPr algn="ctr">
              <a:defRPr sz="4400"/>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pic>
        <p:nvPicPr>
          <p:cNvPr id="7" name="Picture Placeholder 38">
            <a:extLst>
              <a:ext uri="{FF2B5EF4-FFF2-40B4-BE49-F238E27FC236}">
                <a16:creationId xmlns:a16="http://schemas.microsoft.com/office/drawing/2014/main" id="{31550E6E-10D6-E75A-F6B1-8800DAC2CBFB}"/>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7802" b="7802"/>
          <a:stretch>
            <a:fillRect/>
          </a:stretch>
        </p:blipFill>
        <p:spPr>
          <a:xfrm>
            <a:off x="0" y="0"/>
            <a:ext cx="12188952" cy="6858000"/>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1373038" y="1457865"/>
            <a:ext cx="3200400" cy="4580626"/>
          </a:xfrm>
        </p:spPr>
        <p:txBody>
          <a:bodyPr anchor="t">
            <a:noAutofit/>
          </a:bodyPr>
          <a:lstStyle>
            <a:lvl1pPr algn="ctr">
              <a:defRPr sz="3600"/>
            </a:lvl1pPr>
          </a:lstStyle>
          <a:p>
            <a:r>
              <a:rPr lang="en-US" dirty="0"/>
              <a:t>Click to add title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4796287" y="1457864"/>
            <a:ext cx="4986068" cy="4580627"/>
          </a:xfrm>
        </p:spPr>
        <p:txBody>
          <a:bodyPr tIns="45720" anchor="t" anchorCtr="0">
            <a:normAutofit/>
          </a:bodyPr>
          <a:lstStyle>
            <a:lvl1pPr marL="0" indent="0">
              <a:lnSpc>
                <a:spcPct val="150000"/>
              </a:lnSpc>
              <a:spcBef>
                <a:spcPts val="1000"/>
              </a:spcBef>
              <a:spcAft>
                <a:spcPts val="1200"/>
              </a:spcAft>
              <a:buNone/>
              <a:defRPr sz="2400"/>
            </a:lvl1pPr>
            <a:lvl2pPr>
              <a:lnSpc>
                <a:spcPct val="150000"/>
              </a:lnSpc>
              <a:spcBef>
                <a:spcPts val="1000"/>
              </a:spcBef>
              <a:spcAft>
                <a:spcPts val="1200"/>
              </a:spcAft>
              <a:defRPr sz="2000"/>
            </a:lvl2pPr>
            <a:lvl3pPr>
              <a:lnSpc>
                <a:spcPct val="150000"/>
              </a:lnSpc>
              <a:spcBef>
                <a:spcPts val="1000"/>
              </a:spcBef>
              <a:spcAft>
                <a:spcPts val="1200"/>
              </a:spcAft>
              <a:defRPr sz="1800"/>
            </a:lvl3pPr>
            <a:lvl4pPr>
              <a:lnSpc>
                <a:spcPct val="150000"/>
              </a:lnSpc>
              <a:spcBef>
                <a:spcPts val="1000"/>
              </a:spcBef>
              <a:spcAft>
                <a:spcPts val="1200"/>
              </a:spcAft>
              <a:defRPr sz="1600"/>
            </a:lvl4pPr>
            <a:lvl5pPr>
              <a:lnSpc>
                <a:spcPct val="150000"/>
              </a:lnSpc>
              <a:spcBef>
                <a:spcPts val="1000"/>
              </a:spcBef>
              <a:spcAft>
                <a:spcPts val="1200"/>
              </a:spcAft>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11/28/2025</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914388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picture">
    <p:spTree>
      <p:nvGrpSpPr>
        <p:cNvPr id="1" name=""/>
        <p:cNvGrpSpPr/>
        <p:nvPr/>
      </p:nvGrpSpPr>
      <p:grpSpPr>
        <a:xfrm>
          <a:off x="0" y="0"/>
          <a:ext cx="0" cy="0"/>
          <a:chOff x="0" y="0"/>
          <a:chExt cx="0" cy="0"/>
        </a:xfrm>
      </p:grpSpPr>
      <p:pic>
        <p:nvPicPr>
          <p:cNvPr id="7" name="Picture Placeholder 8">
            <a:extLst>
              <a:ext uri="{FF2B5EF4-FFF2-40B4-BE49-F238E27FC236}">
                <a16:creationId xmlns:a16="http://schemas.microsoft.com/office/drawing/2014/main" id="{61F88592-24FD-96EC-ADB3-C0B7682DF9A5}"/>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11" name="Title 1">
            <a:extLst>
              <a:ext uri="{FF2B5EF4-FFF2-40B4-BE49-F238E27FC236}">
                <a16:creationId xmlns:a16="http://schemas.microsoft.com/office/drawing/2014/main" id="{076C4EAC-BBDE-1963-BD72-3BD2A47DC59C}"/>
              </a:ext>
            </a:extLst>
          </p:cNvPr>
          <p:cNvSpPr>
            <a:spLocks noGrp="1"/>
          </p:cNvSpPr>
          <p:nvPr>
            <p:ph type="ctrTitle" hasCustomPrompt="1"/>
          </p:nvPr>
        </p:nvSpPr>
        <p:spPr>
          <a:xfrm>
            <a:off x="918259" y="798653"/>
            <a:ext cx="5166167" cy="5289630"/>
          </a:xfrm>
          <a:solidFill>
            <a:schemeClr val="bg1">
              <a:alpha val="95000"/>
            </a:schemeClr>
          </a:solidFill>
        </p:spPr>
        <p:txBody>
          <a:bodyPr lIns="274320" rIns="274320" anchor="ctr">
            <a:noAutofit/>
          </a:bodyPr>
          <a:lstStyle>
            <a:lvl1pPr algn="ctr">
              <a:defRPr sz="4400"/>
            </a:lvl1pPr>
          </a:lstStyle>
          <a:p>
            <a:r>
              <a:rPr lang="en-US" dirty="0"/>
              <a:t>Click to add title</a:t>
            </a:r>
          </a:p>
        </p:txBody>
      </p:sp>
      <p:sp>
        <p:nvSpPr>
          <p:cNvPr id="8" name="Picture Placeholder 7">
            <a:extLst>
              <a:ext uri="{FF2B5EF4-FFF2-40B4-BE49-F238E27FC236}">
                <a16:creationId xmlns:a16="http://schemas.microsoft.com/office/drawing/2014/main" id="{E592AF4F-2F83-7005-B3AC-6FCC7FB19140}"/>
              </a:ext>
            </a:extLst>
          </p:cNvPr>
          <p:cNvSpPr>
            <a:spLocks noGrp="1"/>
          </p:cNvSpPr>
          <p:nvPr>
            <p:ph type="pic" sz="quarter" idx="13"/>
          </p:nvPr>
        </p:nvSpPr>
        <p:spPr>
          <a:xfrm>
            <a:off x="6084424" y="787077"/>
            <a:ext cx="5166167" cy="5289631"/>
          </a:xfrm>
          <a:solidFill>
            <a:schemeClr val="bg1">
              <a:alpha val="95000"/>
            </a:schemeClr>
          </a:solidFill>
        </p:spPr>
        <p:txBody>
          <a:bodyPr>
            <a:noAutofit/>
          </a:bodyPr>
          <a:lstStyle>
            <a:lvl1pPr marL="342900" indent="-342900" algn="ctr">
              <a:buFont typeface="Arial" panose="020B0604020202020204" pitchFamily="34" charset="0"/>
              <a:buChar char="•"/>
              <a:defRPr sz="20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t>Click icon to add picture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11/28/2025</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298420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pic>
        <p:nvPicPr>
          <p:cNvPr id="8" name="Picture Placeholder 13">
            <a:extLst>
              <a:ext uri="{FF2B5EF4-FFF2-40B4-BE49-F238E27FC236}">
                <a16:creationId xmlns:a16="http://schemas.microsoft.com/office/drawing/2014/main" id="{BD017017-3234-8C24-B9FC-80FB1120D156}"/>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50000"/>
                    </a14:imgEffect>
                  </a14:imgLayer>
                </a14:imgProps>
              </a:ex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11" name="Rectangle 10">
            <a:extLst>
              <a:ext uri="{FF2B5EF4-FFF2-40B4-BE49-F238E27FC236}">
                <a16:creationId xmlns:a16="http://schemas.microsoft.com/office/drawing/2014/main" id="{CC226FA8-C264-7189-EEA0-5264009074FF}"/>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6296135" y="1124887"/>
            <a:ext cx="4480560" cy="2352356"/>
          </a:xfrm>
        </p:spPr>
        <p:txBody>
          <a:bodyPr anchor="b">
            <a:noAutofit/>
          </a:bodyPr>
          <a:lstStyle>
            <a:lvl1pPr algn="l">
              <a:defRPr sz="36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6296135" y="3571197"/>
            <a:ext cx="4476967" cy="2123547"/>
          </a:xfrm>
        </p:spPr>
        <p:txBody>
          <a:bodyPr>
            <a:no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
        <p:nvSpPr>
          <p:cNvPr id="7" name="Picture Placeholder 7">
            <a:extLst>
              <a:ext uri="{FF2B5EF4-FFF2-40B4-BE49-F238E27FC236}">
                <a16:creationId xmlns:a16="http://schemas.microsoft.com/office/drawing/2014/main" id="{AA872EE9-FDFB-95A7-3547-DCAA0B51FE21}"/>
              </a:ext>
            </a:extLst>
          </p:cNvPr>
          <p:cNvSpPr>
            <a:spLocks noGrp="1"/>
          </p:cNvSpPr>
          <p:nvPr>
            <p:ph type="pic" sz="quarter" idx="13"/>
          </p:nvPr>
        </p:nvSpPr>
        <p:spPr>
          <a:xfrm>
            <a:off x="1329545" y="1148037"/>
            <a:ext cx="4365199" cy="4546707"/>
          </a:xfrm>
        </p:spPr>
        <p:txBody>
          <a:bodyPr>
            <a:normAutofit/>
          </a:bodyPr>
          <a:lstStyle>
            <a:lvl1pPr marL="0" indent="0" algn="ctr">
              <a:buNone/>
              <a:defRPr sz="2000"/>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fld id="{D6D8061D-18C3-4F4F-85EF-561633F58754}" type="datetimeFigureOut">
              <a:rPr lang="en-US" smtClean="0"/>
              <a:t>11/28/2025</a:t>
            </a:fld>
            <a:endParaRPr lang="en-US" dirty="0"/>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924186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pic>
        <p:nvPicPr>
          <p:cNvPr id="7" name="Picture Placeholder 17">
            <a:extLst>
              <a:ext uri="{FF2B5EF4-FFF2-40B4-BE49-F238E27FC236}">
                <a16:creationId xmlns:a16="http://schemas.microsoft.com/office/drawing/2014/main" id="{28B211FD-99D2-B373-669F-6E0F8E5B336F}"/>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60000"/>
                    </a14:imgEffect>
                  </a14:imgLayer>
                </a14:imgProps>
              </a:ext>
              <a:ext uri="{28A0092B-C50C-407E-A947-70E740481C1C}">
                <a14:useLocalDpi xmlns:a14="http://schemas.microsoft.com/office/drawing/2010/main"/>
              </a:ext>
            </a:extLst>
          </a:blip>
          <a:srcRect/>
          <a:stretch/>
        </p:blipFill>
        <p:spPr>
          <a:xfrm>
            <a:off x="0" y="0"/>
            <a:ext cx="12188952" cy="6858000"/>
          </a:xfrm>
          <a:prstGeom prst="rect">
            <a:avLst/>
          </a:prstGeom>
        </p:spPr>
      </p:pic>
      <p:sp>
        <p:nvSpPr>
          <p:cNvPr id="8" name="Rectangle 7">
            <a:extLst>
              <a:ext uri="{FF2B5EF4-FFF2-40B4-BE49-F238E27FC236}">
                <a16:creationId xmlns:a16="http://schemas.microsoft.com/office/drawing/2014/main" id="{C4079EDA-1B98-E3C1-23AD-7FB6F39FE268}"/>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1616598" y="995425"/>
            <a:ext cx="8958805" cy="1077230"/>
          </a:xfrm>
        </p:spPr>
        <p:txBody>
          <a:bodyPr anchor="b" anchorCtr="0">
            <a:noAutofit/>
          </a:bodyPr>
          <a:lstStyle>
            <a:lvl1pPr algn="ctr">
              <a:defRPr sz="3600"/>
            </a:lvl1pPr>
          </a:lstStyle>
          <a:p>
            <a:r>
              <a:rPr lang="en-US" dirty="0"/>
              <a:t>Click to add title</a:t>
            </a:r>
          </a:p>
        </p:txBody>
      </p:sp>
      <p:sp>
        <p:nvSpPr>
          <p:cNvPr id="9" name="Content Placeholder 2">
            <a:extLst>
              <a:ext uri="{FF2B5EF4-FFF2-40B4-BE49-F238E27FC236}">
                <a16:creationId xmlns:a16="http://schemas.microsoft.com/office/drawing/2014/main" id="{76BDAEBE-3A0C-BBCD-A1F0-E1F1E07000E1}"/>
              </a:ext>
            </a:extLst>
          </p:cNvPr>
          <p:cNvSpPr>
            <a:spLocks noGrp="1"/>
          </p:cNvSpPr>
          <p:nvPr>
            <p:ph sz="half" idx="14" hasCustomPrompt="1"/>
          </p:nvPr>
        </p:nvSpPr>
        <p:spPr>
          <a:xfrm>
            <a:off x="1616599" y="2257061"/>
            <a:ext cx="8958804" cy="3541853"/>
          </a:xfrm>
        </p:spPr>
        <p:txBody>
          <a:bodyPr>
            <a:normAutofit/>
          </a:bodyPr>
          <a:lstStyle>
            <a:lvl1pPr marL="0" indent="0">
              <a:spcBef>
                <a:spcPts val="1000"/>
              </a:spcBef>
              <a:spcAft>
                <a:spcPts val="1000"/>
              </a:spcAft>
              <a:buNone/>
              <a:defRPr sz="1800"/>
            </a:lvl1pPr>
            <a:lvl2pPr marL="228600">
              <a:spcBef>
                <a:spcPts val="600"/>
              </a:spcBef>
              <a:spcAft>
                <a:spcPts val="600"/>
              </a:spcAft>
              <a:defRPr sz="1800"/>
            </a:lvl2pPr>
            <a:lvl3pPr marL="685800">
              <a:spcBef>
                <a:spcPts val="600"/>
              </a:spcBef>
              <a:spcAft>
                <a:spcPts val="600"/>
              </a:spcAft>
              <a:defRPr sz="1800"/>
            </a:lvl3pPr>
            <a:lvl4pPr marL="1143000">
              <a:spcBef>
                <a:spcPts val="600"/>
              </a:spcBef>
              <a:spcAft>
                <a:spcPts val="600"/>
              </a:spcAft>
              <a:defRPr sz="1800"/>
            </a:lvl4pPr>
            <a:lvl5pPr marL="1600200">
              <a:spcBef>
                <a:spcPts val="600"/>
              </a:spcBef>
              <a:spcAft>
                <a:spcPts val="600"/>
              </a:spcAft>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11/28/2025</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587894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pic>
        <p:nvPicPr>
          <p:cNvPr id="4" name="Picture Placeholder 5">
            <a:extLst>
              <a:ext uri="{FF2B5EF4-FFF2-40B4-BE49-F238E27FC236}">
                <a16:creationId xmlns:a16="http://schemas.microsoft.com/office/drawing/2014/main" id="{236F3DDC-7FF8-F6A3-16EA-A01E7F79536C}"/>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1524" y="0"/>
            <a:ext cx="12188952" cy="6858000"/>
          </a:xfrm>
          <a:prstGeom prst="rect">
            <a:avLst/>
          </a:prstGeom>
        </p:spPr>
      </p:pic>
      <p:sp>
        <p:nvSpPr>
          <p:cNvPr id="9" name="Title 33">
            <a:extLst>
              <a:ext uri="{FF2B5EF4-FFF2-40B4-BE49-F238E27FC236}">
                <a16:creationId xmlns:a16="http://schemas.microsoft.com/office/drawing/2014/main" id="{E728EBB2-9164-AC06-6682-9505D88F9535}"/>
              </a:ext>
              <a:ext uri="{C183D7F6-B498-43B3-948B-1728B52AA6E4}">
                <adec:decorative xmlns:adec="http://schemas.microsoft.com/office/drawing/2017/decorative" val="1"/>
              </a:ext>
            </a:extLst>
          </p:cNvPr>
          <p:cNvSpPr txBox="1">
            <a:spLocks/>
          </p:cNvSpPr>
          <p:nvPr userDrawn="1"/>
        </p:nvSpPr>
        <p:spPr>
          <a:xfrm>
            <a:off x="915924" y="777240"/>
            <a:ext cx="6115497" cy="5303520"/>
          </a:xfrm>
          <a:prstGeom prst="rect">
            <a:avLst/>
          </a:prstGeom>
          <a:solidFill>
            <a:schemeClr val="bg1">
              <a:alpha val="95000"/>
            </a:schemeClr>
          </a:solidFill>
        </p:spPr>
        <p:txBody>
          <a:bodyPr vert="horz" lIns="91440" tIns="45720" rIns="91440" bIns="4572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1416937" y="879674"/>
            <a:ext cx="5377406" cy="2550005"/>
          </a:xfrm>
        </p:spPr>
        <p:txBody>
          <a:bodyPr anchor="b" anchorCtr="0">
            <a:noAutofit/>
          </a:bodyPr>
          <a:lstStyle>
            <a:lvl1pPr>
              <a:defRPr sz="3600"/>
            </a:lvl1pPr>
          </a:lstStyle>
          <a:p>
            <a:r>
              <a:rPr lang="en-US" dirty="0"/>
              <a:t>Click to add title</a:t>
            </a:r>
          </a:p>
        </p:txBody>
      </p:sp>
      <p:sp>
        <p:nvSpPr>
          <p:cNvPr id="13" name="Text Placeholder 12">
            <a:extLst>
              <a:ext uri="{FF2B5EF4-FFF2-40B4-BE49-F238E27FC236}">
                <a16:creationId xmlns:a16="http://schemas.microsoft.com/office/drawing/2014/main" id="{53BA3AA6-E309-C0C7-B2C6-3705384B7067}"/>
              </a:ext>
            </a:extLst>
          </p:cNvPr>
          <p:cNvSpPr>
            <a:spLocks noGrp="1"/>
          </p:cNvSpPr>
          <p:nvPr>
            <p:ph type="body" sz="quarter" idx="13" hasCustomPrompt="1"/>
          </p:nvPr>
        </p:nvSpPr>
        <p:spPr>
          <a:xfrm>
            <a:off x="1417638" y="3576900"/>
            <a:ext cx="4126635" cy="2233613"/>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11/28/2025</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845438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pic>
        <p:nvPicPr>
          <p:cNvPr id="8" name="Picture Placeholder 5">
            <a:extLst>
              <a:ext uri="{FF2B5EF4-FFF2-40B4-BE49-F238E27FC236}">
                <a16:creationId xmlns:a16="http://schemas.microsoft.com/office/drawing/2014/main" id="{540E5FCC-3981-FB51-F0ED-B8BAB5C45A2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9" name="Rectangle 8">
            <a:extLst>
              <a:ext uri="{FF2B5EF4-FFF2-40B4-BE49-F238E27FC236}">
                <a16:creationId xmlns:a16="http://schemas.microsoft.com/office/drawing/2014/main" id="{3BCE2C9E-7BC3-0EB6-EBE4-26EE33A1F2A3}"/>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1269357" y="891251"/>
            <a:ext cx="9653286" cy="1158254"/>
          </a:xfrm>
        </p:spPr>
        <p:txBody>
          <a:bodyPr anchor="b" anchorCtr="0">
            <a:noAutofit/>
          </a:bodyPr>
          <a:lstStyle>
            <a:lvl1pPr algn="ctr">
              <a:defRPr sz="3600"/>
            </a:lvl1pPr>
          </a:lstStyle>
          <a:p>
            <a:r>
              <a:rPr lang="en-US" dirty="0"/>
              <a:t>Click to add title</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11/28/2025</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10" name="Content Placeholder 2">
            <a:extLst>
              <a:ext uri="{FF2B5EF4-FFF2-40B4-BE49-F238E27FC236}">
                <a16:creationId xmlns:a16="http://schemas.microsoft.com/office/drawing/2014/main" id="{ECB36301-48E6-AF64-5055-0CCA79474EAE}"/>
              </a:ext>
            </a:extLst>
          </p:cNvPr>
          <p:cNvSpPr>
            <a:spLocks noGrp="1"/>
          </p:cNvSpPr>
          <p:nvPr>
            <p:ph sz="half" idx="13" hasCustomPrompt="1"/>
          </p:nvPr>
        </p:nvSpPr>
        <p:spPr>
          <a:xfrm>
            <a:off x="1400540" y="2257062"/>
            <a:ext cx="4062711" cy="3541853"/>
          </a:xfrm>
        </p:spPr>
        <p:txBody>
          <a:bodyPr>
            <a:normAutofit/>
          </a:bodyPr>
          <a:lstStyle>
            <a:lvl1pPr marL="0" indent="0">
              <a:spcBef>
                <a:spcPts val="600"/>
              </a:spcBef>
              <a:spcAft>
                <a:spcPts val="600"/>
              </a:spcAft>
              <a:buNone/>
              <a:defRPr sz="1800"/>
            </a:lvl1pPr>
            <a:lvl2pPr marL="228600">
              <a:spcBef>
                <a:spcPts val="600"/>
              </a:spcBef>
              <a:spcAft>
                <a:spcPts val="600"/>
              </a:spcAft>
              <a:defRPr sz="1800"/>
            </a:lvl2pPr>
            <a:lvl3pPr marL="685800">
              <a:spcBef>
                <a:spcPts val="600"/>
              </a:spcBef>
              <a:spcAft>
                <a:spcPts val="600"/>
              </a:spcAft>
              <a:defRPr sz="1800"/>
            </a:lvl3pPr>
            <a:lvl4pPr marL="1143000">
              <a:spcBef>
                <a:spcPts val="600"/>
              </a:spcBef>
              <a:spcAft>
                <a:spcPts val="600"/>
              </a:spcAft>
              <a:defRPr sz="1800"/>
            </a:lvl4pPr>
            <a:lvl5pPr marL="1600200">
              <a:spcBef>
                <a:spcPts val="600"/>
              </a:spcBef>
              <a:spcAft>
                <a:spcPts val="600"/>
              </a:spcAft>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5F973906-E48D-CA3F-3E96-205D2E688DC5}"/>
              </a:ext>
            </a:extLst>
          </p:cNvPr>
          <p:cNvSpPr>
            <a:spLocks noGrp="1"/>
          </p:cNvSpPr>
          <p:nvPr>
            <p:ph sz="half" idx="14" hasCustomPrompt="1"/>
          </p:nvPr>
        </p:nvSpPr>
        <p:spPr>
          <a:xfrm>
            <a:off x="6588311" y="2257061"/>
            <a:ext cx="4203151" cy="3541853"/>
          </a:xfrm>
        </p:spPr>
        <p:txBody>
          <a:bodyPr>
            <a:normAutofit/>
          </a:bodyPr>
          <a:lstStyle>
            <a:lvl1pPr marL="0" indent="0">
              <a:spcBef>
                <a:spcPts val="600"/>
              </a:spcBef>
              <a:spcAft>
                <a:spcPts val="600"/>
              </a:spcAft>
              <a:buNone/>
              <a:defRPr sz="1800"/>
            </a:lvl1pPr>
            <a:lvl2pPr marL="228600">
              <a:spcBef>
                <a:spcPts val="600"/>
              </a:spcBef>
              <a:spcAft>
                <a:spcPts val="600"/>
              </a:spcAft>
              <a:defRPr sz="1800"/>
            </a:lvl2pPr>
            <a:lvl3pPr marL="685800">
              <a:spcBef>
                <a:spcPts val="600"/>
              </a:spcBef>
              <a:spcAft>
                <a:spcPts val="600"/>
              </a:spcAft>
              <a:defRPr sz="1800"/>
            </a:lvl3pPr>
            <a:lvl4pPr marL="1143000">
              <a:spcBef>
                <a:spcPts val="600"/>
              </a:spcBef>
              <a:spcAft>
                <a:spcPts val="600"/>
              </a:spcAft>
              <a:defRPr sz="1800"/>
            </a:lvl4pPr>
            <a:lvl5pPr marL="1600200">
              <a:spcBef>
                <a:spcPts val="600"/>
              </a:spcBef>
              <a:spcAft>
                <a:spcPts val="600"/>
              </a:spcAft>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05290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pic>
        <p:nvPicPr>
          <p:cNvPr id="8" name="Picture Placeholder 44">
            <a:extLst>
              <a:ext uri="{FF2B5EF4-FFF2-40B4-BE49-F238E27FC236}">
                <a16:creationId xmlns:a16="http://schemas.microsoft.com/office/drawing/2014/main" id="{07AB38AA-85DC-3DF3-4ED4-B78FB670FFA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9" name="Rectangle 8">
            <a:extLst>
              <a:ext uri="{FF2B5EF4-FFF2-40B4-BE49-F238E27FC236}">
                <a16:creationId xmlns:a16="http://schemas.microsoft.com/office/drawing/2014/main" id="{8F2DD44F-3200-BF06-94F9-C6A07EAD76B9}"/>
              </a:ext>
              <a:ext uri="{C183D7F6-B498-43B3-948B-1728B52AA6E4}">
                <adec:decorative xmlns:adec="http://schemas.microsoft.com/office/drawing/2017/decorative" val="1"/>
              </a:ext>
            </a:extLst>
          </p:cNvPr>
          <p:cNvSpPr/>
          <p:nvPr userDrawn="1"/>
        </p:nvSpPr>
        <p:spPr>
          <a:xfrm>
            <a:off x="914400" y="777240"/>
            <a:ext cx="10361676"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1092361" y="777240"/>
            <a:ext cx="10007278" cy="1283843"/>
          </a:xfrm>
        </p:spPr>
        <p:txBody>
          <a:bodyPr anchor="b" anchorCtr="0">
            <a:noAutofit/>
          </a:bodyPr>
          <a:lstStyle>
            <a:lvl1pPr algn="ctr">
              <a:defRPr sz="3600"/>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1447029" y="2261313"/>
            <a:ext cx="3275746" cy="3653350"/>
          </a:xfrm>
        </p:spPr>
        <p:txBody>
          <a:bodyPr>
            <a:normAutofit/>
          </a:bodyPr>
          <a:lstStyle>
            <a:lvl1pPr marL="0" indent="0">
              <a:lnSpc>
                <a:spcPct val="100000"/>
              </a:lnSpc>
              <a:spcBef>
                <a:spcPts val="1000"/>
              </a:spcBef>
              <a:spcAft>
                <a:spcPts val="600"/>
              </a:spcAft>
              <a:buNone/>
              <a:defRPr sz="1800"/>
            </a:lvl1pPr>
            <a:lvl2pPr marL="228600" indent="0">
              <a:lnSpc>
                <a:spcPct val="100000"/>
              </a:lnSpc>
              <a:spcBef>
                <a:spcPts val="1000"/>
              </a:spcBef>
              <a:spcAft>
                <a:spcPts val="600"/>
              </a:spcAft>
              <a:buNone/>
              <a:defRPr sz="1800"/>
            </a:lvl2pPr>
            <a:lvl3pPr marL="914400" indent="0">
              <a:lnSpc>
                <a:spcPct val="100000"/>
              </a:lnSpc>
              <a:spcBef>
                <a:spcPts val="1000"/>
              </a:spcBef>
              <a:spcAft>
                <a:spcPts val="600"/>
              </a:spcAft>
              <a:buNone/>
              <a:defRPr sz="1800"/>
            </a:lvl3pPr>
            <a:lvl4pPr marL="1143000" indent="0">
              <a:lnSpc>
                <a:spcPct val="100000"/>
              </a:lnSpc>
              <a:spcBef>
                <a:spcPts val="1000"/>
              </a:spcBef>
              <a:spcAft>
                <a:spcPts val="600"/>
              </a:spcAft>
              <a:buNone/>
              <a:defRPr sz="1800"/>
            </a:lvl4pPr>
            <a:lvl5pPr marL="1600200" indent="0">
              <a:lnSpc>
                <a:spcPct val="100000"/>
              </a:lnSpc>
              <a:spcBef>
                <a:spcPts val="1000"/>
              </a:spcBef>
              <a:spcAft>
                <a:spcPts val="600"/>
              </a:spcAft>
              <a:buNone/>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11/28/2025</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10" name="Content Placeholder 2">
            <a:extLst>
              <a:ext uri="{FF2B5EF4-FFF2-40B4-BE49-F238E27FC236}">
                <a16:creationId xmlns:a16="http://schemas.microsoft.com/office/drawing/2014/main" id="{C2AA9CA0-D45C-FE27-D4E4-DD219364E4FB}"/>
              </a:ext>
            </a:extLst>
          </p:cNvPr>
          <p:cNvSpPr>
            <a:spLocks noGrp="1"/>
          </p:cNvSpPr>
          <p:nvPr>
            <p:ph sz="half" idx="13" hasCustomPrompt="1"/>
          </p:nvPr>
        </p:nvSpPr>
        <p:spPr>
          <a:xfrm>
            <a:off x="5150734" y="2261313"/>
            <a:ext cx="5594236" cy="3653350"/>
          </a:xfrm>
        </p:spPr>
        <p:txBody>
          <a:bodyPr>
            <a:normAutofit/>
          </a:bodyPr>
          <a:lstStyle>
            <a:lvl1pPr marL="0" indent="0">
              <a:spcBef>
                <a:spcPts val="600"/>
              </a:spcBef>
              <a:spcAft>
                <a:spcPts val="600"/>
              </a:spcAft>
              <a:buNone/>
              <a:defRPr sz="1800"/>
            </a:lvl1pPr>
            <a:lvl2pPr marL="228600">
              <a:spcBef>
                <a:spcPts val="600"/>
              </a:spcBef>
              <a:spcAft>
                <a:spcPts val="600"/>
              </a:spcAft>
              <a:defRPr sz="1800"/>
            </a:lvl2pPr>
            <a:lvl3pPr marL="685800">
              <a:spcBef>
                <a:spcPts val="600"/>
              </a:spcBef>
              <a:spcAft>
                <a:spcPts val="600"/>
              </a:spcAft>
              <a:defRPr sz="1800"/>
            </a:lvl3pPr>
            <a:lvl4pPr marL="1143000">
              <a:spcBef>
                <a:spcPts val="600"/>
              </a:spcBef>
              <a:spcAft>
                <a:spcPts val="600"/>
              </a:spcAft>
              <a:defRPr sz="1800"/>
            </a:lvl4pPr>
            <a:lvl5pPr marL="1600200">
              <a:spcBef>
                <a:spcPts val="600"/>
              </a:spcBef>
              <a:spcAft>
                <a:spcPts val="600"/>
              </a:spcAft>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57852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pic>
        <p:nvPicPr>
          <p:cNvPr id="7" name="Picture Placeholder 8">
            <a:extLst>
              <a:ext uri="{FF2B5EF4-FFF2-40B4-BE49-F238E27FC236}">
                <a16:creationId xmlns:a16="http://schemas.microsoft.com/office/drawing/2014/main" id="{F1219773-33FA-E4F9-4EAE-0764613F6213}"/>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8" name="Rectangle 7">
            <a:extLst>
              <a:ext uri="{FF2B5EF4-FFF2-40B4-BE49-F238E27FC236}">
                <a16:creationId xmlns:a16="http://schemas.microsoft.com/office/drawing/2014/main" id="{92817C37-9292-1CF3-6529-DEF7174273E0}"/>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6061275" y="1134320"/>
            <a:ext cx="4803494" cy="1956122"/>
          </a:xfrm>
        </p:spPr>
        <p:txBody>
          <a:bodyPr anchor="b">
            <a:noAutofit/>
          </a:bodyPr>
          <a:lstStyle>
            <a:lvl1pPr algn="l">
              <a:defRPr sz="36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6061275" y="3418271"/>
            <a:ext cx="4803494" cy="2305409"/>
          </a:xfrm>
        </p:spPr>
        <p:txBody>
          <a:bodyPr>
            <a:noAutofit/>
          </a:bodyPr>
          <a:lstStyle>
            <a:lvl1pPr marL="0" indent="0" algn="l">
              <a:spcAft>
                <a:spcPts val="1000"/>
              </a:spcAft>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
        <p:nvSpPr>
          <p:cNvPr id="12" name="Picture Placeholder 11">
            <a:extLst>
              <a:ext uri="{FF2B5EF4-FFF2-40B4-BE49-F238E27FC236}">
                <a16:creationId xmlns:a16="http://schemas.microsoft.com/office/drawing/2014/main" id="{E5D7B0DF-23EB-406B-9FAA-0182626A919B}"/>
              </a:ext>
            </a:extLst>
          </p:cNvPr>
          <p:cNvSpPr>
            <a:spLocks noGrp="1"/>
          </p:cNvSpPr>
          <p:nvPr>
            <p:ph type="pic" sz="quarter" idx="13"/>
          </p:nvPr>
        </p:nvSpPr>
        <p:spPr>
          <a:xfrm>
            <a:off x="1308563" y="1146638"/>
            <a:ext cx="4389120" cy="4572000"/>
          </a:xfrm>
        </p:spPr>
        <p:txBody>
          <a:bodyPr>
            <a:normAutofit/>
          </a:bodyPr>
          <a:lstStyle>
            <a:lvl1pPr marL="0" indent="0" algn="ctr">
              <a:buNone/>
              <a:defRPr sz="2000"/>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fld id="{D6D8061D-18C3-4F4F-85EF-561633F58754}" type="datetimeFigureOut">
              <a:rPr lang="en-US" smtClean="0"/>
              <a:t>11/28/2025</a:t>
            </a:fld>
            <a:endParaRPr lang="en-US" dirty="0"/>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563727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table">
    <p:spTree>
      <p:nvGrpSpPr>
        <p:cNvPr id="1" name=""/>
        <p:cNvGrpSpPr/>
        <p:nvPr/>
      </p:nvGrpSpPr>
      <p:grpSpPr>
        <a:xfrm>
          <a:off x="0" y="0"/>
          <a:ext cx="0" cy="0"/>
          <a:chOff x="0" y="0"/>
          <a:chExt cx="0" cy="0"/>
        </a:xfrm>
      </p:grpSpPr>
      <p:pic>
        <p:nvPicPr>
          <p:cNvPr id="4" name="Picture Placeholder 64">
            <a:extLst>
              <a:ext uri="{FF2B5EF4-FFF2-40B4-BE49-F238E27FC236}">
                <a16:creationId xmlns:a16="http://schemas.microsoft.com/office/drawing/2014/main" id="{7C62E1FE-8CAE-1FE1-6A91-DFE7F1D87083}"/>
              </a:ext>
              <a:ext uri="{C183D7F6-B498-43B3-948B-1728B52AA6E4}">
                <adec:decorative xmlns:adec="http://schemas.microsoft.com/office/drawing/2017/decorative" val="1"/>
              </a:ext>
            </a:extLst>
          </p:cNvPr>
          <p:cNvPicPr>
            <a:picLocks noChangeAspect="1"/>
          </p:cNvPicPr>
          <p:nvPr userDrawn="1"/>
        </p:nvPicPr>
        <p:blipFill rotWithShape="1">
          <a:blip r:embed="rId2">
            <a:alphaModFix amt="44000"/>
            <a:extLst>
              <a:ext uri="{28A0092B-C50C-407E-A947-70E740481C1C}">
                <a14:useLocalDpi xmlns:a14="http://schemas.microsoft.com/office/drawing/2010/main"/>
              </a:ext>
            </a:extLst>
          </a:blip>
          <a:srcRect/>
          <a:stretch/>
        </p:blipFill>
        <p:spPr>
          <a:xfrm rot="10800000">
            <a:off x="0" y="0"/>
            <a:ext cx="12188825" cy="6858000"/>
          </a:xfrm>
          <a:prstGeom prst="rect">
            <a:avLst/>
          </a:prstGeom>
          <a:solidFill>
            <a:schemeClr val="accent1"/>
          </a:solidFill>
        </p:spPr>
      </p:pic>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266219"/>
            <a:ext cx="10389243" cy="1424470"/>
          </a:xfrm>
        </p:spPr>
        <p:txBody>
          <a:bodyPr anchor="ctr" anchorCtr="0">
            <a:noAutofit/>
          </a:bodyPr>
          <a:lstStyle>
            <a:lvl1pPr>
              <a:defRPr sz="3600"/>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1779325"/>
            <a:ext cx="3490732" cy="4297680"/>
          </a:xfrm>
        </p:spPr>
        <p:txBody>
          <a:bodyPr tIns="274320">
            <a:normAutofit/>
          </a:bodyPr>
          <a:lstStyle>
            <a:lvl1pPr marL="0" indent="0">
              <a:spcBef>
                <a:spcPts val="1000"/>
              </a:spcBef>
              <a:spcAft>
                <a:spcPts val="1000"/>
              </a:spcAft>
              <a:buNone/>
              <a:defRPr sz="1800"/>
            </a:lvl1pPr>
            <a:lvl2pPr marL="228600" indent="0">
              <a:spcBef>
                <a:spcPts val="1000"/>
              </a:spcBef>
              <a:spcAft>
                <a:spcPts val="1000"/>
              </a:spcAft>
              <a:buNone/>
              <a:defRPr sz="1800"/>
            </a:lvl2pPr>
            <a:lvl3pPr marL="685800" indent="0">
              <a:spcBef>
                <a:spcPts val="1000"/>
              </a:spcBef>
              <a:spcAft>
                <a:spcPts val="1000"/>
              </a:spcAft>
              <a:buNone/>
              <a:defRPr sz="1800"/>
            </a:lvl3pPr>
            <a:lvl4pPr marL="1143000" indent="0">
              <a:spcBef>
                <a:spcPts val="1000"/>
              </a:spcBef>
              <a:spcAft>
                <a:spcPts val="1000"/>
              </a:spcAft>
              <a:buNone/>
              <a:defRPr sz="1800"/>
            </a:lvl4pPr>
            <a:lvl5pPr marL="1600200" indent="0">
              <a:spcBef>
                <a:spcPts val="1000"/>
              </a:spcBef>
              <a:spcAft>
                <a:spcPts val="1000"/>
              </a:spcAft>
              <a:buNone/>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4502552" y="1779325"/>
            <a:ext cx="6724891" cy="4297680"/>
          </a:xfrm>
        </p:spPr>
        <p:txBody>
          <a:body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11/28/2025</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80815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3">
    <p:spTree>
      <p:nvGrpSpPr>
        <p:cNvPr id="1" name=""/>
        <p:cNvGrpSpPr/>
        <p:nvPr/>
      </p:nvGrpSpPr>
      <p:grpSpPr>
        <a:xfrm>
          <a:off x="0" y="0"/>
          <a:ext cx="0" cy="0"/>
          <a:chOff x="0" y="0"/>
          <a:chExt cx="0" cy="0"/>
        </a:xfrm>
      </p:grpSpPr>
      <p:pic>
        <p:nvPicPr>
          <p:cNvPr id="8" name="Picture Placeholder 17">
            <a:extLst>
              <a:ext uri="{FF2B5EF4-FFF2-40B4-BE49-F238E27FC236}">
                <a16:creationId xmlns:a16="http://schemas.microsoft.com/office/drawing/2014/main" id="{32B61A96-5F36-8895-B920-FC12FD76DC53}"/>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60000"/>
                    </a14:imgEffect>
                  </a14:imgLayer>
                </a14:imgProps>
              </a:ext>
              <a:ext uri="{28A0092B-C50C-407E-A947-70E740481C1C}">
                <a14:useLocalDpi xmlns:a14="http://schemas.microsoft.com/office/drawing/2010/main"/>
              </a:ext>
            </a:extLst>
          </a:blip>
          <a:srcRect/>
          <a:stretch/>
        </p:blipFill>
        <p:spPr>
          <a:xfrm>
            <a:off x="0" y="0"/>
            <a:ext cx="12188952" cy="6858000"/>
          </a:xfrm>
          <a:prstGeom prst="rect">
            <a:avLst/>
          </a:prstGeom>
        </p:spPr>
      </p:pic>
      <p:sp>
        <p:nvSpPr>
          <p:cNvPr id="9" name="Rectangle 8">
            <a:extLst>
              <a:ext uri="{FF2B5EF4-FFF2-40B4-BE49-F238E27FC236}">
                <a16:creationId xmlns:a16="http://schemas.microsoft.com/office/drawing/2014/main" id="{8774BC39-6D56-474E-28BE-99260516AB0C}"/>
              </a:ext>
              <a:ext uri="{C183D7F6-B498-43B3-948B-1728B52AA6E4}">
                <adec:decorative xmlns:adec="http://schemas.microsoft.com/office/drawing/2017/decorative" val="1"/>
              </a:ext>
            </a:extLst>
          </p:cNvPr>
          <p:cNvSpPr/>
          <p:nvPr userDrawn="1"/>
        </p:nvSpPr>
        <p:spPr>
          <a:xfrm>
            <a:off x="914400" y="777240"/>
            <a:ext cx="10361676"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1073070" y="914400"/>
            <a:ext cx="10045861" cy="1146680"/>
          </a:xfrm>
        </p:spPr>
        <p:txBody>
          <a:bodyPr anchor="b" anchorCtr="0">
            <a:noAutofit/>
          </a:bodyPr>
          <a:lstStyle>
            <a:lvl1pPr algn="ctr">
              <a:defRPr sz="3600"/>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1423687" y="2288614"/>
            <a:ext cx="5382228" cy="3475578"/>
          </a:xfrm>
        </p:spPr>
        <p:txBody>
          <a:bodyPr>
            <a:normAutofit/>
          </a:bodyPr>
          <a:lstStyle>
            <a:lvl1pPr marL="0" indent="0">
              <a:spcBef>
                <a:spcPts val="1000"/>
              </a:spcBef>
              <a:spcAft>
                <a:spcPts val="0"/>
              </a:spcAft>
              <a:buNone/>
              <a:defRPr sz="1800"/>
            </a:lvl1pPr>
            <a:lvl2pPr marL="685800">
              <a:spcBef>
                <a:spcPts val="600"/>
              </a:spcBef>
              <a:spcAft>
                <a:spcPts val="600"/>
              </a:spcAft>
              <a:defRPr sz="1800"/>
            </a:lvl2pPr>
            <a:lvl3pPr marL="1143000">
              <a:spcBef>
                <a:spcPts val="600"/>
              </a:spcBef>
              <a:spcAft>
                <a:spcPts val="600"/>
              </a:spcAft>
              <a:defRPr sz="1800"/>
            </a:lvl3pPr>
            <a:lvl4pPr marL="1600200">
              <a:spcBef>
                <a:spcPts val="600"/>
              </a:spcBef>
              <a:spcAft>
                <a:spcPts val="600"/>
              </a:spcAft>
              <a:defRPr sz="1800"/>
            </a:lvl4pPr>
            <a:lvl5pPr marL="2057400">
              <a:spcBef>
                <a:spcPts val="600"/>
              </a:spcBef>
              <a:spcAft>
                <a:spcPts val="600"/>
              </a:spcAft>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hasCustomPrompt="1"/>
          </p:nvPr>
        </p:nvSpPr>
        <p:spPr>
          <a:xfrm>
            <a:off x="7451790" y="2288614"/>
            <a:ext cx="3108960" cy="3475578"/>
          </a:xfrm>
        </p:spPr>
        <p:txBody>
          <a:bodyPr tIns="91440">
            <a:normAutofit/>
          </a:bodyPr>
          <a:lstStyle>
            <a:lvl1pPr marL="0" indent="0">
              <a:lnSpc>
                <a:spcPct val="150000"/>
              </a:lnSpc>
              <a:spcBef>
                <a:spcPts val="1000"/>
              </a:spcBef>
              <a:spcAft>
                <a:spcPts val="600"/>
              </a:spcAft>
              <a:buNone/>
              <a:defRPr sz="1800"/>
            </a:lvl1pPr>
            <a:lvl2pPr marL="228600" indent="0">
              <a:lnSpc>
                <a:spcPct val="100000"/>
              </a:lnSpc>
              <a:spcBef>
                <a:spcPts val="1000"/>
              </a:spcBef>
              <a:spcAft>
                <a:spcPts val="600"/>
              </a:spcAft>
              <a:buNone/>
              <a:defRPr sz="1800"/>
            </a:lvl2pPr>
            <a:lvl3pPr marL="685800" indent="0">
              <a:lnSpc>
                <a:spcPct val="100000"/>
              </a:lnSpc>
              <a:spcBef>
                <a:spcPts val="1000"/>
              </a:spcBef>
              <a:spcAft>
                <a:spcPts val="600"/>
              </a:spcAft>
              <a:buNone/>
              <a:defRPr sz="1800"/>
            </a:lvl3pPr>
            <a:lvl4pPr marL="1143000" indent="0">
              <a:lnSpc>
                <a:spcPct val="100000"/>
              </a:lnSpc>
              <a:spcBef>
                <a:spcPts val="1000"/>
              </a:spcBef>
              <a:spcAft>
                <a:spcPts val="600"/>
              </a:spcAft>
              <a:buNone/>
              <a:defRPr sz="1800"/>
            </a:lvl4pPr>
            <a:lvl5pPr marL="1600200" indent="0">
              <a:lnSpc>
                <a:spcPct val="100000"/>
              </a:lnSpc>
              <a:spcBef>
                <a:spcPts val="1000"/>
              </a:spcBef>
              <a:spcAft>
                <a:spcPts val="600"/>
              </a:spcAft>
              <a:buNone/>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11/28/2025</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377039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pic>
        <p:nvPicPr>
          <p:cNvPr id="3" name="Picture Placeholder 64">
            <a:extLst>
              <a:ext uri="{FF2B5EF4-FFF2-40B4-BE49-F238E27FC236}">
                <a16:creationId xmlns:a16="http://schemas.microsoft.com/office/drawing/2014/main" id="{55E792AE-CF37-9DD8-2703-49480775F029}"/>
              </a:ext>
              <a:ext uri="{C183D7F6-B498-43B3-948B-1728B52AA6E4}">
                <adec:decorative xmlns:adec="http://schemas.microsoft.com/office/drawing/2017/decorative" val="1"/>
              </a:ext>
            </a:extLst>
          </p:cNvPr>
          <p:cNvPicPr>
            <a:picLocks noChangeAspect="1"/>
          </p:cNvPicPr>
          <p:nvPr userDrawn="1"/>
        </p:nvPicPr>
        <p:blipFill rotWithShape="1">
          <a:blip r:embed="rId2">
            <a:alphaModFix amt="44000"/>
            <a:extLst>
              <a:ext uri="{28A0092B-C50C-407E-A947-70E740481C1C}">
                <a14:useLocalDpi xmlns:a14="http://schemas.microsoft.com/office/drawing/2010/main"/>
              </a:ext>
            </a:extLst>
          </a:blip>
          <a:srcRect/>
          <a:stretch/>
        </p:blipFill>
        <p:spPr>
          <a:xfrm rot="10800000">
            <a:off x="0" y="0"/>
            <a:ext cx="12188825" cy="6858000"/>
          </a:xfrm>
          <a:prstGeom prst="rect">
            <a:avLst/>
          </a:prstGeom>
          <a:solidFill>
            <a:schemeClr val="accent1"/>
          </a:solidFill>
        </p:spPr>
      </p:pic>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838200" y="133629"/>
            <a:ext cx="10515600" cy="1325563"/>
          </a:xfrm>
        </p:spPr>
        <p:txBody>
          <a:bodyPr anchor="b" anchorCtr="0">
            <a:noAutofit/>
          </a:bodyPr>
          <a:lstStyle>
            <a:lvl1pPr>
              <a:defRPr sz="3600"/>
            </a:lvl1pPr>
          </a:lstStyle>
          <a:p>
            <a:r>
              <a:rPr lang="en-US" dirty="0"/>
              <a:t>Click to add title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914400" y="1779325"/>
            <a:ext cx="10361676" cy="4297680"/>
          </a:xfrm>
        </p:spPr>
        <p:txBody>
          <a:bodyPr/>
          <a:lstStyle>
            <a:lvl1pPr>
              <a:defRPr/>
            </a:lvl1pPr>
          </a:lstStyle>
          <a:p>
            <a:r>
              <a:rPr lang="en-US"/>
              <a:t>Click icon to add table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11/28/2025</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6260992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pic>
        <p:nvPicPr>
          <p:cNvPr id="7" name="Picture Placeholder 13">
            <a:extLst>
              <a:ext uri="{FF2B5EF4-FFF2-40B4-BE49-F238E27FC236}">
                <a16:creationId xmlns:a16="http://schemas.microsoft.com/office/drawing/2014/main" id="{A1BB4149-7987-3EF4-952D-2271B4DD8AB1}"/>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50000"/>
                    </a14:imgEffect>
                  </a14:imgLayer>
                </a14:imgProps>
              </a:ex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8" name="Rectangle 7">
            <a:extLst>
              <a:ext uri="{FF2B5EF4-FFF2-40B4-BE49-F238E27FC236}">
                <a16:creationId xmlns:a16="http://schemas.microsoft.com/office/drawing/2014/main" id="{07B335AD-7A4B-841B-52BC-8FF32D99D749}"/>
              </a:ext>
              <a:ext uri="{C183D7F6-B498-43B3-948B-1728B52AA6E4}">
                <adec:decorative xmlns:adec="http://schemas.microsoft.com/office/drawing/2017/decorative" val="1"/>
              </a:ext>
            </a:extLst>
          </p:cNvPr>
          <p:cNvSpPr/>
          <p:nvPr userDrawn="1"/>
        </p:nvSpPr>
        <p:spPr>
          <a:xfrm>
            <a:off x="3799368" y="0"/>
            <a:ext cx="4593265"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4143375" y="92597"/>
            <a:ext cx="3905250" cy="3032567"/>
          </a:xfrm>
        </p:spPr>
        <p:txBody>
          <a:bodyPr anchor="b">
            <a:noAutofit/>
          </a:bodyPr>
          <a:lstStyle>
            <a:lvl1pPr algn="ctr">
              <a:defRPr/>
            </a:lvl1pPr>
          </a:lstStyle>
          <a:p>
            <a:r>
              <a:rPr lang="en-US" dirty="0"/>
              <a:t>Click to add title</a:t>
            </a:r>
          </a:p>
        </p:txBody>
      </p:sp>
      <p:sp>
        <p:nvSpPr>
          <p:cNvPr id="10" name="Text Placeholder 9">
            <a:extLst>
              <a:ext uri="{FF2B5EF4-FFF2-40B4-BE49-F238E27FC236}">
                <a16:creationId xmlns:a16="http://schemas.microsoft.com/office/drawing/2014/main" id="{A13E19FD-68BB-0F8D-21CF-9E48B806073F}"/>
              </a:ext>
            </a:extLst>
          </p:cNvPr>
          <p:cNvSpPr>
            <a:spLocks noGrp="1"/>
          </p:cNvSpPr>
          <p:nvPr>
            <p:ph type="body" sz="quarter" idx="10" hasCustomPrompt="1"/>
          </p:nvPr>
        </p:nvSpPr>
        <p:spPr>
          <a:xfrm>
            <a:off x="4143375" y="4004321"/>
            <a:ext cx="3905250" cy="2743200"/>
          </a:xfrm>
        </p:spPr>
        <p:txBody>
          <a:bodyPr>
            <a:normAutofit/>
          </a:bodyPr>
          <a:lstStyle>
            <a:lvl1pPr marL="0" indent="0" algn="ctr">
              <a:buNone/>
              <a:defRPr sz="18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add text</a:t>
            </a:r>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11/28/2025</a:t>
            </a:fld>
            <a:endParaRPr lang="en-US" dirty="0"/>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dirty="0"/>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8" r:id="rId3"/>
    <p:sldLayoutId id="2147483659" r:id="rId4"/>
    <p:sldLayoutId id="2147483650" r:id="rId5"/>
    <p:sldLayoutId id="2147483652" r:id="rId6"/>
    <p:sldLayoutId id="2147483662" r:id="rId7"/>
    <p:sldLayoutId id="2147483663" r:id="rId8"/>
    <p:sldLayoutId id="2147483649" r:id="rId9"/>
    <p:sldLayoutId id="2147483666" r:id="rId10"/>
    <p:sldLayoutId id="2147483664" r:id="rId11"/>
    <p:sldLayoutId id="2147483665"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047101-8D42-6100-9CEA-AEC0FAEAB606}"/>
              </a:ext>
            </a:extLst>
          </p:cNvPr>
          <p:cNvSpPr>
            <a:spLocks noGrp="1"/>
          </p:cNvSpPr>
          <p:nvPr>
            <p:ph type="ctrTitle"/>
          </p:nvPr>
        </p:nvSpPr>
        <p:spPr>
          <a:xfrm>
            <a:off x="1432560" y="2286000"/>
            <a:ext cx="9144000" cy="2286000"/>
          </a:xfrm>
          <a:noFill/>
        </p:spPr>
        <p:txBody>
          <a:bodyPr>
            <a:noAutofit/>
          </a:bodyPr>
          <a:lstStyle/>
          <a:p>
            <a:r>
              <a:rPr lang="en-US" b="1" dirty="0">
                <a:latin typeface="Times New Roman" panose="02020603050405020304" pitchFamily="18" charset="0"/>
                <a:cs typeface="Times New Roman" panose="02020603050405020304" pitchFamily="18" charset="0"/>
              </a:rPr>
              <a:t>So </a:t>
            </a:r>
            <a:r>
              <a:rPr lang="en-US" b="1" dirty="0" err="1">
                <a:latin typeface="Times New Roman" panose="02020603050405020304" pitchFamily="18" charset="0"/>
                <a:cs typeface="Times New Roman" panose="02020603050405020304" pitchFamily="18" charset="0"/>
              </a:rPr>
              <a:t>sánh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thuật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toán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tìm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kiếm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tuần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tự</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và</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tìm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kiếm</a:t>
            </a:r>
            <a:r>
              <a:rPr lang="en-US" b="1" dirty="0">
                <a:latin typeface="Times New Roman" panose="02020603050405020304" pitchFamily="18" charset="0"/>
                <a:cs typeface="Times New Roman" panose="02020603050405020304" pitchFamily="18" charset="0"/>
              </a:rPr>
              <a:t> </a:t>
            </a:r>
            <a:r>
              <a:rPr lang="vi-VN" b="1" dirty="0">
                <a:latin typeface="Times New Roman" panose="02020603050405020304" pitchFamily="18" charset="0"/>
                <a:cs typeface="Times New Roman" panose="02020603050405020304" pitchFamily="18" charset="0"/>
              </a:rPr>
              <a:t>nhị phân</a:t>
            </a:r>
            <a:endParaRPr lang="en-US" b="1" dirty="0"/>
          </a:p>
        </p:txBody>
      </p:sp>
    </p:spTree>
    <p:extLst>
      <p:ext uri="{BB962C8B-B14F-4D97-AF65-F5344CB8AC3E}">
        <p14:creationId xmlns:p14="http://schemas.microsoft.com/office/powerpoint/2010/main" val="2083028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xfrm>
            <a:off x="3923198" y="462185"/>
            <a:ext cx="3200400" cy="909415"/>
          </a:xfrm>
          <a:noFill/>
        </p:spPr>
        <p:txBody>
          <a:bodyPr anchor="t">
            <a:noAutofit/>
          </a:bodyPr>
          <a:lstStyle/>
          <a:p>
            <a:r>
              <a:rPr lang="vi-VN" b="1" dirty="0"/>
              <a:t>Nội dung</a:t>
            </a:r>
            <a:endParaRPr lang="en-US" b="1" dirty="0"/>
          </a:p>
        </p:txBody>
      </p:sp>
      <p:sp>
        <p:nvSpPr>
          <p:cNvPr id="3" name="Content Placeholder 2">
            <a:extLst>
              <a:ext uri="{FF2B5EF4-FFF2-40B4-BE49-F238E27FC236}">
                <a16:creationId xmlns:a16="http://schemas.microsoft.com/office/drawing/2014/main" id="{9BEA8735-F1DC-1DE6-0A38-429B2F660F8A}"/>
              </a:ext>
            </a:extLst>
          </p:cNvPr>
          <p:cNvSpPr>
            <a:spLocks noGrp="1"/>
          </p:cNvSpPr>
          <p:nvPr>
            <p:ph idx="1"/>
          </p:nvPr>
        </p:nvSpPr>
        <p:spPr>
          <a:xfrm>
            <a:off x="842227" y="1483360"/>
            <a:ext cx="10394733" cy="4717691"/>
          </a:xfrm>
          <a:noFill/>
        </p:spPr>
        <p:txBody>
          <a:bodyPr anchor="t">
            <a:normAutofit/>
          </a:bodyPr>
          <a:lstStyle/>
          <a:p>
            <a:r>
              <a:rPr lang="vi-VN" dirty="0">
                <a:latin typeface="Times New Roman" panose="02020603050405020304" pitchFamily="18" charset="0"/>
                <a:cs typeface="Times New Roman" panose="02020603050405020304" pitchFamily="18" charset="0"/>
              </a:rPr>
              <a:t>1. Giới thiệu về bài toán tìm kiếm (</a:t>
            </a:r>
            <a:r>
              <a:rPr lang="en-US" dirty="0">
                <a:latin typeface="Times New Roman" panose="02020603050405020304" pitchFamily="18" charset="0"/>
                <a:cs typeface="Times New Roman" panose="02020603050405020304" pitchFamily="18" charset="0"/>
              </a:rPr>
              <a:t>searching problem</a:t>
            </a:r>
            <a:r>
              <a:rPr lang="vi-VN"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2. Tìm </a:t>
            </a:r>
            <a:r>
              <a:rPr lang="en-US" dirty="0" err="1">
                <a:latin typeface="Times New Roman" panose="02020603050405020304" pitchFamily="18" charset="0"/>
                <a:cs typeface="Times New Roman" panose="02020603050405020304" pitchFamily="18" charset="0"/>
              </a:rPr>
              <a:t>kiếm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tuần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tự</a:t>
            </a:r>
            <a:r>
              <a:rPr lang="en-US" dirty="0">
                <a:latin typeface="Times New Roman" panose="02020603050405020304" pitchFamily="18" charset="0"/>
                <a:cs typeface="Times New Roman" panose="02020603050405020304" pitchFamily="18" charset="0"/>
              </a:rPr>
              <a:t>(Linear Search)</a:t>
            </a:r>
            <a:endParaRPr lang="vi-V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3. Tìm </a:t>
            </a:r>
            <a:r>
              <a:rPr lang="en-US" dirty="0" err="1">
                <a:latin typeface="Times New Roman" panose="02020603050405020304" pitchFamily="18" charset="0"/>
                <a:cs typeface="Times New Roman" panose="02020603050405020304" pitchFamily="18" charset="0"/>
              </a:rPr>
              <a:t>kiếm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phân</a:t>
            </a:r>
            <a:r>
              <a:rPr lang="en-US" dirty="0">
                <a:latin typeface="Times New Roman" panose="02020603050405020304" pitchFamily="18" charset="0"/>
                <a:cs typeface="Times New Roman" panose="02020603050405020304" pitchFamily="18" charset="0"/>
              </a:rPr>
              <a:t> (Binary Search)</a:t>
            </a:r>
            <a:endParaRPr lang="vi-VN" dirty="0">
              <a:latin typeface="Times New Roman" panose="02020603050405020304" pitchFamily="18" charset="0"/>
              <a:cs typeface="Times New Roman" panose="02020603050405020304" pitchFamily="18" charset="0"/>
            </a:endParaRPr>
          </a:p>
          <a:p>
            <a:r>
              <a:rPr lang="vi-VN" dirty="0">
                <a:latin typeface="Times New Roman" panose="02020603050405020304" pitchFamily="18" charset="0"/>
                <a:cs typeface="Times New Roman" panose="02020603050405020304" pitchFamily="18" charset="0"/>
              </a:rPr>
              <a:t>4. So sách giữa thuật toán tìm kiếm tuần tự và nhị phân</a:t>
            </a:r>
            <a:endParaRPr lang="en-US" dirty="0">
              <a:latin typeface="Times New Roman" panose="02020603050405020304" pitchFamily="18" charset="0"/>
              <a:cs typeface="Times New Roman" panose="02020603050405020304" pitchFamily="18" charset="0"/>
            </a:endParaRPr>
          </a:p>
          <a:p>
            <a:r>
              <a:rPr lang="vi-VN" dirty="0">
                <a:latin typeface="Times New Roman" panose="02020603050405020304" pitchFamily="18" charset="0"/>
                <a:cs typeface="Times New Roman" panose="02020603050405020304" pitchFamily="18" charset="0"/>
              </a:rPr>
              <a:t>5. Demo code minh họa</a:t>
            </a:r>
            <a:endParaRPr lang="en-US" dirty="0">
              <a:latin typeface="Times New Roman" panose="02020603050405020304" pitchFamily="18" charset="0"/>
              <a:cs typeface="Times New Roman" panose="02020603050405020304" pitchFamily="18" charset="0"/>
            </a:endParaRPr>
          </a:p>
          <a:p>
            <a:r>
              <a:rPr lang="vi-VN" dirty="0">
                <a:latin typeface="Times New Roman" panose="02020603050405020304" pitchFamily="18" charset="0"/>
                <a:cs typeface="Times New Roman" panose="02020603050405020304" pitchFamily="18" charset="0"/>
              </a:rPr>
              <a:t>6. Kết luận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0817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034E89-1952-5288-08A0-70A4A73BE39E}"/>
              </a:ext>
            </a:extLst>
          </p:cNvPr>
          <p:cNvSpPr>
            <a:spLocks noGrp="1"/>
          </p:cNvSpPr>
          <p:nvPr>
            <p:ph type="ctrTitle"/>
          </p:nvPr>
        </p:nvSpPr>
        <p:spPr>
          <a:xfrm>
            <a:off x="918259" y="798653"/>
            <a:ext cx="10288221" cy="5289630"/>
          </a:xfrm>
          <a:solidFill>
            <a:schemeClr val="bg1">
              <a:alpha val="95000"/>
            </a:schemeClr>
          </a:solidFill>
        </p:spPr>
        <p:txBody>
          <a:bodyPr anchor="ctr"/>
          <a:lstStyle/>
          <a:p>
            <a:r>
              <a:rPr lang="vi-VN" b="1" dirty="0">
                <a:latin typeface="Times New Roman" panose="02020603050405020304" pitchFamily="18" charset="0"/>
                <a:cs typeface="Times New Roman" panose="02020603050405020304" pitchFamily="18" charset="0"/>
              </a:rPr>
              <a:t>1. Giới thiệu về bài toán tìm kiếm (</a:t>
            </a:r>
            <a:r>
              <a:rPr lang="en-US" b="1" dirty="0">
                <a:latin typeface="Times New Roman" panose="02020603050405020304" pitchFamily="18" charset="0"/>
                <a:cs typeface="Times New Roman" panose="02020603050405020304" pitchFamily="18" charset="0"/>
              </a:rPr>
              <a:t>searching problem</a:t>
            </a:r>
            <a:r>
              <a:rPr lang="vi-VN" b="1" dirty="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945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28458-2084-D6BA-051C-E39776E5A0E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2E3D110-F686-3E17-B4E6-12E739ECE7C9}"/>
              </a:ext>
            </a:extLst>
          </p:cNvPr>
          <p:cNvSpPr>
            <a:spLocks noGrp="1"/>
          </p:cNvSpPr>
          <p:nvPr>
            <p:ph type="ctrTitle"/>
          </p:nvPr>
        </p:nvSpPr>
        <p:spPr>
          <a:xfrm>
            <a:off x="918259" y="798653"/>
            <a:ext cx="10288221" cy="5289630"/>
          </a:xfrm>
          <a:solidFill>
            <a:schemeClr val="bg1">
              <a:alpha val="95000"/>
            </a:schemeClr>
          </a:solidFill>
        </p:spPr>
        <p:txBody>
          <a:bodyPr anchor="ctr"/>
          <a:lstStyle/>
          <a:p>
            <a:pPr algn="l"/>
            <a:r>
              <a:rPr lang="vi-VN" sz="3000" dirty="0"/>
              <a:t>- Tìm kiếm là một yêu cầu rất thường xuyên trong đời sống hàng ngày cũng như trong tin học</a:t>
            </a:r>
            <a:br>
              <a:rPr lang="vi-VN" sz="3000" dirty="0"/>
            </a:br>
            <a:br>
              <a:rPr lang="vi-VN" sz="3000" dirty="0"/>
            </a:br>
            <a:r>
              <a:rPr lang="vi-VN" sz="3000" dirty="0"/>
              <a:t>-Ví dụ: </a:t>
            </a:r>
            <a:br>
              <a:rPr lang="vi-VN" sz="3000" dirty="0"/>
            </a:br>
            <a:r>
              <a:rPr lang="vi-VN" sz="3000" dirty="0"/>
              <a:t>Tìm kiếm một sinh viên trong lớp </a:t>
            </a:r>
            <a:br>
              <a:rPr lang="vi-VN" sz="3000" dirty="0"/>
            </a:br>
            <a:r>
              <a:rPr lang="vi-VN" sz="3000" dirty="0"/>
              <a:t>Tìm kiếm một tập tin, thư mục trong máy</a:t>
            </a:r>
            <a:br>
              <a:rPr lang="vi-VN" sz="3000" dirty="0"/>
            </a:br>
            <a:br>
              <a:rPr lang="vi-VN" sz="3000" dirty="0"/>
            </a:br>
            <a:r>
              <a:rPr lang="vi-VN" sz="3000" dirty="0"/>
              <a:t> - Để đơn giản ta xét bài toán tìm kiếm như sau: </a:t>
            </a:r>
            <a:br>
              <a:rPr lang="vi-VN" sz="3000" dirty="0"/>
            </a:br>
            <a:r>
              <a:rPr lang="vi-VN" sz="3000" dirty="0"/>
              <a:t>Cho một dãy số gồm các phần tử a1 , a2 , ..., an . Cho biết trong dãy này có phần tử nào có giá trị bằng X (cho trước) hay không?</a:t>
            </a:r>
            <a:endParaRPr lang="en-US" sz="3000" dirty="0"/>
          </a:p>
        </p:txBody>
      </p:sp>
    </p:spTree>
    <p:extLst>
      <p:ext uri="{BB962C8B-B14F-4D97-AF65-F5344CB8AC3E}">
        <p14:creationId xmlns:p14="http://schemas.microsoft.com/office/powerpoint/2010/main" val="2563762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C0579AC7-B494-BC48-095C-574A7424549C}"/>
              </a:ext>
            </a:extLst>
          </p:cNvPr>
          <p:cNvSpPr>
            <a:spLocks noGrp="1"/>
          </p:cNvSpPr>
          <p:nvPr>
            <p:ph type="ctrTitle"/>
          </p:nvPr>
        </p:nvSpPr>
        <p:spPr>
          <a:xfrm>
            <a:off x="951889" y="784185"/>
            <a:ext cx="10315551" cy="5289630"/>
          </a:xfrm>
          <a:solidFill>
            <a:schemeClr val="bg1">
              <a:alpha val="95000"/>
            </a:schemeClr>
          </a:solidFill>
        </p:spPr>
        <p:txBody>
          <a:bodyPr anchor="ctr"/>
          <a:lstStyle/>
          <a:p>
            <a:pPr algn="ctr"/>
            <a:r>
              <a:rPr lang="en-US" sz="4400" b="1" dirty="0"/>
              <a:t>2. Tìm </a:t>
            </a:r>
            <a:r>
              <a:rPr lang="en-US" sz="4400" b="1" dirty="0" err="1"/>
              <a:t>kiếm</a:t>
            </a:r>
            <a:r>
              <a:rPr lang="en-US" sz="4400" b="1" dirty="0"/>
              <a:t> </a:t>
            </a:r>
            <a:r>
              <a:rPr lang="en-US" sz="4400" b="1" dirty="0" err="1"/>
              <a:t>tuần</a:t>
            </a:r>
            <a:r>
              <a:rPr lang="en-US" sz="4400" b="1" dirty="0"/>
              <a:t> </a:t>
            </a:r>
            <a:r>
              <a:rPr lang="en-US" sz="4400" b="1" dirty="0" err="1"/>
              <a:t>tự</a:t>
            </a:r>
            <a:r>
              <a:rPr lang="en-US" sz="4400" b="1" dirty="0"/>
              <a:t>(Linear Search)</a:t>
            </a:r>
            <a:endParaRPr lang="vi-VN" sz="4400" b="1" dirty="0"/>
          </a:p>
        </p:txBody>
      </p:sp>
    </p:spTree>
    <p:extLst>
      <p:ext uri="{BB962C8B-B14F-4D97-AF65-F5344CB8AC3E}">
        <p14:creationId xmlns:p14="http://schemas.microsoft.com/office/powerpoint/2010/main" val="10080375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54A31-4497-8760-EC77-220AF556DC4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FFB5D5-A800-CF62-5BEB-476ADC6304E1}"/>
              </a:ext>
            </a:extLst>
          </p:cNvPr>
          <p:cNvSpPr>
            <a:spLocks noGrp="1"/>
          </p:cNvSpPr>
          <p:nvPr>
            <p:ph sz="half" idx="14"/>
          </p:nvPr>
        </p:nvSpPr>
        <p:spPr>
          <a:xfrm>
            <a:off x="1616598" y="2320722"/>
            <a:ext cx="8958804" cy="3541853"/>
          </a:xfrm>
        </p:spPr>
        <p:txBody>
          <a:bodyPr/>
          <a:lstStyle/>
          <a:p>
            <a:r>
              <a:rPr lang="en-US" sz="2500" b="1" dirty="0">
                <a:latin typeface="Times New Roman" panose="02020603050405020304" pitchFamily="18" charset="0"/>
                <a:cs typeface="Times New Roman" panose="02020603050405020304" pitchFamily="18" charset="0"/>
              </a:rPr>
              <a:t>Định </a:t>
            </a:r>
            <a:r>
              <a:rPr lang="en-US" sz="2500" b="1" dirty="0" err="1">
                <a:latin typeface="Times New Roman" panose="02020603050405020304" pitchFamily="18" charset="0"/>
                <a:cs typeface="Times New Roman" panose="02020603050405020304" pitchFamily="18" charset="0"/>
              </a:rPr>
              <a:t>nghĩa</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Tìm </a:t>
            </a:r>
            <a:r>
              <a:rPr lang="en-US" sz="2000" dirty="0" err="1">
                <a:latin typeface="Times New Roman" panose="02020603050405020304" pitchFamily="18" charset="0"/>
                <a:cs typeface="Times New Roman" panose="02020603050405020304" pitchFamily="18" charset="0"/>
              </a:rPr>
              <a:t>kiếm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tuần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tự</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còn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gọi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là</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tìm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kiếm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tuyến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tính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là</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thuật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toán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duyệt</a:t>
            </a:r>
            <a:r>
              <a:rPr lang="en-US" sz="2000" dirty="0">
                <a:latin typeface="Times New Roman" panose="02020603050405020304" pitchFamily="18" charset="0"/>
                <a:cs typeface="Times New Roman" panose="02020603050405020304" pitchFamily="18" charset="0"/>
              </a:rPr>
              <a:t> qua </a:t>
            </a:r>
            <a:r>
              <a:rPr lang="en-US" sz="2000" dirty="0" err="1">
                <a:latin typeface="Times New Roman" panose="02020603050405020304" pitchFamily="18" charset="0"/>
                <a:cs typeface="Times New Roman" panose="02020603050405020304" pitchFamily="18" charset="0"/>
              </a:rPr>
              <a:t>từng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phần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tử</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trong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danh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sách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theo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thứ</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tự</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từ</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đầu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đến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cuối</a:t>
            </a:r>
            <a:r>
              <a:rPr lang="en-US" sz="2000" dirty="0">
                <a:latin typeface="Times New Roman" panose="02020603050405020304" pitchFamily="18" charset="0"/>
                <a:cs typeface="Times New Roman" panose="02020603050405020304" pitchFamily="18" charset="0"/>
              </a:rPr>
              <a:t>, so </a:t>
            </a:r>
            <a:r>
              <a:rPr lang="en-US" sz="2000" dirty="0" err="1">
                <a:latin typeface="Times New Roman" panose="02020603050405020304" pitchFamily="18" charset="0"/>
                <a:cs typeface="Times New Roman" panose="02020603050405020304" pitchFamily="18" charset="0"/>
              </a:rPr>
              <a:t>sánh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từng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phần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tử</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với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giá</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trị</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mục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tiêu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đến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khi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tìm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thấy</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hoặc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hết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danh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sách</a:t>
            </a:r>
            <a:r>
              <a:rPr lang="en-US" sz="2000" dirty="0">
                <a:latin typeface="Times New Roman" panose="02020603050405020304" pitchFamily="18" charset="0"/>
                <a:cs typeface="Times New Roman" panose="02020603050405020304" pitchFamily="18" charset="0"/>
              </a:rPr>
              <a:t>.</a:t>
            </a:r>
            <a:endParaRPr lang="vi-VN" sz="2000" dirty="0">
              <a:latin typeface="Times New Roman" panose="02020603050405020304" pitchFamily="18" charset="0"/>
              <a:cs typeface="Times New Roman" panose="02020603050405020304" pitchFamily="18" charset="0"/>
            </a:endParaRPr>
          </a:p>
          <a:p>
            <a:r>
              <a:rPr lang="en-US" sz="2500" b="1" dirty="0" err="1">
                <a:latin typeface="Times New Roman" panose="02020603050405020304" pitchFamily="18" charset="0"/>
                <a:cs typeface="Times New Roman" panose="02020603050405020304" pitchFamily="18" charset="0"/>
              </a:rPr>
              <a:t>Đặc</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điểm</a:t>
            </a:r>
            <a:br>
              <a:rPr lang="en-US" sz="2000" dirty="0">
                <a:latin typeface="Times New Roman" panose="02020603050405020304" pitchFamily="18" charset="0"/>
                <a:cs typeface="Times New Roman" panose="02020603050405020304" pitchFamily="18" charset="0"/>
              </a:rPr>
            </a:br>
            <a:r>
              <a:rPr lang="en-US" sz="2000" dirty="0" err="1">
                <a:latin typeface="Times New Roman" panose="02020603050405020304" pitchFamily="18" charset="0"/>
                <a:cs typeface="Times New Roman" panose="02020603050405020304" pitchFamily="18" charset="0"/>
              </a:rPr>
              <a:t>Không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yêu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cầu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dữ</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liệu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phải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được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sắp</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xếp</a:t>
            </a:r>
            <a:br>
              <a:rPr lang="en-US" sz="2000" dirty="0">
                <a:latin typeface="Times New Roman" panose="02020603050405020304" pitchFamily="18" charset="0"/>
                <a:cs typeface="Times New Roman" panose="02020603050405020304" pitchFamily="18" charset="0"/>
              </a:rPr>
            </a:br>
            <a:r>
              <a:rPr lang="en-US" sz="2000" dirty="0" err="1">
                <a:latin typeface="Times New Roman" panose="02020603050405020304" pitchFamily="18" charset="0"/>
                <a:cs typeface="Times New Roman" panose="02020603050405020304" pitchFamily="18" charset="0"/>
              </a:rPr>
              <a:t>Độ</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phức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tạp</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thời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gian</a:t>
            </a:r>
            <a:r>
              <a:rPr lang="en-US" sz="2000" dirty="0">
                <a:latin typeface="Times New Roman" panose="02020603050405020304" pitchFamily="18" charset="0"/>
                <a:cs typeface="Times New Roman" panose="02020603050405020304" pitchFamily="18" charset="0"/>
              </a:rPr>
              <a:t>: O(n)</a:t>
            </a:r>
            <a:br>
              <a:rPr lang="en-US" sz="2000" dirty="0">
                <a:latin typeface="Times New Roman" panose="02020603050405020304" pitchFamily="18" charset="0"/>
                <a:cs typeface="Times New Roman" panose="02020603050405020304" pitchFamily="18" charset="0"/>
              </a:rPr>
            </a:br>
            <a:r>
              <a:rPr lang="en-US" sz="2000" dirty="0" err="1">
                <a:latin typeface="Times New Roman" panose="02020603050405020304" pitchFamily="18" charset="0"/>
                <a:cs typeface="Times New Roman" panose="02020603050405020304" pitchFamily="18" charset="0"/>
              </a:rPr>
              <a:t>Đơn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giản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dễ</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hiểu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và</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dễ</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cài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đặt</a:t>
            </a:r>
            <a:endParaRPr lang="en-US" sz="2000" dirty="0"/>
          </a:p>
        </p:txBody>
      </p:sp>
      <p:sp>
        <p:nvSpPr>
          <p:cNvPr id="4" name="Title 3">
            <a:extLst>
              <a:ext uri="{FF2B5EF4-FFF2-40B4-BE49-F238E27FC236}">
                <a16:creationId xmlns:a16="http://schemas.microsoft.com/office/drawing/2014/main" id="{FC4E2FBB-2141-39BF-A263-4920C373EF7B}"/>
              </a:ext>
            </a:extLst>
          </p:cNvPr>
          <p:cNvSpPr>
            <a:spLocks noGrp="1"/>
          </p:cNvSpPr>
          <p:nvPr>
            <p:ph type="title"/>
          </p:nvPr>
        </p:nvSpPr>
        <p:spPr/>
        <p:txBody>
          <a:bodyPr/>
          <a:lstStyle/>
          <a:p>
            <a:pPr algn="l"/>
            <a:r>
              <a:rPr lang="en-US" b="1" dirty="0" err="1">
                <a:latin typeface="Times New Roman" panose="02020603050405020304" pitchFamily="18" charset="0"/>
                <a:cs typeface="Times New Roman" panose="02020603050405020304" pitchFamily="18" charset="0"/>
              </a:rPr>
              <a:t>Giới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thiệu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Thuật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Toán</a:t>
            </a:r>
            <a:r>
              <a:rPr lang="en-US" b="1" dirty="0">
                <a:latin typeface="Times New Roman" panose="02020603050405020304" pitchFamily="18" charset="0"/>
                <a:cs typeface="Times New Roman" panose="02020603050405020304" pitchFamily="18" charset="0"/>
              </a:rPr>
              <a:t> Tìm Kiếm </a:t>
            </a:r>
            <a:r>
              <a:rPr lang="en-US" b="1" dirty="0" err="1">
                <a:latin typeface="Times New Roman" panose="02020603050405020304" pitchFamily="18" charset="0"/>
                <a:cs typeface="Times New Roman" panose="02020603050405020304" pitchFamily="18" charset="0"/>
              </a:rPr>
              <a:t>Tuần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Tự</a:t>
            </a:r>
            <a:r>
              <a:rPr lang="en-US" b="1" dirty="0">
                <a:latin typeface="Times New Roman" panose="02020603050405020304" pitchFamily="18" charset="0"/>
                <a:cs typeface="Times New Roman" panose="02020603050405020304" pitchFamily="18" charset="0"/>
              </a:rPr>
              <a:t> (Sequential Search)</a:t>
            </a:r>
            <a:endParaRPr lang="en-US" dirty="0"/>
          </a:p>
        </p:txBody>
      </p:sp>
    </p:spTree>
    <p:extLst>
      <p:ext uri="{BB962C8B-B14F-4D97-AF65-F5344CB8AC3E}">
        <p14:creationId xmlns:p14="http://schemas.microsoft.com/office/powerpoint/2010/main" val="26635348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AD249-633C-0589-09C3-C8A94E629F2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0FEFBFD-F214-3866-54D6-492C8C6A2AE4}"/>
              </a:ext>
            </a:extLst>
          </p:cNvPr>
          <p:cNvSpPr>
            <a:spLocks noGrp="1"/>
          </p:cNvSpPr>
          <p:nvPr>
            <p:ph sz="half" idx="14"/>
          </p:nvPr>
        </p:nvSpPr>
        <p:spPr/>
        <p:txBody>
          <a:bodyPr/>
          <a:lstStyle/>
          <a:p>
            <a:r>
              <a:rPr lang="vi-VN" sz="3000" dirty="0">
                <a:latin typeface="Times New Roman" panose="02020603050405020304" pitchFamily="18" charset="0"/>
                <a:cs typeface="Times New Roman" panose="02020603050405020304" pitchFamily="18" charset="0"/>
              </a:rPr>
              <a:t> Bắt đầu từ phần tử đầu tiên của danh sách, so sánh lần lượt từng phần tử của danh sách với giá trị X cần tìm</a:t>
            </a:r>
          </a:p>
          <a:p>
            <a:r>
              <a:rPr lang="vi-VN" sz="3000" dirty="0">
                <a:latin typeface="Times New Roman" panose="02020603050405020304" pitchFamily="18" charset="0"/>
                <a:cs typeface="Times New Roman" panose="02020603050405020304" pitchFamily="18" charset="0"/>
              </a:rPr>
              <a:t> Nếu có phần tử bằng X, thuật toán dừng lại (tìm thấy) </a:t>
            </a:r>
          </a:p>
          <a:p>
            <a:r>
              <a:rPr lang="vi-VN" sz="3000" dirty="0">
                <a:latin typeface="Times New Roman" panose="02020603050405020304" pitchFamily="18" charset="0"/>
                <a:cs typeface="Times New Roman" panose="02020603050405020304" pitchFamily="18" charset="0"/>
              </a:rPr>
              <a:t>Nếu đến cuối danh sách mà không có phần tử nào bằng X, thuật toán dừng lại (không tìm thấy)</a:t>
            </a:r>
            <a:endParaRPr lang="en-US" sz="3000" dirty="0">
              <a:latin typeface="Times New Roman" panose="02020603050405020304" pitchFamily="18" charset="0"/>
              <a:cs typeface="Times New Roman" panose="02020603050405020304" pitchFamily="18" charset="0"/>
            </a:endParaRPr>
          </a:p>
          <a:p>
            <a:endParaRPr lang="en-US" dirty="0"/>
          </a:p>
        </p:txBody>
      </p:sp>
      <p:sp>
        <p:nvSpPr>
          <p:cNvPr id="4" name="Title 3">
            <a:extLst>
              <a:ext uri="{FF2B5EF4-FFF2-40B4-BE49-F238E27FC236}">
                <a16:creationId xmlns:a16="http://schemas.microsoft.com/office/drawing/2014/main" id="{E90BC7FD-DA5D-BAB9-538F-B7D17B7754C5}"/>
              </a:ext>
            </a:extLst>
          </p:cNvPr>
          <p:cNvSpPr>
            <a:spLocks noGrp="1"/>
          </p:cNvSpPr>
          <p:nvPr>
            <p:ph type="title"/>
          </p:nvPr>
        </p:nvSpPr>
        <p:spPr/>
        <p:txBody>
          <a:bodyPr/>
          <a:lstStyle/>
          <a:p>
            <a:pPr algn="l"/>
            <a:r>
              <a:rPr lang="vi-VN" b="1" dirty="0"/>
              <a:t>Ý tưởng :</a:t>
            </a:r>
            <a:endParaRPr lang="en-US" b="1" dirty="0"/>
          </a:p>
        </p:txBody>
      </p:sp>
    </p:spTree>
    <p:extLst>
      <p:ext uri="{BB962C8B-B14F-4D97-AF65-F5344CB8AC3E}">
        <p14:creationId xmlns:p14="http://schemas.microsoft.com/office/powerpoint/2010/main" val="4184009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C8CDC-FF7E-D6BE-E867-C02FE1A00E6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726BA57-EB6A-0D22-F22D-74E23DAE983C}"/>
              </a:ext>
            </a:extLst>
          </p:cNvPr>
          <p:cNvSpPr>
            <a:spLocks noGrp="1"/>
          </p:cNvSpPr>
          <p:nvPr>
            <p:ph sz="half" idx="14"/>
          </p:nvPr>
        </p:nvSpPr>
        <p:spPr/>
        <p:txBody>
          <a:bodyPr/>
          <a:lstStyle/>
          <a:p>
            <a:r>
              <a:rPr lang="en-US" b="1" dirty="0"/>
              <a:t>1. </a:t>
            </a:r>
            <a:r>
              <a:rPr lang="en-US" b="1" dirty="0" err="1"/>
              <a:t>Bắt</a:t>
            </a:r>
            <a:r>
              <a:rPr lang="en-US" b="1" dirty="0"/>
              <a:t> </a:t>
            </a:r>
            <a:r>
              <a:rPr lang="en-US" b="1" dirty="0" err="1"/>
              <a:t>đầu</a:t>
            </a:r>
            <a:r>
              <a:rPr lang="en-US" b="1" dirty="0"/>
              <a:t> </a:t>
            </a:r>
            <a:r>
              <a:rPr lang="en-US" b="1" dirty="0" err="1"/>
              <a:t>từ</a:t>
            </a:r>
            <a:r>
              <a:rPr lang="en-US" b="1" dirty="0"/>
              <a:t> </a:t>
            </a:r>
            <a:r>
              <a:rPr lang="en-US" b="1" dirty="0" err="1"/>
              <a:t>phần</a:t>
            </a:r>
            <a:r>
              <a:rPr lang="en-US" b="1" dirty="0"/>
              <a:t> </a:t>
            </a:r>
            <a:r>
              <a:rPr lang="en-US" b="1" dirty="0" err="1"/>
              <a:t>tử</a:t>
            </a:r>
            <a:r>
              <a:rPr lang="en-US" b="1" dirty="0"/>
              <a:t> </a:t>
            </a:r>
            <a:r>
              <a:rPr lang="en-US" b="1" dirty="0" err="1"/>
              <a:t>đầu</a:t>
            </a:r>
            <a:r>
              <a:rPr lang="en-US" b="1" dirty="0"/>
              <a:t> </a:t>
            </a:r>
            <a:r>
              <a:rPr lang="en-US" b="1" dirty="0" err="1"/>
              <a:t>tiên</a:t>
            </a:r>
            <a:endParaRPr lang="en-US" dirty="0"/>
          </a:p>
          <a:p>
            <a:r>
              <a:rPr lang="en-US" b="1" dirty="0"/>
              <a:t>2. So </a:t>
            </a:r>
            <a:r>
              <a:rPr lang="en-US" b="1" dirty="0" err="1"/>
              <a:t>sánh</a:t>
            </a:r>
            <a:r>
              <a:rPr lang="en-US" b="1" dirty="0"/>
              <a:t> </a:t>
            </a:r>
            <a:r>
              <a:rPr lang="en-US" b="1" dirty="0" err="1"/>
              <a:t>phần</a:t>
            </a:r>
            <a:r>
              <a:rPr lang="en-US" b="1" dirty="0"/>
              <a:t> </a:t>
            </a:r>
            <a:r>
              <a:rPr lang="en-US" b="1" dirty="0" err="1"/>
              <a:t>tử</a:t>
            </a:r>
            <a:r>
              <a:rPr lang="en-US" b="1" dirty="0"/>
              <a:t> </a:t>
            </a:r>
            <a:r>
              <a:rPr lang="en-US" b="1" dirty="0" err="1"/>
              <a:t>hiện</a:t>
            </a:r>
            <a:r>
              <a:rPr lang="en-US" b="1" dirty="0"/>
              <a:t> </a:t>
            </a:r>
            <a:r>
              <a:rPr lang="en-US" b="1" dirty="0" err="1"/>
              <a:t>tại</a:t>
            </a:r>
            <a:r>
              <a:rPr lang="en-US" b="1" dirty="0"/>
              <a:t> </a:t>
            </a:r>
            <a:r>
              <a:rPr lang="en-US" b="1" dirty="0" err="1"/>
              <a:t>với</a:t>
            </a:r>
            <a:r>
              <a:rPr lang="en-US" b="1" dirty="0"/>
              <a:t> </a:t>
            </a:r>
            <a:r>
              <a:rPr lang="en-US" b="1" dirty="0" err="1"/>
              <a:t>giá</a:t>
            </a:r>
            <a:r>
              <a:rPr lang="en-US" b="1" dirty="0"/>
              <a:t> </a:t>
            </a:r>
            <a:r>
              <a:rPr lang="en-US" b="1" dirty="0" err="1"/>
              <a:t>trị</a:t>
            </a:r>
            <a:r>
              <a:rPr lang="en-US" b="1" dirty="0"/>
              <a:t> </a:t>
            </a:r>
            <a:r>
              <a:rPr lang="en-US" b="1" dirty="0" err="1"/>
              <a:t>mục</a:t>
            </a:r>
            <a:r>
              <a:rPr lang="en-US" b="1" dirty="0"/>
              <a:t> </a:t>
            </a:r>
            <a:r>
              <a:rPr lang="en-US" b="1" dirty="0" err="1"/>
              <a:t>tiêu</a:t>
            </a:r>
            <a:endParaRPr lang="en-US" dirty="0"/>
          </a:p>
          <a:p>
            <a:r>
              <a:rPr lang="en-US" b="1" dirty="0"/>
              <a:t>3. </a:t>
            </a:r>
            <a:r>
              <a:rPr lang="en-US" b="1" dirty="0" err="1"/>
              <a:t>Nếu</a:t>
            </a:r>
            <a:r>
              <a:rPr lang="en-US" b="1" dirty="0"/>
              <a:t> </a:t>
            </a:r>
            <a:r>
              <a:rPr lang="en-US" b="1" dirty="0" err="1"/>
              <a:t>khớp</a:t>
            </a:r>
            <a:r>
              <a:rPr lang="en-US" b="1" dirty="0"/>
              <a:t>, </a:t>
            </a:r>
            <a:r>
              <a:rPr lang="en-US" b="1" dirty="0" err="1"/>
              <a:t>trả</a:t>
            </a:r>
            <a:r>
              <a:rPr lang="en-US" b="1" dirty="0"/>
              <a:t> </a:t>
            </a:r>
            <a:r>
              <a:rPr lang="en-US" b="1" dirty="0" err="1"/>
              <a:t>về</a:t>
            </a:r>
            <a:r>
              <a:rPr lang="en-US" b="1" dirty="0"/>
              <a:t> </a:t>
            </a:r>
            <a:r>
              <a:rPr lang="en-US" b="1" dirty="0" err="1"/>
              <a:t>vị</a:t>
            </a:r>
            <a:r>
              <a:rPr lang="en-US" b="1" dirty="0"/>
              <a:t> </a:t>
            </a:r>
            <a:r>
              <a:rPr lang="en-US" b="1" dirty="0" err="1"/>
              <a:t>trí</a:t>
            </a:r>
            <a:r>
              <a:rPr lang="en-US" b="1" dirty="0"/>
              <a:t> </a:t>
            </a:r>
            <a:r>
              <a:rPr lang="en-US" b="1" dirty="0" err="1"/>
              <a:t>hiện</a:t>
            </a:r>
            <a:r>
              <a:rPr lang="en-US" b="1" dirty="0"/>
              <a:t> </a:t>
            </a:r>
            <a:r>
              <a:rPr lang="en-US" b="1" dirty="0" err="1"/>
              <a:t>tại</a:t>
            </a:r>
            <a:endParaRPr lang="en-US" dirty="0"/>
          </a:p>
          <a:p>
            <a:r>
              <a:rPr lang="en-US" b="1" dirty="0"/>
              <a:t>4. </a:t>
            </a:r>
            <a:r>
              <a:rPr lang="en-US" b="1" dirty="0" err="1"/>
              <a:t>Nếu</a:t>
            </a:r>
            <a:r>
              <a:rPr lang="en-US" b="1" dirty="0"/>
              <a:t> </a:t>
            </a:r>
            <a:r>
              <a:rPr lang="en-US" b="1" dirty="0" err="1"/>
              <a:t>không</a:t>
            </a:r>
            <a:r>
              <a:rPr lang="en-US" b="1" dirty="0"/>
              <a:t> </a:t>
            </a:r>
            <a:r>
              <a:rPr lang="en-US" b="1" dirty="0" err="1"/>
              <a:t>khớp</a:t>
            </a:r>
            <a:r>
              <a:rPr lang="en-US" b="1" dirty="0"/>
              <a:t>, </a:t>
            </a:r>
            <a:r>
              <a:rPr lang="en-US" b="1" dirty="0" err="1"/>
              <a:t>chuyển</a:t>
            </a:r>
            <a:r>
              <a:rPr lang="en-US" b="1" dirty="0"/>
              <a:t> </a:t>
            </a:r>
            <a:r>
              <a:rPr lang="en-US" b="1" dirty="0" err="1"/>
              <a:t>đến</a:t>
            </a:r>
            <a:r>
              <a:rPr lang="en-US" b="1" dirty="0"/>
              <a:t> </a:t>
            </a:r>
            <a:r>
              <a:rPr lang="en-US" b="1" dirty="0" err="1"/>
              <a:t>phần</a:t>
            </a:r>
            <a:r>
              <a:rPr lang="en-US" b="1" dirty="0"/>
              <a:t> </a:t>
            </a:r>
            <a:r>
              <a:rPr lang="en-US" b="1" dirty="0" err="1"/>
              <a:t>tử</a:t>
            </a:r>
            <a:r>
              <a:rPr lang="en-US" b="1" dirty="0"/>
              <a:t> </a:t>
            </a:r>
            <a:r>
              <a:rPr lang="en-US" b="1" dirty="0" err="1"/>
              <a:t>tiếp</a:t>
            </a:r>
            <a:r>
              <a:rPr lang="en-US" b="1" dirty="0"/>
              <a:t> </a:t>
            </a:r>
            <a:r>
              <a:rPr lang="en-US" b="1" dirty="0" err="1"/>
              <a:t>theo</a:t>
            </a:r>
            <a:endParaRPr lang="en-US" dirty="0"/>
          </a:p>
          <a:p>
            <a:r>
              <a:rPr lang="en-US" b="1" dirty="0"/>
              <a:t>5. </a:t>
            </a:r>
            <a:r>
              <a:rPr lang="en-US" b="1" dirty="0" err="1"/>
              <a:t>Lặp</a:t>
            </a:r>
            <a:r>
              <a:rPr lang="en-US" b="1" dirty="0"/>
              <a:t> </a:t>
            </a:r>
            <a:r>
              <a:rPr lang="en-US" b="1" dirty="0" err="1"/>
              <a:t>lại</a:t>
            </a:r>
            <a:r>
              <a:rPr lang="en-US" b="1" dirty="0"/>
              <a:t> </a:t>
            </a:r>
            <a:r>
              <a:rPr lang="en-US" b="1" dirty="0" err="1"/>
              <a:t>bước</a:t>
            </a:r>
            <a:r>
              <a:rPr lang="en-US" b="1" dirty="0"/>
              <a:t> 2-4 </a:t>
            </a:r>
            <a:r>
              <a:rPr lang="en-US" b="1" dirty="0" err="1"/>
              <a:t>cho</a:t>
            </a:r>
            <a:r>
              <a:rPr lang="en-US" b="1" dirty="0"/>
              <a:t> </a:t>
            </a:r>
            <a:r>
              <a:rPr lang="en-US" b="1" dirty="0" err="1"/>
              <a:t>đến</a:t>
            </a:r>
            <a:r>
              <a:rPr lang="en-US" b="1" dirty="0"/>
              <a:t> </a:t>
            </a:r>
            <a:r>
              <a:rPr lang="en-US" b="1" dirty="0" err="1"/>
              <a:t>khi</a:t>
            </a:r>
            <a:r>
              <a:rPr lang="en-US" b="1" dirty="0"/>
              <a:t> </a:t>
            </a:r>
            <a:r>
              <a:rPr lang="en-US" b="1" dirty="0" err="1"/>
              <a:t>tìm</a:t>
            </a:r>
            <a:r>
              <a:rPr lang="en-US" b="1" dirty="0"/>
              <a:t> </a:t>
            </a:r>
            <a:r>
              <a:rPr lang="en-US" b="1" dirty="0" err="1"/>
              <a:t>thấy</a:t>
            </a:r>
            <a:r>
              <a:rPr lang="en-US" b="1" dirty="0"/>
              <a:t> </a:t>
            </a:r>
            <a:r>
              <a:rPr lang="en-US" b="1" dirty="0" err="1"/>
              <a:t>hoặc</a:t>
            </a:r>
            <a:r>
              <a:rPr lang="en-US" b="1" dirty="0"/>
              <a:t> </a:t>
            </a:r>
            <a:r>
              <a:rPr lang="en-US" b="1" dirty="0" err="1"/>
              <a:t>hết</a:t>
            </a:r>
            <a:r>
              <a:rPr lang="en-US" b="1" dirty="0"/>
              <a:t> </a:t>
            </a:r>
            <a:r>
              <a:rPr lang="en-US" b="1" dirty="0" err="1"/>
              <a:t>danh</a:t>
            </a:r>
            <a:r>
              <a:rPr lang="en-US" b="1" dirty="0"/>
              <a:t> </a:t>
            </a:r>
            <a:r>
              <a:rPr lang="en-US" b="1" dirty="0" err="1"/>
              <a:t>sách</a:t>
            </a:r>
            <a:endParaRPr lang="en-US" dirty="0"/>
          </a:p>
          <a:p>
            <a:r>
              <a:rPr lang="en-US" b="1" dirty="0"/>
              <a:t>6. </a:t>
            </a:r>
            <a:r>
              <a:rPr lang="en-US" b="1" dirty="0" err="1"/>
              <a:t>Nếu</a:t>
            </a:r>
            <a:r>
              <a:rPr lang="en-US" b="1" dirty="0"/>
              <a:t> </a:t>
            </a:r>
            <a:r>
              <a:rPr lang="en-US" b="1" dirty="0" err="1"/>
              <a:t>hết</a:t>
            </a:r>
            <a:r>
              <a:rPr lang="en-US" b="1" dirty="0"/>
              <a:t> </a:t>
            </a:r>
            <a:r>
              <a:rPr lang="en-US" b="1" dirty="0" err="1"/>
              <a:t>danh</a:t>
            </a:r>
            <a:r>
              <a:rPr lang="en-US" b="1" dirty="0"/>
              <a:t> </a:t>
            </a:r>
            <a:r>
              <a:rPr lang="en-US" b="1" dirty="0" err="1"/>
              <a:t>sách</a:t>
            </a:r>
            <a:r>
              <a:rPr lang="en-US" b="1" dirty="0"/>
              <a:t> </a:t>
            </a:r>
            <a:r>
              <a:rPr lang="en-US" b="1" dirty="0" err="1"/>
              <a:t>mà</a:t>
            </a:r>
            <a:r>
              <a:rPr lang="en-US" b="1" dirty="0"/>
              <a:t> </a:t>
            </a:r>
            <a:r>
              <a:rPr lang="en-US" b="1" dirty="0" err="1"/>
              <a:t>không</a:t>
            </a:r>
            <a:r>
              <a:rPr lang="en-US" b="1" dirty="0"/>
              <a:t> </a:t>
            </a:r>
            <a:r>
              <a:rPr lang="en-US" b="1" dirty="0" err="1"/>
              <a:t>tìm</a:t>
            </a:r>
            <a:r>
              <a:rPr lang="en-US" b="1" dirty="0"/>
              <a:t> </a:t>
            </a:r>
            <a:r>
              <a:rPr lang="en-US" b="1" dirty="0" err="1"/>
              <a:t>thấy</a:t>
            </a:r>
            <a:r>
              <a:rPr lang="en-US" b="1" dirty="0"/>
              <a:t>, </a:t>
            </a:r>
            <a:r>
              <a:rPr lang="en-US" b="1" dirty="0" err="1"/>
              <a:t>trả</a:t>
            </a:r>
            <a:r>
              <a:rPr lang="en-US" b="1" dirty="0"/>
              <a:t> </a:t>
            </a:r>
            <a:r>
              <a:rPr lang="en-US" b="1" dirty="0" err="1"/>
              <a:t>về</a:t>
            </a:r>
            <a:r>
              <a:rPr lang="en-US" b="1" dirty="0"/>
              <a:t> -1</a:t>
            </a:r>
            <a:endParaRPr lang="en-US" dirty="0"/>
          </a:p>
        </p:txBody>
      </p:sp>
      <p:sp>
        <p:nvSpPr>
          <p:cNvPr id="4" name="Title 3">
            <a:extLst>
              <a:ext uri="{FF2B5EF4-FFF2-40B4-BE49-F238E27FC236}">
                <a16:creationId xmlns:a16="http://schemas.microsoft.com/office/drawing/2014/main" id="{4EA8171B-2EF6-766A-0795-2D5FF7424453}"/>
              </a:ext>
            </a:extLst>
          </p:cNvPr>
          <p:cNvSpPr>
            <a:spLocks noGrp="1"/>
          </p:cNvSpPr>
          <p:nvPr>
            <p:ph type="title"/>
          </p:nvPr>
        </p:nvSpPr>
        <p:spPr/>
        <p:txBody>
          <a:bodyPr/>
          <a:lstStyle/>
          <a:p>
            <a:pPr algn="l"/>
            <a:r>
              <a:rPr lang="en-US" b="1" dirty="0" err="1"/>
              <a:t>Thuật</a:t>
            </a:r>
            <a:r>
              <a:rPr lang="en-US" b="1" dirty="0"/>
              <a:t> </a:t>
            </a:r>
            <a:r>
              <a:rPr lang="en-US" b="1" dirty="0" err="1"/>
              <a:t>toán</a:t>
            </a:r>
            <a:r>
              <a:rPr lang="vi-VN" b="1" dirty="0"/>
              <a:t> </a:t>
            </a:r>
            <a:r>
              <a:rPr lang="en-US" b="1" dirty="0"/>
              <a:t>text</a:t>
            </a:r>
            <a:endParaRPr lang="en-US" dirty="0"/>
          </a:p>
        </p:txBody>
      </p:sp>
    </p:spTree>
    <p:extLst>
      <p:ext uri="{BB962C8B-B14F-4D97-AF65-F5344CB8AC3E}">
        <p14:creationId xmlns:p14="http://schemas.microsoft.com/office/powerpoint/2010/main" val="20819698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FA6D2-8F34-02FC-1B0F-491E26C4B3FA}"/>
            </a:ext>
          </a:extLst>
        </p:cNvPr>
        <p:cNvGrpSpPr/>
        <p:nvPr/>
      </p:nvGrpSpPr>
      <p:grpSpPr>
        <a:xfrm>
          <a:off x="0" y="0"/>
          <a:ext cx="0" cy="0"/>
          <a:chOff x="0" y="0"/>
          <a:chExt cx="0" cy="0"/>
        </a:xfrm>
      </p:grpSpPr>
      <p:pic>
        <p:nvPicPr>
          <p:cNvPr id="1026" name="Picture 2" descr="A screenshot of a computer&#10;&#10;AI-generated content may be incorrect.">
            <a:extLst>
              <a:ext uri="{FF2B5EF4-FFF2-40B4-BE49-F238E27FC236}">
                <a16:creationId xmlns:a16="http://schemas.microsoft.com/office/drawing/2014/main" id="{2227AA7D-A10F-F45F-F347-66E83CFD659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1016000" y="251152"/>
            <a:ext cx="10160000" cy="6355695"/>
          </a:xfrm>
          <a:prstGeom prst="rect">
            <a:avLst/>
          </a:prstGeom>
          <a:solidFill>
            <a:srgbClr val="FFFFFF"/>
          </a:solidFill>
        </p:spPr>
      </p:pic>
    </p:spTree>
    <p:extLst>
      <p:ext uri="{BB962C8B-B14F-4D97-AF65-F5344CB8AC3E}">
        <p14:creationId xmlns:p14="http://schemas.microsoft.com/office/powerpoint/2010/main" val="1283689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039632-41EC-7597-D4BA-95CFEB18CECB}"/>
              </a:ext>
            </a:extLst>
          </p:cNvPr>
          <p:cNvSpPr>
            <a:spLocks noGrp="1"/>
          </p:cNvSpPr>
          <p:nvPr>
            <p:ph type="title"/>
          </p:nvPr>
        </p:nvSpPr>
        <p:spPr>
          <a:xfrm>
            <a:off x="1106797" y="938889"/>
            <a:ext cx="1985287" cy="978535"/>
          </a:xfrm>
        </p:spPr>
        <p:txBody>
          <a:bodyPr anchor="b">
            <a:normAutofit/>
          </a:bodyPr>
          <a:lstStyle/>
          <a:p>
            <a:r>
              <a:rPr lang="en-US" dirty="0" err="1"/>
              <a:t>Ví</a:t>
            </a:r>
            <a:r>
              <a:rPr lang="en-US" dirty="0"/>
              <a:t> </a:t>
            </a:r>
            <a:r>
              <a:rPr lang="en-US" dirty="0" err="1"/>
              <a:t>dụ</a:t>
            </a:r>
            <a:r>
              <a:rPr lang="en-US" dirty="0"/>
              <a:t>: </a:t>
            </a:r>
          </a:p>
        </p:txBody>
      </p:sp>
      <p:pic>
        <p:nvPicPr>
          <p:cNvPr id="7" name="Picture 6" descr="A diagram of a number&#10;&#10;AI-generated content may be incorrect.">
            <a:extLst>
              <a:ext uri="{FF2B5EF4-FFF2-40B4-BE49-F238E27FC236}">
                <a16:creationId xmlns:a16="http://schemas.microsoft.com/office/drawing/2014/main" id="{F0B5DBC6-D397-3ACA-4DDD-FEB5871B86F7}"/>
              </a:ext>
            </a:extLst>
          </p:cNvPr>
          <p:cNvPicPr>
            <a:picLocks noChangeAspect="1"/>
          </p:cNvPicPr>
          <p:nvPr/>
        </p:nvPicPr>
        <p:blipFill>
          <a:blip r:embed="rId2"/>
          <a:stretch>
            <a:fillRect/>
          </a:stretch>
        </p:blipFill>
        <p:spPr>
          <a:xfrm>
            <a:off x="3352800" y="1070970"/>
            <a:ext cx="6159371" cy="4716059"/>
          </a:xfrm>
          <a:prstGeom prst="rect">
            <a:avLst/>
          </a:prstGeom>
          <a:noFill/>
        </p:spPr>
      </p:pic>
    </p:spTree>
    <p:extLst>
      <p:ext uri="{BB962C8B-B14F-4D97-AF65-F5344CB8AC3E}">
        <p14:creationId xmlns:p14="http://schemas.microsoft.com/office/powerpoint/2010/main" val="1667462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05311-5BEB-883B-854E-8CF69127DD1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0FF51B7-224A-E70F-00D8-FE764C617D73}"/>
              </a:ext>
            </a:extLst>
          </p:cNvPr>
          <p:cNvSpPr>
            <a:spLocks noGrp="1"/>
          </p:cNvSpPr>
          <p:nvPr>
            <p:ph type="title"/>
          </p:nvPr>
        </p:nvSpPr>
        <p:spPr>
          <a:xfrm>
            <a:off x="601644" y="624745"/>
            <a:ext cx="2548722" cy="939895"/>
          </a:xfrm>
        </p:spPr>
        <p:txBody>
          <a:bodyPr anchor="t">
            <a:normAutofit/>
          </a:bodyPr>
          <a:lstStyle/>
          <a:p>
            <a:r>
              <a:rPr lang="en-US" dirty="0" err="1"/>
              <a:t>Ví</a:t>
            </a:r>
            <a:r>
              <a:rPr lang="en-US" dirty="0"/>
              <a:t> </a:t>
            </a:r>
            <a:r>
              <a:rPr lang="en-US" dirty="0" err="1"/>
              <a:t>dụ</a:t>
            </a:r>
            <a:r>
              <a:rPr lang="en-US" dirty="0"/>
              <a:t> : </a:t>
            </a:r>
          </a:p>
        </p:txBody>
      </p:sp>
      <p:pic>
        <p:nvPicPr>
          <p:cNvPr id="5" name="Picture 4" descr="A diagram of a mathematical equation&#10;&#10;AI-generated content may be incorrect.">
            <a:extLst>
              <a:ext uri="{FF2B5EF4-FFF2-40B4-BE49-F238E27FC236}">
                <a16:creationId xmlns:a16="http://schemas.microsoft.com/office/drawing/2014/main" id="{2A250A14-47F0-BDEB-DFFA-3C737A447E2F}"/>
              </a:ext>
            </a:extLst>
          </p:cNvPr>
          <p:cNvPicPr>
            <a:picLocks noChangeAspect="1"/>
          </p:cNvPicPr>
          <p:nvPr/>
        </p:nvPicPr>
        <p:blipFill>
          <a:blip r:embed="rId2"/>
          <a:stretch>
            <a:fillRect/>
          </a:stretch>
        </p:blipFill>
        <p:spPr>
          <a:xfrm>
            <a:off x="3150366" y="1182616"/>
            <a:ext cx="6725154" cy="5166343"/>
          </a:xfrm>
          <a:prstGeom prst="rect">
            <a:avLst/>
          </a:prstGeom>
          <a:noFill/>
        </p:spPr>
      </p:pic>
    </p:spTree>
    <p:extLst>
      <p:ext uri="{BB962C8B-B14F-4D97-AF65-F5344CB8AC3E}">
        <p14:creationId xmlns:p14="http://schemas.microsoft.com/office/powerpoint/2010/main" val="2250591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1306751" y="1093808"/>
            <a:ext cx="3234770" cy="618360"/>
          </a:xfrm>
          <a:noFill/>
        </p:spPr>
        <p:txBody>
          <a:bodyPr/>
          <a:lstStyle/>
          <a:p>
            <a:r>
              <a:rPr lang="vi-VN" dirty="0"/>
              <a:t>Thuật toán :</a:t>
            </a:r>
            <a:endParaRPr lang="en-US" dirty="0"/>
          </a:p>
        </p:txBody>
      </p:sp>
      <p:sp>
        <p:nvSpPr>
          <p:cNvPr id="3" name="Content Placeholder 2">
            <a:extLst>
              <a:ext uri="{FF2B5EF4-FFF2-40B4-BE49-F238E27FC236}">
                <a16:creationId xmlns:a16="http://schemas.microsoft.com/office/drawing/2014/main" id="{05948542-FCE1-3AE6-C6C9-17975609DF70}"/>
              </a:ext>
            </a:extLst>
          </p:cNvPr>
          <p:cNvSpPr>
            <a:spLocks noGrp="1"/>
          </p:cNvSpPr>
          <p:nvPr>
            <p:ph sz="half" idx="1"/>
          </p:nvPr>
        </p:nvSpPr>
        <p:spPr>
          <a:xfrm>
            <a:off x="1484002" y="1712168"/>
            <a:ext cx="9681837" cy="4200952"/>
          </a:xfrm>
          <a:noFill/>
        </p:spPr>
        <p:txBody>
          <a:bodyPr vert="horz" lIns="91440" tIns="45720" rIns="91440" bIns="45720" rtlCol="0" anchor="t">
            <a:noAutofit/>
          </a:bodyPr>
          <a:lstStyle/>
          <a:p>
            <a:r>
              <a:rPr lang="vi-VN" sz="3000" dirty="0"/>
              <a:t>B1: i = 0 ;      </a:t>
            </a:r>
            <a:r>
              <a:rPr lang="vi-VN" sz="3000" dirty="0">
                <a:solidFill>
                  <a:srgbClr val="FF0000"/>
                </a:solidFill>
              </a:rPr>
              <a:t>// Bắt đầu từ phần tử đầu tiên </a:t>
            </a:r>
          </a:p>
          <a:p>
            <a:r>
              <a:rPr lang="vi-VN" sz="3000" dirty="0"/>
              <a:t>B2: so sánh A[i] với X, có 2 khả năng : </a:t>
            </a:r>
          </a:p>
          <a:p>
            <a:r>
              <a:rPr lang="vi-VN" sz="3000" dirty="0"/>
              <a:t>	A[i] = X : Tìm thấy. Dừng </a:t>
            </a:r>
          </a:p>
          <a:p>
            <a:r>
              <a:rPr lang="vi-VN" sz="3000" dirty="0"/>
              <a:t>	A[i] ≠ X : Sang B3 B3: i=i+1 </a:t>
            </a:r>
            <a:r>
              <a:rPr lang="vi-VN" sz="3000" dirty="0">
                <a:solidFill>
                  <a:srgbClr val="FF0000"/>
                </a:solidFill>
              </a:rPr>
              <a:t>// Xét phần tử tiếp theo trong mảng </a:t>
            </a:r>
          </a:p>
          <a:p>
            <a:r>
              <a:rPr lang="vi-VN" sz="3000" dirty="0"/>
              <a:t>Nếu i=n : Hết mảng, không tìm thấy. Dừng</a:t>
            </a:r>
          </a:p>
          <a:p>
            <a:r>
              <a:rPr lang="vi-VN" sz="3000" dirty="0"/>
              <a:t> Ngược lại: lặp lại B2</a:t>
            </a:r>
            <a:endParaRPr lang="en-US" sz="3000" dirty="0"/>
          </a:p>
        </p:txBody>
      </p:sp>
    </p:spTree>
    <p:extLst>
      <p:ext uri="{BB962C8B-B14F-4D97-AF65-F5344CB8AC3E}">
        <p14:creationId xmlns:p14="http://schemas.microsoft.com/office/powerpoint/2010/main" val="19942469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B697F-5C9E-5168-695D-EB47B8EC88D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DD17EB-5B51-A604-A056-8F9147626A0C}"/>
              </a:ext>
            </a:extLst>
          </p:cNvPr>
          <p:cNvSpPr>
            <a:spLocks noGrp="1"/>
          </p:cNvSpPr>
          <p:nvPr>
            <p:ph sz="half" idx="1"/>
          </p:nvPr>
        </p:nvSpPr>
        <p:spPr>
          <a:xfrm>
            <a:off x="1158240" y="1188720"/>
            <a:ext cx="9662159" cy="4874156"/>
          </a:xfrm>
          <a:noFill/>
        </p:spPr>
        <p:txBody>
          <a:bodyPr vert="horz" lIns="91440" tIns="45720" rIns="91440" bIns="45720" rtlCol="0" anchor="t">
            <a:noAutofit/>
          </a:bodyPr>
          <a:lstStyle/>
          <a:p>
            <a:r>
              <a:rPr lang="vi-VN" sz="2000" dirty="0">
                <a:solidFill>
                  <a:srgbClr val="00B0F0"/>
                </a:solidFill>
              </a:rPr>
              <a:t>void</a:t>
            </a:r>
            <a:r>
              <a:rPr lang="vi-VN" sz="2000" dirty="0"/>
              <a:t> lsearch (</a:t>
            </a:r>
            <a:r>
              <a:rPr lang="vi-VN" sz="2000" dirty="0">
                <a:solidFill>
                  <a:srgbClr val="00B0F0"/>
                </a:solidFill>
              </a:rPr>
              <a:t>int</a:t>
            </a:r>
            <a:r>
              <a:rPr lang="vi-VN" sz="2000" dirty="0"/>
              <a:t> list[], </a:t>
            </a:r>
            <a:r>
              <a:rPr lang="vi-VN" sz="2000" dirty="0">
                <a:solidFill>
                  <a:srgbClr val="00B0F0"/>
                </a:solidFill>
              </a:rPr>
              <a:t>int</a:t>
            </a:r>
            <a:r>
              <a:rPr lang="vi-VN" sz="2000" dirty="0"/>
              <a:t> n</a:t>
            </a:r>
            <a:r>
              <a:rPr lang="vi-VN" sz="2000" dirty="0">
                <a:solidFill>
                  <a:srgbClr val="00B0F0"/>
                </a:solidFill>
              </a:rPr>
              <a:t>, int </a:t>
            </a:r>
            <a:r>
              <a:rPr lang="vi-VN" sz="2000" dirty="0"/>
              <a:t>key) { </a:t>
            </a:r>
          </a:p>
          <a:p>
            <a:r>
              <a:rPr lang="vi-VN" sz="2000" dirty="0">
                <a:solidFill>
                  <a:srgbClr val="00B0F0"/>
                </a:solidFill>
              </a:rPr>
              <a:t>int </a:t>
            </a:r>
            <a:r>
              <a:rPr lang="vi-VN" sz="2000" dirty="0"/>
              <a:t>flag = 0;	 </a:t>
            </a:r>
            <a:r>
              <a:rPr lang="vi-VN" sz="2000" dirty="0">
                <a:solidFill>
                  <a:srgbClr val="00B050"/>
                </a:solidFill>
              </a:rPr>
              <a:t>// giả sử lúc đầu chưa tìm thấy</a:t>
            </a:r>
          </a:p>
          <a:p>
            <a:r>
              <a:rPr lang="vi-VN" sz="2000" dirty="0"/>
              <a:t> </a:t>
            </a:r>
            <a:r>
              <a:rPr lang="nn-NO" sz="2000" dirty="0">
                <a:solidFill>
                  <a:srgbClr val="00B0F0"/>
                </a:solidFill>
              </a:rPr>
              <a:t>for</a:t>
            </a:r>
            <a:r>
              <a:rPr lang="nn-NO" sz="2000" dirty="0"/>
              <a:t>(</a:t>
            </a:r>
            <a:r>
              <a:rPr lang="nn-NO" sz="2000" dirty="0">
                <a:solidFill>
                  <a:srgbClr val="00B0F0"/>
                </a:solidFill>
              </a:rPr>
              <a:t>int</a:t>
            </a:r>
            <a:r>
              <a:rPr lang="nn-NO" sz="2000" dirty="0"/>
              <a:t> i=0; i&lt;</a:t>
            </a:r>
            <a:r>
              <a:rPr lang="vi-VN" sz="2000" dirty="0"/>
              <a:t>n ; i++)</a:t>
            </a:r>
          </a:p>
          <a:p>
            <a:r>
              <a:rPr lang="vi-VN" sz="2000" dirty="0"/>
              <a:t>   </a:t>
            </a:r>
            <a:r>
              <a:rPr lang="vi-VN" sz="2000" dirty="0">
                <a:solidFill>
                  <a:srgbClr val="00B0F0"/>
                </a:solidFill>
              </a:rPr>
              <a:t>if</a:t>
            </a:r>
            <a:r>
              <a:rPr lang="vi-VN" sz="2000" dirty="0"/>
              <a:t> (list[i] == key {</a:t>
            </a:r>
          </a:p>
          <a:p>
            <a:r>
              <a:rPr lang="vi-VN" sz="2000" dirty="0"/>
              <a:t>     cout&lt;&lt;“</a:t>
            </a:r>
            <a:r>
              <a:rPr lang="vi-VN" sz="2000" dirty="0">
                <a:solidFill>
                  <a:srgbClr val="FF0000"/>
                </a:solidFill>
              </a:rPr>
              <a:t>found at position</a:t>
            </a:r>
            <a:r>
              <a:rPr lang="vi-VN" sz="2000" dirty="0"/>
              <a:t>”&lt;&lt;i;</a:t>
            </a:r>
          </a:p>
          <a:p>
            <a:r>
              <a:rPr lang="vi-VN" sz="2000" dirty="0"/>
              <a:t>     flag = 1;	</a:t>
            </a:r>
            <a:r>
              <a:rPr lang="vi-VN" sz="2000" dirty="0">
                <a:solidFill>
                  <a:srgbClr val="00B050"/>
                </a:solidFill>
              </a:rPr>
              <a:t> // tìm thấy</a:t>
            </a:r>
          </a:p>
          <a:p>
            <a:r>
              <a:rPr lang="vi-VN" sz="2000" dirty="0">
                <a:solidFill>
                  <a:srgbClr val="00B0F0"/>
                </a:solidFill>
              </a:rPr>
              <a:t>     break</a:t>
            </a:r>
            <a:r>
              <a:rPr lang="vi-VN" sz="2000" dirty="0"/>
              <a:t>;</a:t>
            </a:r>
          </a:p>
          <a:p>
            <a:r>
              <a:rPr lang="vi-VN" sz="2000" dirty="0"/>
              <a:t>}</a:t>
            </a:r>
          </a:p>
          <a:p>
            <a:r>
              <a:rPr lang="vi-VN" sz="2000" dirty="0">
                <a:solidFill>
                  <a:srgbClr val="00B0F0"/>
                </a:solidFill>
              </a:rPr>
              <a:t>If</a:t>
            </a:r>
            <a:r>
              <a:rPr lang="vi-VN" sz="2000" dirty="0"/>
              <a:t> (flag == 0)</a:t>
            </a:r>
          </a:p>
          <a:p>
            <a:r>
              <a:rPr lang="vi-VN" sz="2000" dirty="0"/>
              <a:t>cout &lt;&lt; “</a:t>
            </a:r>
            <a:r>
              <a:rPr lang="vi-VN" sz="2000" dirty="0">
                <a:solidFill>
                  <a:srgbClr val="FF0000"/>
                </a:solidFill>
              </a:rPr>
              <a:t>not found</a:t>
            </a:r>
            <a:r>
              <a:rPr lang="vi-VN" sz="2000" dirty="0"/>
              <a:t>”;</a:t>
            </a:r>
          </a:p>
          <a:p>
            <a:r>
              <a:rPr lang="vi-VN" sz="2000" dirty="0"/>
              <a:t>}</a:t>
            </a:r>
            <a:endParaRPr lang="en-US" sz="2000" dirty="0"/>
          </a:p>
        </p:txBody>
      </p:sp>
    </p:spTree>
    <p:extLst>
      <p:ext uri="{BB962C8B-B14F-4D97-AF65-F5344CB8AC3E}">
        <p14:creationId xmlns:p14="http://schemas.microsoft.com/office/powerpoint/2010/main" val="4220151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6388D-4E79-A773-7FE5-76650A69BD3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9A1788-BFE8-21CB-5BC2-751A9CCE13FB}"/>
              </a:ext>
            </a:extLst>
          </p:cNvPr>
          <p:cNvSpPr>
            <a:spLocks noGrp="1"/>
          </p:cNvSpPr>
          <p:nvPr>
            <p:ph sz="half" idx="1"/>
          </p:nvPr>
        </p:nvSpPr>
        <p:spPr>
          <a:xfrm>
            <a:off x="1158240" y="1188720"/>
            <a:ext cx="9662159" cy="4874156"/>
          </a:xfrm>
          <a:noFill/>
        </p:spPr>
        <p:txBody>
          <a:bodyPr vert="horz" lIns="91440" tIns="45720" rIns="91440" bIns="45720" rtlCol="0" anchor="t">
            <a:noAutofit/>
          </a:bodyPr>
          <a:lstStyle/>
          <a:p>
            <a:r>
              <a:rPr lang="en-US" sz="2000" dirty="0">
                <a:solidFill>
                  <a:srgbClr val="00B0F0"/>
                </a:solidFill>
              </a:rPr>
              <a:t>int </a:t>
            </a:r>
            <a:r>
              <a:rPr lang="en-US" sz="2000" dirty="0" err="1"/>
              <a:t>lsearch</a:t>
            </a:r>
            <a:r>
              <a:rPr lang="en-US" sz="2000" dirty="0"/>
              <a:t>(</a:t>
            </a:r>
            <a:r>
              <a:rPr lang="en-US" sz="2000" dirty="0">
                <a:solidFill>
                  <a:srgbClr val="00B0F0"/>
                </a:solidFill>
              </a:rPr>
              <a:t>int</a:t>
            </a:r>
            <a:r>
              <a:rPr lang="en-US" sz="2000" dirty="0"/>
              <a:t> list[], </a:t>
            </a:r>
            <a:r>
              <a:rPr lang="en-US" sz="2000" dirty="0">
                <a:solidFill>
                  <a:srgbClr val="00B0F0"/>
                </a:solidFill>
              </a:rPr>
              <a:t>int</a:t>
            </a:r>
            <a:r>
              <a:rPr lang="en-US" sz="2000" dirty="0"/>
              <a:t> n, </a:t>
            </a:r>
            <a:r>
              <a:rPr lang="en-US" sz="2000" dirty="0">
                <a:solidFill>
                  <a:srgbClr val="00B0F0"/>
                </a:solidFill>
              </a:rPr>
              <a:t>int</a:t>
            </a:r>
            <a:r>
              <a:rPr lang="en-US" sz="2000" dirty="0"/>
              <a:t> key)</a:t>
            </a:r>
            <a:endParaRPr lang="vi-VN" sz="2000" dirty="0"/>
          </a:p>
          <a:p>
            <a:r>
              <a:rPr lang="en-US" sz="2000" dirty="0">
                <a:solidFill>
                  <a:srgbClr val="00B0F0"/>
                </a:solidFill>
              </a:rPr>
              <a:t>{</a:t>
            </a:r>
            <a:endParaRPr lang="vi-VN" sz="2000" dirty="0">
              <a:solidFill>
                <a:srgbClr val="00B0F0"/>
              </a:solidFill>
            </a:endParaRPr>
          </a:p>
          <a:p>
            <a:r>
              <a:rPr lang="vi-VN" sz="2000" dirty="0">
                <a:solidFill>
                  <a:srgbClr val="00B0F0"/>
                </a:solidFill>
              </a:rPr>
              <a:t>        </a:t>
            </a:r>
            <a:r>
              <a:rPr lang="en-US" sz="2000" dirty="0">
                <a:solidFill>
                  <a:srgbClr val="00B0F0"/>
                </a:solidFill>
              </a:rPr>
              <a:t> int </a:t>
            </a:r>
            <a:r>
              <a:rPr lang="en-US" sz="2000" dirty="0"/>
              <a:t>find= -1; </a:t>
            </a:r>
            <a:endParaRPr lang="vi-VN" sz="2000" dirty="0"/>
          </a:p>
          <a:p>
            <a:r>
              <a:rPr lang="vi-VN" sz="2000" dirty="0"/>
              <a:t>          </a:t>
            </a:r>
            <a:r>
              <a:rPr lang="en-US" sz="2000" dirty="0">
                <a:solidFill>
                  <a:srgbClr val="00B0F0"/>
                </a:solidFill>
              </a:rPr>
              <a:t>for</a:t>
            </a:r>
            <a:r>
              <a:rPr lang="en-US" sz="2000" dirty="0"/>
              <a:t>(</a:t>
            </a:r>
            <a:r>
              <a:rPr lang="en-US" sz="2000" dirty="0">
                <a:solidFill>
                  <a:srgbClr val="00B0F0"/>
                </a:solidFill>
              </a:rPr>
              <a:t>int</a:t>
            </a:r>
            <a:r>
              <a:rPr lang="en-US" sz="2000" dirty="0"/>
              <a:t> </a:t>
            </a:r>
            <a:r>
              <a:rPr lang="en-US" sz="2000" dirty="0" err="1"/>
              <a:t>i</a:t>
            </a:r>
            <a:r>
              <a:rPr lang="en-US" sz="2000" dirty="0"/>
              <a:t>=0; </a:t>
            </a:r>
            <a:r>
              <a:rPr lang="vi-VN" sz="2000" dirty="0"/>
              <a:t>i&lt;n; i++)</a:t>
            </a:r>
          </a:p>
          <a:p>
            <a:r>
              <a:rPr lang="vi-VN" sz="2000" dirty="0">
                <a:solidFill>
                  <a:srgbClr val="00B0F0"/>
                </a:solidFill>
              </a:rPr>
              <a:t>            if </a:t>
            </a:r>
            <a:r>
              <a:rPr lang="vi-VN" sz="2000" dirty="0"/>
              <a:t>(list [i] == key)</a:t>
            </a:r>
          </a:p>
          <a:p>
            <a:r>
              <a:rPr lang="vi-VN" sz="2000" dirty="0"/>
              <a:t>           </a:t>
            </a:r>
            <a:r>
              <a:rPr lang="vi-VN" sz="2000" dirty="0">
                <a:solidFill>
                  <a:srgbClr val="00B0F0"/>
                </a:solidFill>
              </a:rPr>
              <a:t> {</a:t>
            </a:r>
          </a:p>
          <a:p>
            <a:r>
              <a:rPr lang="vi-VN" sz="2000" dirty="0"/>
              <a:t>                  find = i;</a:t>
            </a:r>
          </a:p>
          <a:p>
            <a:r>
              <a:rPr lang="vi-VN" sz="2000" dirty="0"/>
              <a:t>                  </a:t>
            </a:r>
            <a:r>
              <a:rPr lang="vi-VN" sz="2000" dirty="0">
                <a:solidFill>
                  <a:srgbClr val="00B0F0"/>
                </a:solidFill>
              </a:rPr>
              <a:t>break;</a:t>
            </a:r>
          </a:p>
          <a:p>
            <a:r>
              <a:rPr lang="vi-VN" sz="2000" dirty="0">
                <a:solidFill>
                  <a:srgbClr val="00B0F0"/>
                </a:solidFill>
              </a:rPr>
              <a:t>             }</a:t>
            </a:r>
          </a:p>
          <a:p>
            <a:r>
              <a:rPr lang="vi-VN" sz="2000" dirty="0">
                <a:solidFill>
                  <a:srgbClr val="00B0F0"/>
                </a:solidFill>
              </a:rPr>
              <a:t>             return </a:t>
            </a:r>
            <a:r>
              <a:rPr lang="vi-VN" sz="2000" dirty="0"/>
              <a:t>find;</a:t>
            </a:r>
          </a:p>
          <a:p>
            <a:r>
              <a:rPr lang="vi-VN" sz="2000" dirty="0">
                <a:solidFill>
                  <a:srgbClr val="00B0F0"/>
                </a:solidFill>
              </a:rPr>
              <a:t>}</a:t>
            </a:r>
          </a:p>
        </p:txBody>
      </p:sp>
    </p:spTree>
    <p:extLst>
      <p:ext uri="{BB962C8B-B14F-4D97-AF65-F5344CB8AC3E}">
        <p14:creationId xmlns:p14="http://schemas.microsoft.com/office/powerpoint/2010/main" val="13034563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5968-70F7-0180-6448-3547E442EF4A}"/>
              </a:ext>
            </a:extLst>
          </p:cNvPr>
          <p:cNvSpPr>
            <a:spLocks noGrp="1"/>
          </p:cNvSpPr>
          <p:nvPr>
            <p:ph type="title"/>
          </p:nvPr>
        </p:nvSpPr>
        <p:spPr>
          <a:xfrm>
            <a:off x="838200" y="266219"/>
            <a:ext cx="10389243" cy="1424470"/>
          </a:xfrm>
          <a:noFill/>
        </p:spPr>
        <p:txBody>
          <a:bodyPr anchor="ctr">
            <a:noAutofit/>
          </a:bodyPr>
          <a:lstStyle/>
          <a:p>
            <a:r>
              <a:rPr lang="vi-VN" b="1" dirty="0"/>
              <a:t>Phân tích , đánh giá thuật toán</a:t>
            </a:r>
            <a:endParaRPr lang="en-US" b="1" dirty="0"/>
          </a:p>
        </p:txBody>
      </p:sp>
      <p:sp>
        <p:nvSpPr>
          <p:cNvPr id="8" name="Content Placeholder 7">
            <a:extLst>
              <a:ext uri="{FF2B5EF4-FFF2-40B4-BE49-F238E27FC236}">
                <a16:creationId xmlns:a16="http://schemas.microsoft.com/office/drawing/2014/main" id="{215CE58D-2739-522B-7C3A-6A7C985360C0}"/>
              </a:ext>
            </a:extLst>
          </p:cNvPr>
          <p:cNvSpPr>
            <a:spLocks noGrp="1"/>
          </p:cNvSpPr>
          <p:nvPr>
            <p:ph sz="half" idx="1"/>
          </p:nvPr>
        </p:nvSpPr>
        <p:spPr>
          <a:xfrm>
            <a:off x="706120" y="5162605"/>
            <a:ext cx="8315960" cy="1177235"/>
          </a:xfrm>
          <a:noFill/>
        </p:spPr>
        <p:txBody>
          <a:bodyPr vert="horz" lIns="91440" tIns="45720" rIns="91440" bIns="45720" rtlCol="0" anchor="t">
            <a:normAutofit/>
          </a:bodyPr>
          <a:lstStyle/>
          <a:p>
            <a:r>
              <a:rPr lang="vi-VN" sz="3000" dirty="0">
                <a:latin typeface="Times New Roman" panose="02020603050405020304" pitchFamily="18" charset="0"/>
                <a:cs typeface="Times New Roman" panose="02020603050405020304" pitchFamily="18" charset="0"/>
              </a:rPr>
              <a:t>Vậy giải thuật tìm tuyến tính có độ phức tạp tính toán cấp n : T(n) = O(n)</a:t>
            </a:r>
            <a:endParaRPr lang="en-US" sz="3000" dirty="0">
              <a:latin typeface="Times New Roman" panose="02020603050405020304" pitchFamily="18" charset="0"/>
              <a:cs typeface="Times New Roman" panose="02020603050405020304" pitchFamily="18" charset="0"/>
            </a:endParaRPr>
          </a:p>
        </p:txBody>
      </p:sp>
      <p:graphicFrame>
        <p:nvGraphicFramePr>
          <p:cNvPr id="3" name="Table Placeholder 2">
            <a:extLst>
              <a:ext uri="{FF2B5EF4-FFF2-40B4-BE49-F238E27FC236}">
                <a16:creationId xmlns:a16="http://schemas.microsoft.com/office/drawing/2014/main" id="{F01CF5D3-D3B1-1944-CFDF-D8EE11DE42AA}"/>
              </a:ext>
            </a:extLst>
          </p:cNvPr>
          <p:cNvGraphicFramePr>
            <a:graphicFrameLocks noGrp="1"/>
          </p:cNvGraphicFramePr>
          <p:nvPr>
            <p:ph type="tbl" sz="quarter" idx="13"/>
            <p:extLst>
              <p:ext uri="{D42A27DB-BD31-4B8C-83A1-F6EECF244321}">
                <p14:modId xmlns:p14="http://schemas.microsoft.com/office/powerpoint/2010/main" val="2439337869"/>
              </p:ext>
            </p:extLst>
          </p:nvPr>
        </p:nvGraphicFramePr>
        <p:xfrm>
          <a:off x="487680" y="2011680"/>
          <a:ext cx="11582400" cy="2912904"/>
        </p:xfrm>
        <a:graphic>
          <a:graphicData uri="http://schemas.openxmlformats.org/drawingml/2006/table">
            <a:tbl>
              <a:tblPr firstRow="1" bandRow="1">
                <a:tableStyleId>{912C8C85-51F0-491E-9774-3900AFEF0FD7}</a:tableStyleId>
              </a:tblPr>
              <a:tblGrid>
                <a:gridCol w="2519680">
                  <a:extLst>
                    <a:ext uri="{9D8B030D-6E8A-4147-A177-3AD203B41FA5}">
                      <a16:colId xmlns:a16="http://schemas.microsoft.com/office/drawing/2014/main" val="127040821"/>
                    </a:ext>
                  </a:extLst>
                </a:gridCol>
                <a:gridCol w="2733040">
                  <a:extLst>
                    <a:ext uri="{9D8B030D-6E8A-4147-A177-3AD203B41FA5}">
                      <a16:colId xmlns:a16="http://schemas.microsoft.com/office/drawing/2014/main" val="149845700"/>
                    </a:ext>
                  </a:extLst>
                </a:gridCol>
                <a:gridCol w="6329680">
                  <a:extLst>
                    <a:ext uri="{9D8B030D-6E8A-4147-A177-3AD203B41FA5}">
                      <a16:colId xmlns:a16="http://schemas.microsoft.com/office/drawing/2014/main" val="3119692462"/>
                    </a:ext>
                  </a:extLst>
                </a:gridCol>
              </a:tblGrid>
              <a:tr h="728226">
                <a:tc>
                  <a:txBody>
                    <a:bodyPr/>
                    <a:lstStyle/>
                    <a:p>
                      <a:pPr algn="ctr"/>
                      <a:r>
                        <a:rPr lang="vi-VN" sz="2000" b="1" dirty="0">
                          <a:latin typeface="+mn-lt"/>
                        </a:rPr>
                        <a:t>Thường  hợp</a:t>
                      </a:r>
                      <a:endParaRPr lang="en-US" sz="2000" b="1" i="0" dirty="0">
                        <a:latin typeface="+mn-lt"/>
                      </a:endParaRPr>
                    </a:p>
                  </a:txBody>
                  <a:tcPr anchor="ctr"/>
                </a:tc>
                <a:tc>
                  <a:txBody>
                    <a:bodyPr/>
                    <a:lstStyle/>
                    <a:p>
                      <a:pPr algn="ctr"/>
                      <a:r>
                        <a:rPr lang="vi-VN" sz="2000" b="1" dirty="0">
                          <a:latin typeface="+mn-lt"/>
                        </a:rPr>
                        <a:t>Số lần so sánh</a:t>
                      </a:r>
                      <a:endParaRPr lang="en-US" sz="2000" b="1" i="0" dirty="0">
                        <a:latin typeface="+mn-lt"/>
                      </a:endParaRPr>
                    </a:p>
                  </a:txBody>
                  <a:tcPr anchor="ctr"/>
                </a:tc>
                <a:tc>
                  <a:txBody>
                    <a:bodyPr/>
                    <a:lstStyle/>
                    <a:p>
                      <a:pPr algn="ctr"/>
                      <a:r>
                        <a:rPr lang="vi-VN" sz="2000" b="1" dirty="0">
                          <a:latin typeface="+mn-lt"/>
                        </a:rPr>
                        <a:t>Giải thích</a:t>
                      </a:r>
                      <a:endParaRPr lang="en-US" sz="2000" b="1" i="0" dirty="0">
                        <a:latin typeface="+mn-lt"/>
                      </a:endParaRPr>
                    </a:p>
                  </a:txBody>
                  <a:tcPr anchor="ctr"/>
                </a:tc>
                <a:extLst>
                  <a:ext uri="{0D108BD9-81ED-4DB2-BD59-A6C34878D82A}">
                    <a16:rowId xmlns:a16="http://schemas.microsoft.com/office/drawing/2014/main" val="3298013591"/>
                  </a:ext>
                </a:extLst>
              </a:tr>
              <a:tr h="728226">
                <a:tc>
                  <a:txBody>
                    <a:bodyPr/>
                    <a:lstStyle/>
                    <a:p>
                      <a:pPr algn="ctr"/>
                      <a:r>
                        <a:rPr lang="vi-VN" sz="2000" b="0" dirty="0">
                          <a:latin typeface="+mn-lt"/>
                        </a:rPr>
                        <a:t>Tốt nhất</a:t>
                      </a:r>
                      <a:endParaRPr lang="en-US" sz="2000" b="0" i="0" dirty="0">
                        <a:latin typeface="+mn-lt"/>
                      </a:endParaRPr>
                    </a:p>
                  </a:txBody>
                  <a:tcPr anchor="ctr"/>
                </a:tc>
                <a:tc>
                  <a:txBody>
                    <a:bodyPr/>
                    <a:lstStyle/>
                    <a:p>
                      <a:pPr algn="ctr"/>
                      <a:r>
                        <a:rPr lang="vi-VN" sz="2000" b="0" dirty="0">
                          <a:latin typeface="+mn-lt"/>
                        </a:rPr>
                        <a:t>1</a:t>
                      </a:r>
                      <a:endParaRPr lang="en-US" sz="2000" b="0" i="0" dirty="0">
                        <a:latin typeface="+mn-lt"/>
                      </a:endParaRPr>
                    </a:p>
                  </a:txBody>
                  <a:tcPr anchor="ctr"/>
                </a:tc>
                <a:tc>
                  <a:txBody>
                    <a:bodyPr/>
                    <a:lstStyle/>
                    <a:p>
                      <a:pPr algn="ctr"/>
                      <a:r>
                        <a:rPr lang="vi-VN" sz="2000" b="0" dirty="0">
                          <a:latin typeface="+mn-lt"/>
                        </a:rPr>
                        <a:t>Phần tử đầu tiên có giá trị X</a:t>
                      </a:r>
                      <a:endParaRPr lang="en-US" sz="2000" b="0" i="0" dirty="0">
                        <a:latin typeface="+mn-lt"/>
                      </a:endParaRPr>
                    </a:p>
                  </a:txBody>
                  <a:tcPr anchor="ctr"/>
                </a:tc>
                <a:extLst>
                  <a:ext uri="{0D108BD9-81ED-4DB2-BD59-A6C34878D82A}">
                    <a16:rowId xmlns:a16="http://schemas.microsoft.com/office/drawing/2014/main" val="3873867931"/>
                  </a:ext>
                </a:extLst>
              </a:tr>
              <a:tr h="728226">
                <a:tc>
                  <a:txBody>
                    <a:bodyPr/>
                    <a:lstStyle/>
                    <a:p>
                      <a:pPr algn="ctr"/>
                      <a:r>
                        <a:rPr lang="vi-VN" sz="2000" b="0" dirty="0">
                          <a:latin typeface="+mn-lt"/>
                        </a:rPr>
                        <a:t>Xấu nhất</a:t>
                      </a:r>
                      <a:endParaRPr lang="en-US" sz="2000" b="0" i="0" dirty="0">
                        <a:latin typeface="+mn-lt"/>
                      </a:endParaRPr>
                    </a:p>
                  </a:txBody>
                  <a:tcPr anchor="ctr"/>
                </a:tc>
                <a:tc>
                  <a:txBody>
                    <a:bodyPr/>
                    <a:lstStyle/>
                    <a:p>
                      <a:pPr algn="ctr"/>
                      <a:r>
                        <a:rPr lang="vi-VN" sz="2000" b="0" dirty="0">
                          <a:latin typeface="+mn-lt"/>
                        </a:rPr>
                        <a:t>n + 1</a:t>
                      </a:r>
                      <a:endParaRPr lang="en-US" sz="2000" b="0" i="0" dirty="0">
                        <a:latin typeface="+mn-lt"/>
                      </a:endParaRPr>
                    </a:p>
                  </a:txBody>
                  <a:tcPr anchor="ctr"/>
                </a:tc>
                <a:tc>
                  <a:txBody>
                    <a:bodyPr/>
                    <a:lstStyle/>
                    <a:p>
                      <a:pPr algn="ctr"/>
                      <a:r>
                        <a:rPr lang="vi-VN" sz="2000" b="0" dirty="0">
                          <a:latin typeface="+mn-lt"/>
                        </a:rPr>
                        <a:t>Không có x trong mảng</a:t>
                      </a:r>
                      <a:endParaRPr lang="en-US" sz="2000" b="0" i="0" dirty="0">
                        <a:latin typeface="+mn-lt"/>
                      </a:endParaRPr>
                    </a:p>
                  </a:txBody>
                  <a:tcPr anchor="ctr"/>
                </a:tc>
                <a:extLst>
                  <a:ext uri="{0D108BD9-81ED-4DB2-BD59-A6C34878D82A}">
                    <a16:rowId xmlns:a16="http://schemas.microsoft.com/office/drawing/2014/main" val="85209771"/>
                  </a:ext>
                </a:extLst>
              </a:tr>
              <a:tr h="728226">
                <a:tc>
                  <a:txBody>
                    <a:bodyPr/>
                    <a:lstStyle/>
                    <a:p>
                      <a:pPr algn="ctr"/>
                      <a:r>
                        <a:rPr lang="vi-VN" sz="2000" b="0" dirty="0">
                          <a:latin typeface="+mn-lt"/>
                        </a:rPr>
                        <a:t>Trung bình</a:t>
                      </a:r>
                      <a:endParaRPr lang="en-US" sz="2000" b="0" i="0" dirty="0">
                        <a:latin typeface="+mn-lt"/>
                      </a:endParaRPr>
                    </a:p>
                  </a:txBody>
                  <a:tcPr anchor="ctr"/>
                </a:tc>
                <a:tc>
                  <a:txBody>
                    <a:bodyPr/>
                    <a:lstStyle/>
                    <a:p>
                      <a:pPr algn="ctr"/>
                      <a:r>
                        <a:rPr lang="vi-VN" sz="2000" b="0" i="0" dirty="0">
                          <a:latin typeface="+mn-lt"/>
                        </a:rPr>
                        <a:t>( n + 1 ) / 2</a:t>
                      </a:r>
                      <a:endParaRPr lang="en-US" sz="2000" b="0" i="0" dirty="0">
                        <a:latin typeface="+mn-lt"/>
                      </a:endParaRPr>
                    </a:p>
                  </a:txBody>
                  <a:tcPr anchor="ctr"/>
                </a:tc>
                <a:tc>
                  <a:txBody>
                    <a:bodyPr/>
                    <a:lstStyle/>
                    <a:p>
                      <a:pPr algn="ctr"/>
                      <a:r>
                        <a:rPr lang="vi-VN" sz="2000" b="0" dirty="0">
                          <a:latin typeface="+mn-lt"/>
                        </a:rPr>
                        <a:t>Giả sử xác xuất các phần tử trong mảng nhận giá trị x là như nhau</a:t>
                      </a:r>
                      <a:endParaRPr lang="en-US" sz="2000" b="0" i="0" dirty="0">
                        <a:latin typeface="+mn-lt"/>
                      </a:endParaRPr>
                    </a:p>
                  </a:txBody>
                  <a:tcPr anchor="ctr"/>
                </a:tc>
                <a:extLst>
                  <a:ext uri="{0D108BD9-81ED-4DB2-BD59-A6C34878D82A}">
                    <a16:rowId xmlns:a16="http://schemas.microsoft.com/office/drawing/2014/main" val="4061031278"/>
                  </a:ext>
                </a:extLst>
              </a:tr>
            </a:tbl>
          </a:graphicData>
        </a:graphic>
      </p:graphicFrame>
    </p:spTree>
    <p:extLst>
      <p:ext uri="{BB962C8B-B14F-4D97-AF65-F5344CB8AC3E}">
        <p14:creationId xmlns:p14="http://schemas.microsoft.com/office/powerpoint/2010/main" val="19566979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ECB6D-C3D7-33F1-84F2-FC088E1FEC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FC3106-B88C-716D-1709-8E0CD059D367}"/>
              </a:ext>
            </a:extLst>
          </p:cNvPr>
          <p:cNvSpPr>
            <a:spLocks noGrp="1"/>
          </p:cNvSpPr>
          <p:nvPr>
            <p:ph type="title"/>
          </p:nvPr>
        </p:nvSpPr>
        <p:spPr>
          <a:noFill/>
        </p:spPr>
        <p:txBody>
          <a:bodyPr anchor="ctr">
            <a:noAutofit/>
          </a:bodyPr>
          <a:lstStyle/>
          <a:p>
            <a:r>
              <a:rPr lang="vi-VN" b="1" dirty="0">
                <a:latin typeface="Times New Roman" panose="02020603050405020304" pitchFamily="18" charset="0"/>
                <a:cs typeface="Times New Roman" panose="02020603050405020304" pitchFamily="18" charset="0"/>
              </a:rPr>
              <a:t>Đánh giá thuật toán</a:t>
            </a:r>
            <a:endParaRPr lang="en-US"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039B4003-8E5B-A520-0B98-2654E937A3FE}"/>
                  </a:ext>
                </a:extLst>
              </p:cNvPr>
              <p:cNvSpPr>
                <a:spLocks noGrp="1"/>
              </p:cNvSpPr>
              <p:nvPr>
                <p:ph sz="half" idx="4294967295"/>
              </p:nvPr>
            </p:nvSpPr>
            <p:spPr>
              <a:xfrm>
                <a:off x="762000" y="1459192"/>
                <a:ext cx="9906000" cy="4357370"/>
              </a:xfrm>
              <a:noFill/>
            </p:spPr>
            <p:txBody>
              <a:bodyPr vert="horz" lIns="91440" tIns="45720" rIns="91440" bIns="45720" rtlCol="0" anchor="t">
                <a:noAutofit/>
              </a:bodyPr>
              <a:lstStyle/>
              <a:p>
                <a:r>
                  <a:rPr lang="vi-VN" sz="3000" dirty="0">
                    <a:latin typeface="Times New Roman" panose="02020603050405020304" pitchFamily="18" charset="0"/>
                    <a:cs typeface="Times New Roman" panose="02020603050405020304" pitchFamily="18" charset="0"/>
                  </a:rPr>
                  <a:t>Mặc dù giải thuật Tìm kiếm tuần tự rất đơn giản và dễ cài đặt, tuy nhiên nhược điểm của nó nằm ở độ phức tạp. </a:t>
                </a:r>
              </a:p>
              <a:p>
                <a:r>
                  <a:rPr lang="vi-VN" sz="3000" dirty="0">
                    <a:latin typeface="Times New Roman" panose="02020603050405020304" pitchFamily="18" charset="0"/>
                    <a:cs typeface="Times New Roman" panose="02020603050405020304" pitchFamily="18" charset="0"/>
                  </a:rPr>
                  <a:t>Trong trường hợp tốt nhất, giải thuật có độ phức tạp là </a:t>
                </a:r>
                <a14:m>
                  <m:oMath xmlns:m="http://schemas.openxmlformats.org/officeDocument/2006/math">
                    <m:r>
                      <a:rPr lang="vi-VN" sz="3000" i="1">
                        <a:latin typeface="Cambria Math" panose="02040503050406030204" pitchFamily="18" charset="0"/>
                      </a:rPr>
                      <m:t>𝑂</m:t>
                    </m:r>
                    <m:d>
                      <m:dPr>
                        <m:ctrlPr>
                          <a:rPr lang="ar-AE" sz="3000" i="1">
                            <a:latin typeface="Cambria Math" panose="02040503050406030204" pitchFamily="18" charset="0"/>
                          </a:rPr>
                        </m:ctrlPr>
                      </m:dPr>
                      <m:e>
                        <m:r>
                          <a:rPr lang="ar-AE" sz="3000">
                            <a:latin typeface="Cambria Math" panose="02040503050406030204" pitchFamily="18" charset="0"/>
                          </a:rPr>
                          <m:t>1</m:t>
                        </m:r>
                      </m:e>
                    </m:d>
                    <m:r>
                      <a:rPr lang="ar-AE" sz="3000">
                        <a:latin typeface="Cambria Math" panose="02040503050406030204" pitchFamily="18" charset="0"/>
                      </a:rPr>
                      <m:t>,</m:t>
                    </m:r>
                  </m:oMath>
                </a14:m>
                <a:r>
                  <a:rPr lang="ar-AE" sz="3000" dirty="0">
                    <a:latin typeface="Times New Roman" panose="02020603050405020304" pitchFamily="18" charset="0"/>
                    <a:cs typeface="Times New Roman" panose="02020603050405020304" pitchFamily="18" charset="0"/>
                  </a:rPr>
                  <a:t> </a:t>
                </a:r>
                <a:r>
                  <a:rPr lang="vi-VN" sz="3000" dirty="0">
                    <a:latin typeface="Times New Roman" panose="02020603050405020304" pitchFamily="18" charset="0"/>
                    <a:cs typeface="Times New Roman" panose="02020603050405020304" pitchFamily="18" charset="0"/>
                  </a:rPr>
                  <a:t>nhưng trong trường hợp xấu nhất lên tới </a:t>
                </a:r>
                <a14:m>
                  <m:oMath xmlns:m="http://schemas.openxmlformats.org/officeDocument/2006/math">
                    <m:r>
                      <a:rPr lang="vi-VN" sz="3000" i="1">
                        <a:latin typeface="Cambria Math" panose="02040503050406030204" pitchFamily="18" charset="0"/>
                      </a:rPr>
                      <m:t>𝑂</m:t>
                    </m:r>
                    <m:d>
                      <m:dPr>
                        <m:ctrlPr>
                          <a:rPr lang="ar-AE" sz="3000" i="1">
                            <a:latin typeface="Cambria Math" panose="02040503050406030204" pitchFamily="18" charset="0"/>
                          </a:rPr>
                        </m:ctrlPr>
                      </m:dPr>
                      <m:e>
                        <m:r>
                          <a:rPr lang="ar-AE" sz="3000" i="1">
                            <a:latin typeface="Cambria Math" panose="02040503050406030204" pitchFamily="18" charset="0"/>
                          </a:rPr>
                          <m:t>𝑛</m:t>
                        </m:r>
                      </m:e>
                    </m:d>
                  </m:oMath>
                </a14:m>
                <a:r>
                  <a:rPr lang="ar-AE" sz="3000" dirty="0">
                    <a:latin typeface="Times New Roman" panose="02020603050405020304" pitchFamily="18" charset="0"/>
                    <a:cs typeface="Times New Roman" panose="02020603050405020304" pitchFamily="18" charset="0"/>
                  </a:rPr>
                  <a:t>. </a:t>
                </a:r>
                <a:endParaRPr lang="vi-VN" sz="3000" dirty="0">
                  <a:latin typeface="Times New Roman" panose="02020603050405020304" pitchFamily="18" charset="0"/>
                  <a:cs typeface="Times New Roman" panose="02020603050405020304" pitchFamily="18" charset="0"/>
                </a:endParaRPr>
              </a:p>
              <a:p>
                <a:r>
                  <a:rPr lang="vi-VN" sz="3000" dirty="0">
                    <a:latin typeface="Times New Roman" panose="02020603050405020304" pitchFamily="18" charset="0"/>
                    <a:cs typeface="Times New Roman" panose="02020603050405020304" pitchFamily="18" charset="0"/>
                  </a:rPr>
                  <a:t>Vì vậy độ phức tạp tổng quát của giải thuật là </a:t>
                </a:r>
                <a14:m>
                  <m:oMath xmlns:m="http://schemas.openxmlformats.org/officeDocument/2006/math">
                    <m:r>
                      <a:rPr lang="vi-VN" sz="3000" i="1">
                        <a:latin typeface="Cambria Math" panose="02040503050406030204" pitchFamily="18" charset="0"/>
                      </a:rPr>
                      <m:t>𝑂</m:t>
                    </m:r>
                    <m:d>
                      <m:dPr>
                        <m:ctrlPr>
                          <a:rPr lang="ar-AE" sz="3000" i="1">
                            <a:latin typeface="Cambria Math" panose="02040503050406030204" pitchFamily="18" charset="0"/>
                          </a:rPr>
                        </m:ctrlPr>
                      </m:dPr>
                      <m:e>
                        <m:r>
                          <a:rPr lang="ar-AE" sz="3000" i="1">
                            <a:latin typeface="Cambria Math" panose="02040503050406030204" pitchFamily="18" charset="0"/>
                          </a:rPr>
                          <m:t>𝑛</m:t>
                        </m:r>
                      </m:e>
                    </m:d>
                    <m:r>
                      <a:rPr lang="ar-AE" sz="3000">
                        <a:latin typeface="Cambria Math" panose="02040503050406030204" pitchFamily="18" charset="0"/>
                      </a:rPr>
                      <m:t>,</m:t>
                    </m:r>
                  </m:oMath>
                </a14:m>
                <a:r>
                  <a:rPr lang="ar-AE" sz="3000" dirty="0">
                    <a:latin typeface="Times New Roman" panose="02020603050405020304" pitchFamily="18" charset="0"/>
                    <a:cs typeface="Times New Roman" panose="02020603050405020304" pitchFamily="18" charset="0"/>
                  </a:rPr>
                  <a:t> </a:t>
                </a:r>
                <a:r>
                  <a:rPr lang="vi-VN" sz="3000" dirty="0">
                    <a:latin typeface="Times New Roman" panose="02020603050405020304" pitchFamily="18" charset="0"/>
                    <a:cs typeface="Times New Roman" panose="02020603050405020304" pitchFamily="18" charset="0"/>
                  </a:rPr>
                  <a:t>chỉ phù hợp với những bài toán có kích thước không gian tìm kiếm nhỏ.</a:t>
                </a:r>
                <a:endParaRPr lang="en-US" sz="3000" dirty="0">
                  <a:latin typeface="Times New Roman" panose="02020603050405020304" pitchFamily="18" charset="0"/>
                  <a:cs typeface="Times New Roman" panose="02020603050405020304" pitchFamily="18" charset="0"/>
                </a:endParaRPr>
              </a:p>
            </p:txBody>
          </p:sp>
        </mc:Choice>
        <mc:Fallback xmlns="">
          <p:sp>
            <p:nvSpPr>
              <p:cNvPr id="8" name="Content Placeholder 7">
                <a:extLst>
                  <a:ext uri="{FF2B5EF4-FFF2-40B4-BE49-F238E27FC236}">
                    <a16:creationId xmlns:a16="http://schemas.microsoft.com/office/drawing/2014/main" id="{039B4003-8E5B-A520-0B98-2654E937A3FE}"/>
                  </a:ext>
                </a:extLst>
              </p:cNvPr>
              <p:cNvSpPr>
                <a:spLocks noGrp="1" noRot="1" noChangeAspect="1" noMove="1" noResize="1" noEditPoints="1" noAdjustHandles="1" noChangeArrowheads="1" noChangeShapeType="1" noTextEdit="1"/>
              </p:cNvSpPr>
              <p:nvPr>
                <p:ph sz="half" idx="4294967295"/>
              </p:nvPr>
            </p:nvSpPr>
            <p:spPr>
              <a:xfrm>
                <a:off x="762000" y="1459192"/>
                <a:ext cx="9906000" cy="4357370"/>
              </a:xfrm>
              <a:blipFill>
                <a:blip r:embed="rId2"/>
                <a:stretch>
                  <a:fillRect l="-1231" t="-2797" r="-2092"/>
                </a:stretch>
              </a:blipFill>
            </p:spPr>
            <p:txBody>
              <a:bodyPr/>
              <a:lstStyle/>
              <a:p>
                <a:r>
                  <a:rPr lang="en-US">
                    <a:noFill/>
                  </a:rPr>
                  <a:t> </a:t>
                </a:r>
              </a:p>
            </p:txBody>
          </p:sp>
        </mc:Fallback>
      </mc:AlternateContent>
    </p:spTree>
    <p:extLst>
      <p:ext uri="{BB962C8B-B14F-4D97-AF65-F5344CB8AC3E}">
        <p14:creationId xmlns:p14="http://schemas.microsoft.com/office/powerpoint/2010/main" val="10691337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842265-4FF9-1B44-FEB5-821C943C6086}"/>
              </a:ext>
            </a:extLst>
          </p:cNvPr>
          <p:cNvSpPr>
            <a:spLocks noGrp="1"/>
          </p:cNvSpPr>
          <p:nvPr>
            <p:ph type="title"/>
          </p:nvPr>
        </p:nvSpPr>
        <p:spPr>
          <a:xfrm>
            <a:off x="1087120" y="1950720"/>
            <a:ext cx="5588000" cy="2143760"/>
          </a:xfrm>
        </p:spPr>
        <p:txBody>
          <a:bodyPr/>
          <a:lstStyle/>
          <a:p>
            <a:pPr algn="ctr"/>
            <a:r>
              <a:rPr lang="en-US" sz="4400" b="1" dirty="0"/>
              <a:t>Tìm </a:t>
            </a:r>
            <a:r>
              <a:rPr lang="en-US" sz="4400" b="1" dirty="0" err="1"/>
              <a:t>kiếm</a:t>
            </a:r>
            <a:r>
              <a:rPr lang="en-US" sz="4400" b="1" dirty="0"/>
              <a:t> </a:t>
            </a:r>
            <a:r>
              <a:rPr lang="en-US" sz="4400" b="1" dirty="0" err="1"/>
              <a:t>nhị</a:t>
            </a:r>
            <a:r>
              <a:rPr lang="en-US" sz="4400" b="1" dirty="0"/>
              <a:t> </a:t>
            </a:r>
            <a:r>
              <a:rPr lang="en-US" sz="4400" b="1" dirty="0" err="1"/>
              <a:t>phân</a:t>
            </a:r>
            <a:r>
              <a:rPr lang="en-US" sz="4400" b="1" dirty="0"/>
              <a:t> (Binary Search</a:t>
            </a:r>
            <a:r>
              <a:rPr lang="en-US" b="1" dirty="0"/>
              <a:t>)</a:t>
            </a:r>
            <a:endParaRPr lang="vi-VN" b="1" dirty="0"/>
          </a:p>
        </p:txBody>
      </p:sp>
    </p:spTree>
    <p:extLst>
      <p:ext uri="{BB962C8B-B14F-4D97-AF65-F5344CB8AC3E}">
        <p14:creationId xmlns:p14="http://schemas.microsoft.com/office/powerpoint/2010/main" val="20322680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AD98E-38CF-093C-71D0-A029F6BD07B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12C21E-194D-0CFF-8D35-3B3001888C2E}"/>
              </a:ext>
            </a:extLst>
          </p:cNvPr>
          <p:cNvSpPr>
            <a:spLocks noGrp="1"/>
          </p:cNvSpPr>
          <p:nvPr>
            <p:ph sz="half" idx="14"/>
          </p:nvPr>
        </p:nvSpPr>
        <p:spPr>
          <a:xfrm>
            <a:off x="1214699" y="3429000"/>
            <a:ext cx="9041241" cy="2050779"/>
          </a:xfrm>
        </p:spPr>
        <p:txBody>
          <a:bodyPr/>
          <a:lstStyle/>
          <a:p>
            <a:r>
              <a:rPr lang="en-US" sz="2500" b="1" dirty="0" err="1">
                <a:latin typeface="Times New Roman" panose="02020603050405020304" pitchFamily="18" charset="0"/>
                <a:cs typeface="Times New Roman" panose="02020603050405020304" pitchFamily="18" charset="0"/>
              </a:rPr>
              <a:t>Đặc</a:t>
            </a: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điểm</a:t>
            </a:r>
            <a:endParaRPr lang="en-US" sz="2500" dirty="0">
              <a:latin typeface="Times New Roman" panose="02020603050405020304" pitchFamily="18" charset="0"/>
              <a:cs typeface="Times New Roman" panose="02020603050405020304" pitchFamily="18" charset="0"/>
            </a:endParaRPr>
          </a:p>
          <a:p>
            <a:pPr lvl="0"/>
            <a:r>
              <a:rPr lang="en-US" sz="2000" dirty="0" err="1">
                <a:latin typeface="Times New Roman" panose="02020603050405020304" pitchFamily="18" charset="0"/>
                <a:cs typeface="Times New Roman" panose="02020603050405020304" pitchFamily="18" charset="0"/>
              </a:rPr>
              <a:t>Yêu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cầu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dữ</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liệu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phải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được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sắp</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xếp</a:t>
            </a:r>
            <a:endParaRPr lang="en-US" sz="2000" dirty="0">
              <a:latin typeface="Times New Roman" panose="02020603050405020304" pitchFamily="18" charset="0"/>
              <a:cs typeface="Times New Roman" panose="02020603050405020304" pitchFamily="18" charset="0"/>
            </a:endParaRPr>
          </a:p>
          <a:p>
            <a:pPr lvl="0"/>
            <a:r>
              <a:rPr lang="en-US" sz="2000" dirty="0" err="1">
                <a:latin typeface="Times New Roman" panose="02020603050405020304" pitchFamily="18" charset="0"/>
                <a:cs typeface="Times New Roman" panose="02020603050405020304" pitchFamily="18" charset="0"/>
              </a:rPr>
              <a:t>Độ</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phức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tạp</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thời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gian</a:t>
            </a:r>
            <a:r>
              <a:rPr lang="en-US" sz="2000" dirty="0">
                <a:latin typeface="Times New Roman" panose="02020603050405020304" pitchFamily="18" charset="0"/>
                <a:cs typeface="Times New Roman" panose="02020603050405020304" pitchFamily="18" charset="0"/>
              </a:rPr>
              <a:t>: O(log n)</a:t>
            </a:r>
          </a:p>
          <a:p>
            <a:pPr lvl="0"/>
            <a:r>
              <a:rPr lang="en-US" sz="2000" dirty="0">
                <a:latin typeface="Times New Roman" panose="02020603050405020304" pitchFamily="18" charset="0"/>
                <a:cs typeface="Times New Roman" panose="02020603050405020304" pitchFamily="18" charset="0"/>
              </a:rPr>
              <a:t>Hiệu </a:t>
            </a:r>
            <a:r>
              <a:rPr lang="en-US" sz="2000" dirty="0" err="1">
                <a:latin typeface="Times New Roman" panose="02020603050405020304" pitchFamily="18" charset="0"/>
                <a:cs typeface="Times New Roman" panose="02020603050405020304" pitchFamily="18" charset="0"/>
              </a:rPr>
              <a:t>quả</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cao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với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danh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sách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lớn</a:t>
            </a:r>
            <a:endParaRPr lang="en-US" sz="2000" dirty="0">
              <a:latin typeface="Times New Roman" panose="02020603050405020304" pitchFamily="18" charset="0"/>
              <a:cs typeface="Times New Roman" panose="02020603050405020304" pitchFamily="18" charset="0"/>
            </a:endParaRPr>
          </a:p>
        </p:txBody>
      </p:sp>
      <p:sp>
        <p:nvSpPr>
          <p:cNvPr id="3" name="Title 3">
            <a:extLst>
              <a:ext uri="{FF2B5EF4-FFF2-40B4-BE49-F238E27FC236}">
                <a16:creationId xmlns:a16="http://schemas.microsoft.com/office/drawing/2014/main" id="{3C9C2D92-8227-D64E-C74F-5883FD3FBEB7}"/>
              </a:ext>
            </a:extLst>
          </p:cNvPr>
          <p:cNvSpPr txBox="1">
            <a:spLocks/>
          </p:cNvSpPr>
          <p:nvPr/>
        </p:nvSpPr>
        <p:spPr>
          <a:xfrm>
            <a:off x="930219" y="919393"/>
            <a:ext cx="10331561" cy="529470"/>
          </a:xfrm>
          <a:prstGeom prst="rect">
            <a:avLst/>
          </a:prstGeom>
        </p:spPr>
        <p:txBody>
          <a:bodyPr vert="horz" lIns="91440" tIns="45720" rIns="91440" bIns="45720" rtlCol="0" anchor="b" anchorCtr="0">
            <a:no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en-US" sz="3000" b="1" dirty="0">
                <a:latin typeface="Times New Roman" panose="02020603050405020304" pitchFamily="18" charset="0"/>
                <a:cs typeface="Times New Roman" panose="02020603050405020304" pitchFamily="18" charset="0"/>
              </a:rPr>
              <a:t>3. </a:t>
            </a:r>
            <a:r>
              <a:rPr lang="en-US" sz="3000" b="1" dirty="0" err="1">
                <a:latin typeface="Times New Roman" panose="02020603050405020304" pitchFamily="18" charset="0"/>
                <a:cs typeface="Times New Roman" panose="02020603050405020304" pitchFamily="18" charset="0"/>
              </a:rPr>
              <a:t>Giới</a:t>
            </a:r>
            <a:r>
              <a:rPr lang="en-US" sz="3000" b="1" dirty="0">
                <a:latin typeface="Times New Roman" panose="02020603050405020304" pitchFamily="18" charset="0"/>
                <a:cs typeface="Times New Roman" panose="02020603050405020304" pitchFamily="18" charset="0"/>
              </a:rPr>
              <a:t> </a:t>
            </a:r>
            <a:r>
              <a:rPr lang="en-US" sz="3000" b="1" dirty="0" err="1">
                <a:latin typeface="Times New Roman" panose="02020603050405020304" pitchFamily="18" charset="0"/>
                <a:cs typeface="Times New Roman" panose="02020603050405020304" pitchFamily="18" charset="0"/>
              </a:rPr>
              <a:t>thiệu</a:t>
            </a:r>
            <a:r>
              <a:rPr lang="en-US" sz="3000" b="1" dirty="0">
                <a:latin typeface="Times New Roman" panose="02020603050405020304" pitchFamily="18" charset="0"/>
                <a:cs typeface="Times New Roman" panose="02020603050405020304" pitchFamily="18" charset="0"/>
              </a:rPr>
              <a:t> </a:t>
            </a:r>
            <a:r>
              <a:rPr lang="en-US" sz="3000" b="1" dirty="0" err="1">
                <a:latin typeface="Times New Roman" panose="02020603050405020304" pitchFamily="18" charset="0"/>
                <a:cs typeface="Times New Roman" panose="02020603050405020304" pitchFamily="18" charset="0"/>
              </a:rPr>
              <a:t>Thuật</a:t>
            </a:r>
            <a:r>
              <a:rPr lang="en-US" sz="3000" b="1" dirty="0">
                <a:latin typeface="Times New Roman" panose="02020603050405020304" pitchFamily="18" charset="0"/>
                <a:cs typeface="Times New Roman" panose="02020603050405020304" pitchFamily="18" charset="0"/>
              </a:rPr>
              <a:t> </a:t>
            </a:r>
            <a:r>
              <a:rPr lang="en-US" sz="3000" b="1" dirty="0" err="1">
                <a:latin typeface="Times New Roman" panose="02020603050405020304" pitchFamily="18" charset="0"/>
                <a:cs typeface="Times New Roman" panose="02020603050405020304" pitchFamily="18" charset="0"/>
              </a:rPr>
              <a:t>Toán</a:t>
            </a:r>
            <a:r>
              <a:rPr lang="en-US" sz="3000" b="1" dirty="0">
                <a:latin typeface="Times New Roman" panose="02020603050405020304" pitchFamily="18" charset="0"/>
                <a:cs typeface="Times New Roman" panose="02020603050405020304" pitchFamily="18" charset="0"/>
              </a:rPr>
              <a:t> Tìm Kiếm Nhị </a:t>
            </a:r>
            <a:r>
              <a:rPr lang="en-US" sz="3000" b="1" dirty="0" err="1">
                <a:latin typeface="Times New Roman" panose="02020603050405020304" pitchFamily="18" charset="0"/>
                <a:cs typeface="Times New Roman" panose="02020603050405020304" pitchFamily="18" charset="0"/>
              </a:rPr>
              <a:t>Phân</a:t>
            </a:r>
            <a:r>
              <a:rPr lang="en-US" sz="3000" b="1" dirty="0">
                <a:latin typeface="Times New Roman" panose="02020603050405020304" pitchFamily="18" charset="0"/>
                <a:cs typeface="Times New Roman" panose="02020603050405020304" pitchFamily="18" charset="0"/>
              </a:rPr>
              <a:t> (Binary Search)</a:t>
            </a:r>
            <a:endParaRPr lang="en-US" sz="3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7469BCE-2B23-E615-9CF8-2ED8C2D07D2C}"/>
              </a:ext>
            </a:extLst>
          </p:cNvPr>
          <p:cNvSpPr txBox="1"/>
          <p:nvPr/>
        </p:nvSpPr>
        <p:spPr>
          <a:xfrm>
            <a:off x="1088278" y="1900290"/>
            <a:ext cx="9447642" cy="1477328"/>
          </a:xfrm>
          <a:prstGeom prst="rect">
            <a:avLst/>
          </a:prstGeom>
          <a:noFill/>
        </p:spPr>
        <p:txBody>
          <a:bodyPr wrap="square" rtlCol="0">
            <a:spAutoFit/>
          </a:bodyPr>
          <a:lstStyle/>
          <a:p>
            <a:r>
              <a:rPr lang="vi-VN" sz="2500" b="1" dirty="0">
                <a:latin typeface="Times New Roman" panose="02020603050405020304" pitchFamily="18" charset="0"/>
                <a:cs typeface="Times New Roman" panose="02020603050405020304" pitchFamily="18" charset="0"/>
              </a:rPr>
              <a:t>Định nghĩa :</a:t>
            </a:r>
          </a:p>
          <a:p>
            <a:endParaRPr lang="vi-VN" sz="25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Tìm </a:t>
            </a:r>
            <a:r>
              <a:rPr lang="en-US" sz="2000" dirty="0" err="1">
                <a:latin typeface="Times New Roman" panose="02020603050405020304" pitchFamily="18" charset="0"/>
                <a:cs typeface="Times New Roman" panose="02020603050405020304" pitchFamily="18" charset="0"/>
              </a:rPr>
              <a:t>kiếm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nhị</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phân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là</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thuật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toán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tìm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kiếm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hiệu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quả</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trên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danh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sách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đã</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được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sắp</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xếp</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sử</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dụng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phương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pháp</a:t>
            </a:r>
            <a:r>
              <a:rPr lang="en-US" sz="2000" dirty="0">
                <a:latin typeface="Times New Roman" panose="02020603050405020304" pitchFamily="18" charset="0"/>
                <a:cs typeface="Times New Roman" panose="02020603050405020304" pitchFamily="18" charset="0"/>
              </a:rPr>
              <a:t> chia </a:t>
            </a:r>
            <a:r>
              <a:rPr lang="en-US" sz="2000" dirty="0" err="1">
                <a:latin typeface="Times New Roman" panose="02020603050405020304" pitchFamily="18" charset="0"/>
                <a:cs typeface="Times New Roman" panose="02020603050405020304" pitchFamily="18" charset="0"/>
              </a:rPr>
              <a:t>để</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trị</a:t>
            </a: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032492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B0922-507E-40A7-B090-9ECA88C413C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3D428C2-4C27-5CB4-DAC4-C4C94E82493B}"/>
              </a:ext>
            </a:extLst>
          </p:cNvPr>
          <p:cNvSpPr>
            <a:spLocks noGrp="1"/>
          </p:cNvSpPr>
          <p:nvPr>
            <p:ph sz="half" idx="14"/>
          </p:nvPr>
        </p:nvSpPr>
        <p:spPr>
          <a:xfrm>
            <a:off x="1189878" y="3149341"/>
            <a:ext cx="9041241" cy="2050779"/>
          </a:xfrm>
        </p:spPr>
        <p:txBody>
          <a:bodyPr/>
          <a:lstStyle/>
          <a:p>
            <a:r>
              <a:rPr lang="vi-VN" sz="2000" dirty="0"/>
              <a:t>So sánh giá trị muốn tìm X với phần tử nằm ở vị trí giữa của danh sách:</a:t>
            </a:r>
          </a:p>
          <a:p>
            <a:r>
              <a:rPr lang="vi-VN" sz="2000" dirty="0"/>
              <a:t>   - Nếu bằng, tìm kiếm dừng lại (thành công)</a:t>
            </a:r>
          </a:p>
          <a:p>
            <a:r>
              <a:rPr lang="vi-VN" sz="2000" dirty="0"/>
              <a:t>   - Nếu X lớn hơn thì tiếp tục tìm kiếm ở phần danh sách bên phải phần tử giữa </a:t>
            </a:r>
          </a:p>
          <a:p>
            <a:r>
              <a:rPr lang="vi-VN" sz="2000" dirty="0"/>
              <a:t>   - Nếu X nhỏ hơn thì tiếp tục tìm kiếm ở phần danh sách bên trái phần tử giữa </a:t>
            </a:r>
            <a:endParaRPr lang="en-US" dirty="0"/>
          </a:p>
        </p:txBody>
      </p:sp>
      <p:sp>
        <p:nvSpPr>
          <p:cNvPr id="4" name="Title 3">
            <a:extLst>
              <a:ext uri="{FF2B5EF4-FFF2-40B4-BE49-F238E27FC236}">
                <a16:creationId xmlns:a16="http://schemas.microsoft.com/office/drawing/2014/main" id="{65BB44A5-354E-699C-272A-838C19135CAD}"/>
              </a:ext>
            </a:extLst>
          </p:cNvPr>
          <p:cNvSpPr>
            <a:spLocks noGrp="1"/>
          </p:cNvSpPr>
          <p:nvPr>
            <p:ph type="title"/>
          </p:nvPr>
        </p:nvSpPr>
        <p:spPr>
          <a:xfrm>
            <a:off x="1057799" y="1872056"/>
            <a:ext cx="2620122" cy="1077230"/>
          </a:xfrm>
        </p:spPr>
        <p:txBody>
          <a:bodyPr/>
          <a:lstStyle/>
          <a:p>
            <a:pPr algn="l"/>
            <a:r>
              <a:rPr lang="vi-VN" dirty="0"/>
              <a:t>Ý tưởng :</a:t>
            </a:r>
            <a:endParaRPr lang="en-US" dirty="0"/>
          </a:p>
        </p:txBody>
      </p:sp>
      <p:sp>
        <p:nvSpPr>
          <p:cNvPr id="3" name="Title 3">
            <a:extLst>
              <a:ext uri="{FF2B5EF4-FFF2-40B4-BE49-F238E27FC236}">
                <a16:creationId xmlns:a16="http://schemas.microsoft.com/office/drawing/2014/main" id="{A66FB8CE-24AC-F7A8-7C42-E35634692497}"/>
              </a:ext>
            </a:extLst>
          </p:cNvPr>
          <p:cNvSpPr txBox="1">
            <a:spLocks/>
          </p:cNvSpPr>
          <p:nvPr/>
        </p:nvSpPr>
        <p:spPr>
          <a:xfrm>
            <a:off x="1057799" y="570231"/>
            <a:ext cx="2620122" cy="1077230"/>
          </a:xfrm>
          <a:prstGeom prst="rect">
            <a:avLst/>
          </a:prstGeom>
        </p:spPr>
        <p:txBody>
          <a:bodyPr vert="horz" lIns="91440" tIns="45720" rIns="91440" bIns="45720" rtlCol="0" anchor="b" anchorCtr="0">
            <a:no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pPr algn="l"/>
            <a:r>
              <a:rPr lang="vi-VN" dirty="0"/>
              <a:t>Điều kiện:</a:t>
            </a:r>
            <a:endParaRPr lang="en-US" dirty="0"/>
          </a:p>
        </p:txBody>
      </p:sp>
      <p:sp>
        <p:nvSpPr>
          <p:cNvPr id="6" name="TextBox 5">
            <a:extLst>
              <a:ext uri="{FF2B5EF4-FFF2-40B4-BE49-F238E27FC236}">
                <a16:creationId xmlns:a16="http://schemas.microsoft.com/office/drawing/2014/main" id="{102582C2-7E8A-2BC1-687F-A752BF61E79A}"/>
              </a:ext>
            </a:extLst>
          </p:cNvPr>
          <p:cNvSpPr txBox="1"/>
          <p:nvPr/>
        </p:nvSpPr>
        <p:spPr>
          <a:xfrm>
            <a:off x="1189878" y="1798236"/>
            <a:ext cx="8236165" cy="400110"/>
          </a:xfrm>
          <a:prstGeom prst="rect">
            <a:avLst/>
          </a:prstGeom>
          <a:noFill/>
        </p:spPr>
        <p:txBody>
          <a:bodyPr wrap="none" rtlCol="0">
            <a:spAutoFit/>
          </a:bodyPr>
          <a:lstStyle/>
          <a:p>
            <a:r>
              <a:rPr lang="vi-VN" sz="2000" dirty="0"/>
              <a:t>Dữ liệu được lưu bằng mảng và được sắp xếp teo thứ tự của khóa tìm kiếm. </a:t>
            </a:r>
            <a:endParaRPr lang="en-US" sz="2000" dirty="0"/>
          </a:p>
        </p:txBody>
      </p:sp>
    </p:spTree>
    <p:extLst>
      <p:ext uri="{BB962C8B-B14F-4D97-AF65-F5344CB8AC3E}">
        <p14:creationId xmlns:p14="http://schemas.microsoft.com/office/powerpoint/2010/main" val="37033910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3D196-D3AD-929D-6CA8-88FD09C955F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F3055C8-5826-A371-33A5-39D53A3507F7}"/>
              </a:ext>
            </a:extLst>
          </p:cNvPr>
          <p:cNvSpPr>
            <a:spLocks noGrp="1"/>
          </p:cNvSpPr>
          <p:nvPr>
            <p:ph sz="half" idx="14"/>
          </p:nvPr>
        </p:nvSpPr>
        <p:spPr>
          <a:xfrm>
            <a:off x="1199459" y="2011421"/>
            <a:ext cx="9793081" cy="3485139"/>
          </a:xfrm>
        </p:spPr>
        <p:txBody>
          <a:bodyPr>
            <a:noAutofit/>
          </a:bodyPr>
          <a:lstStyle/>
          <a:p>
            <a:r>
              <a:rPr lang="en-US" sz="2000" b="1" dirty="0">
                <a:latin typeface="Times New Roman" panose="02020603050405020304" pitchFamily="18" charset="0"/>
                <a:cs typeface="Times New Roman" panose="02020603050405020304" pitchFamily="18" charset="0"/>
              </a:rPr>
              <a:t>1. </a:t>
            </a:r>
            <a:r>
              <a:rPr lang="en-US" sz="2000" b="1" dirty="0" err="1">
                <a:latin typeface="Times New Roman" panose="02020603050405020304" pitchFamily="18" charset="0"/>
                <a:cs typeface="Times New Roman" panose="02020603050405020304" pitchFamily="18" charset="0"/>
              </a:rPr>
              <a:t>Xác</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định</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vị</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trí</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đầu</a:t>
            </a:r>
            <a:r>
              <a:rPr lang="en-US" sz="2000" b="1" dirty="0">
                <a:latin typeface="Times New Roman" panose="02020603050405020304" pitchFamily="18" charset="0"/>
                <a:cs typeface="Times New Roman" panose="02020603050405020304" pitchFamily="18" charset="0"/>
              </a:rPr>
              <a:t> (low), </a:t>
            </a:r>
            <a:r>
              <a:rPr lang="en-US" sz="2000" b="1" dirty="0" err="1">
                <a:latin typeface="Times New Roman" panose="02020603050405020304" pitchFamily="18" charset="0"/>
                <a:cs typeface="Times New Roman" panose="02020603050405020304" pitchFamily="18" charset="0"/>
              </a:rPr>
              <a:t>cuối</a:t>
            </a:r>
            <a:r>
              <a:rPr lang="en-US" sz="2000" b="1" dirty="0">
                <a:latin typeface="Times New Roman" panose="02020603050405020304" pitchFamily="18" charset="0"/>
                <a:cs typeface="Times New Roman" panose="02020603050405020304" pitchFamily="18" charset="0"/>
              </a:rPr>
              <a:t> (high) </a:t>
            </a:r>
            <a:r>
              <a:rPr lang="en-US" sz="2000" b="1" dirty="0" err="1">
                <a:latin typeface="Times New Roman" panose="02020603050405020304" pitchFamily="18" charset="0"/>
                <a:cs typeface="Times New Roman" panose="02020603050405020304" pitchFamily="18" charset="0"/>
              </a:rPr>
              <a:t>và</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giữa</a:t>
            </a:r>
            <a:r>
              <a:rPr lang="en-US" sz="2000" b="1" dirty="0">
                <a:latin typeface="Times New Roman" panose="02020603050405020304" pitchFamily="18" charset="0"/>
                <a:cs typeface="Times New Roman" panose="02020603050405020304" pitchFamily="18" charset="0"/>
              </a:rPr>
              <a:t> (mid) </a:t>
            </a:r>
            <a:r>
              <a:rPr lang="en-US" sz="2000" b="1" dirty="0" err="1">
                <a:latin typeface="Times New Roman" panose="02020603050405020304" pitchFamily="18" charset="0"/>
                <a:cs typeface="Times New Roman" panose="02020603050405020304" pitchFamily="18" charset="0"/>
              </a:rPr>
              <a:t>của</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danh</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sách</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2. So </a:t>
            </a:r>
            <a:r>
              <a:rPr lang="en-US" sz="2000" b="1" dirty="0" err="1">
                <a:latin typeface="Times New Roman" panose="02020603050405020304" pitchFamily="18" charset="0"/>
                <a:cs typeface="Times New Roman" panose="02020603050405020304" pitchFamily="18" charset="0"/>
              </a:rPr>
              <a:t>sánh</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phần</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tử</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tại</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vị</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trí</a:t>
            </a:r>
            <a:r>
              <a:rPr lang="en-US" sz="2000" b="1" dirty="0">
                <a:latin typeface="Times New Roman" panose="02020603050405020304" pitchFamily="18" charset="0"/>
                <a:cs typeface="Times New Roman" panose="02020603050405020304" pitchFamily="18" charset="0"/>
              </a:rPr>
              <a:t> mid </a:t>
            </a:r>
            <a:r>
              <a:rPr lang="en-US" sz="2000" b="1" dirty="0" err="1">
                <a:latin typeface="Times New Roman" panose="02020603050405020304" pitchFamily="18" charset="0"/>
                <a:cs typeface="Times New Roman" panose="02020603050405020304" pitchFamily="18" charset="0"/>
              </a:rPr>
              <a:t>với</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giá</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trị</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mục</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tiêu</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3. </a:t>
            </a:r>
            <a:r>
              <a:rPr lang="en-US" sz="2000" b="1" dirty="0" err="1">
                <a:latin typeface="Times New Roman" panose="02020603050405020304" pitchFamily="18" charset="0"/>
                <a:cs typeface="Times New Roman" panose="02020603050405020304" pitchFamily="18" charset="0"/>
              </a:rPr>
              <a:t>Nếu</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khớp</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trả</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về</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vị</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trí</a:t>
            </a:r>
            <a:r>
              <a:rPr lang="en-US" sz="2000" b="1" dirty="0">
                <a:latin typeface="Times New Roman" panose="02020603050405020304" pitchFamily="18" charset="0"/>
                <a:cs typeface="Times New Roman" panose="02020603050405020304" pitchFamily="18" charset="0"/>
              </a:rPr>
              <a:t> mid</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4. </a:t>
            </a:r>
            <a:r>
              <a:rPr lang="en-US" sz="2000" b="1" dirty="0" err="1">
                <a:latin typeface="Times New Roman" panose="02020603050405020304" pitchFamily="18" charset="0"/>
                <a:cs typeface="Times New Roman" panose="02020603050405020304" pitchFamily="18" charset="0"/>
              </a:rPr>
              <a:t>Nếu</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giá</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trị</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mục</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tiêu</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nhỏ</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hơn</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phần</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tử</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tại</a:t>
            </a:r>
            <a:r>
              <a:rPr lang="en-US" sz="2000" b="1" dirty="0">
                <a:latin typeface="Times New Roman" panose="02020603050405020304" pitchFamily="18" charset="0"/>
                <a:cs typeface="Times New Roman" panose="02020603050405020304" pitchFamily="18" charset="0"/>
              </a:rPr>
              <a:t> mid, </a:t>
            </a:r>
            <a:r>
              <a:rPr lang="en-US" sz="2000" b="1" dirty="0" err="1">
                <a:latin typeface="Times New Roman" panose="02020603050405020304" pitchFamily="18" charset="0"/>
                <a:cs typeface="Times New Roman" panose="02020603050405020304" pitchFamily="18" charset="0"/>
              </a:rPr>
              <a:t>tìm</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kiếm</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trong</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nửa</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đầu</a:t>
            </a:r>
            <a:r>
              <a:rPr lang="en-US" sz="2000" b="1" dirty="0">
                <a:latin typeface="Times New Roman" panose="02020603050405020304" pitchFamily="18" charset="0"/>
                <a:cs typeface="Times New Roman" panose="02020603050405020304" pitchFamily="18" charset="0"/>
              </a:rPr>
              <a:t> (low </a:t>
            </a:r>
            <a:r>
              <a:rPr lang="en-US" sz="2000" b="1" dirty="0" err="1">
                <a:latin typeface="Times New Roman" panose="02020603050405020304" pitchFamily="18" charset="0"/>
                <a:cs typeface="Times New Roman" panose="02020603050405020304" pitchFamily="18" charset="0"/>
              </a:rPr>
              <a:t>đến</a:t>
            </a:r>
            <a:r>
              <a:rPr lang="en-US" sz="2000" b="1" dirty="0">
                <a:latin typeface="Times New Roman" panose="02020603050405020304" pitchFamily="18" charset="0"/>
                <a:cs typeface="Times New Roman" panose="02020603050405020304" pitchFamily="18" charset="0"/>
              </a:rPr>
              <a:t> mid-1)</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5. </a:t>
            </a:r>
            <a:r>
              <a:rPr lang="en-US" sz="2000" b="1" dirty="0" err="1">
                <a:latin typeface="Times New Roman" panose="02020603050405020304" pitchFamily="18" charset="0"/>
                <a:cs typeface="Times New Roman" panose="02020603050405020304" pitchFamily="18" charset="0"/>
              </a:rPr>
              <a:t>Nếu</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giá</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trị</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mục</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tiêu</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lớn</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hơn</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phần</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tử</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tại</a:t>
            </a:r>
            <a:r>
              <a:rPr lang="en-US" sz="2000" b="1" dirty="0">
                <a:latin typeface="Times New Roman" panose="02020603050405020304" pitchFamily="18" charset="0"/>
                <a:cs typeface="Times New Roman" panose="02020603050405020304" pitchFamily="18" charset="0"/>
              </a:rPr>
              <a:t> mid, </a:t>
            </a:r>
            <a:r>
              <a:rPr lang="en-US" sz="2000" b="1" dirty="0" err="1">
                <a:latin typeface="Times New Roman" panose="02020603050405020304" pitchFamily="18" charset="0"/>
                <a:cs typeface="Times New Roman" panose="02020603050405020304" pitchFamily="18" charset="0"/>
              </a:rPr>
              <a:t>tìm</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kiếm</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trong</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nửa</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sau</a:t>
            </a:r>
            <a:r>
              <a:rPr lang="en-US" sz="2000" b="1" dirty="0">
                <a:latin typeface="Times New Roman" panose="02020603050405020304" pitchFamily="18" charset="0"/>
                <a:cs typeface="Times New Roman" panose="02020603050405020304" pitchFamily="18" charset="0"/>
              </a:rPr>
              <a:t> (mid+1 </a:t>
            </a:r>
            <a:r>
              <a:rPr lang="en-US" sz="2000" b="1" dirty="0" err="1">
                <a:latin typeface="Times New Roman" panose="02020603050405020304" pitchFamily="18" charset="0"/>
                <a:cs typeface="Times New Roman" panose="02020603050405020304" pitchFamily="18" charset="0"/>
              </a:rPr>
              <a:t>đến</a:t>
            </a:r>
            <a:r>
              <a:rPr lang="en-US" sz="2000" b="1" dirty="0">
                <a:latin typeface="Times New Roman" panose="02020603050405020304" pitchFamily="18" charset="0"/>
                <a:cs typeface="Times New Roman" panose="02020603050405020304" pitchFamily="18" charset="0"/>
              </a:rPr>
              <a:t> high)</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6. </a:t>
            </a:r>
            <a:r>
              <a:rPr lang="en-US" sz="2000" b="1" dirty="0" err="1">
                <a:latin typeface="Times New Roman" panose="02020603050405020304" pitchFamily="18" charset="0"/>
                <a:cs typeface="Times New Roman" panose="02020603050405020304" pitchFamily="18" charset="0"/>
              </a:rPr>
              <a:t>Lặp</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lại</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cho</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đến</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khi</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tìm</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thấy</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hoặc</a:t>
            </a:r>
            <a:r>
              <a:rPr lang="en-US" sz="2000" b="1" dirty="0">
                <a:latin typeface="Times New Roman" panose="02020603050405020304" pitchFamily="18" charset="0"/>
                <a:cs typeface="Times New Roman" panose="02020603050405020304" pitchFamily="18" charset="0"/>
              </a:rPr>
              <a:t> low &gt; high</a:t>
            </a:r>
            <a:endParaRPr lang="en-US" sz="2000" dirty="0">
              <a:latin typeface="Times New Roman" panose="02020603050405020304" pitchFamily="18" charset="0"/>
              <a:cs typeface="Times New Roman" panose="02020603050405020304" pitchFamily="18" charset="0"/>
            </a:endParaRPr>
          </a:p>
        </p:txBody>
      </p:sp>
      <p:sp>
        <p:nvSpPr>
          <p:cNvPr id="3" name="Title 3">
            <a:extLst>
              <a:ext uri="{FF2B5EF4-FFF2-40B4-BE49-F238E27FC236}">
                <a16:creationId xmlns:a16="http://schemas.microsoft.com/office/drawing/2014/main" id="{19ED9654-C1C1-2FB7-1EF8-05EB6E13974C}"/>
              </a:ext>
            </a:extLst>
          </p:cNvPr>
          <p:cNvSpPr txBox="1">
            <a:spLocks/>
          </p:cNvSpPr>
          <p:nvPr/>
        </p:nvSpPr>
        <p:spPr>
          <a:xfrm>
            <a:off x="1057798" y="570231"/>
            <a:ext cx="6054201" cy="1077230"/>
          </a:xfrm>
          <a:prstGeom prst="rect">
            <a:avLst/>
          </a:prstGeom>
        </p:spPr>
        <p:txBody>
          <a:bodyPr vert="horz" lIns="91440" tIns="45720" rIns="91440" bIns="45720" rtlCol="0" anchor="b" anchorCtr="0">
            <a:no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en-US" b="1" dirty="0" err="1"/>
              <a:t>Thuật</a:t>
            </a:r>
            <a:r>
              <a:rPr lang="en-US" b="1" dirty="0"/>
              <a:t> </a:t>
            </a:r>
            <a:r>
              <a:rPr lang="en-US" b="1" dirty="0" err="1"/>
              <a:t>toán</a:t>
            </a:r>
            <a:r>
              <a:rPr lang="vi-VN" dirty="0"/>
              <a:t> </a:t>
            </a:r>
            <a:r>
              <a:rPr lang="en-US" b="1" dirty="0"/>
              <a:t>text</a:t>
            </a:r>
            <a:endParaRPr lang="en-US" dirty="0"/>
          </a:p>
        </p:txBody>
      </p:sp>
    </p:spTree>
    <p:extLst>
      <p:ext uri="{BB962C8B-B14F-4D97-AF65-F5344CB8AC3E}">
        <p14:creationId xmlns:p14="http://schemas.microsoft.com/office/powerpoint/2010/main" val="34373251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97F72D-7600-3484-5505-9CEFA11C760C}"/>
              </a:ext>
            </a:extLst>
          </p:cNvPr>
          <p:cNvSpPr>
            <a:spLocks noGrp="1"/>
          </p:cNvSpPr>
          <p:nvPr>
            <p:ph idx="1"/>
          </p:nvPr>
        </p:nvSpPr>
        <p:spPr/>
        <p:txBody>
          <a:bodyPr/>
          <a:lstStyle/>
          <a:p>
            <a:r>
              <a:rPr lang="vi-VN" dirty="0"/>
              <a:t>Ví dụ</a:t>
            </a:r>
          </a:p>
          <a:p>
            <a:endParaRPr lang="en-US" dirty="0"/>
          </a:p>
        </p:txBody>
      </p:sp>
      <p:pic>
        <p:nvPicPr>
          <p:cNvPr id="5" name="Picture 4" descr="A diagram of numbers and equations&#10;&#10;AI-generated content may be incorrect.">
            <a:extLst>
              <a:ext uri="{FF2B5EF4-FFF2-40B4-BE49-F238E27FC236}">
                <a16:creationId xmlns:a16="http://schemas.microsoft.com/office/drawing/2014/main" id="{8815F034-75C0-0DA9-FCCF-6F4C43789052}"/>
              </a:ext>
            </a:extLst>
          </p:cNvPr>
          <p:cNvPicPr>
            <a:picLocks noChangeAspect="1"/>
          </p:cNvPicPr>
          <p:nvPr/>
        </p:nvPicPr>
        <p:blipFill>
          <a:blip r:embed="rId2"/>
          <a:stretch>
            <a:fillRect/>
          </a:stretch>
        </p:blipFill>
        <p:spPr>
          <a:xfrm>
            <a:off x="402956" y="68740"/>
            <a:ext cx="11468746" cy="6672429"/>
          </a:xfrm>
          <a:prstGeom prst="rect">
            <a:avLst/>
          </a:prstGeom>
        </p:spPr>
      </p:pic>
    </p:spTree>
    <p:extLst>
      <p:ext uri="{BB962C8B-B14F-4D97-AF65-F5344CB8AC3E}">
        <p14:creationId xmlns:p14="http://schemas.microsoft.com/office/powerpoint/2010/main" val="6882610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225A7-EEF9-6AE9-0B65-A4C403CF5CA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C867295-0001-19A5-DC35-CB6F6C14571F}"/>
              </a:ext>
            </a:extLst>
          </p:cNvPr>
          <p:cNvSpPr txBox="1"/>
          <p:nvPr/>
        </p:nvSpPr>
        <p:spPr>
          <a:xfrm>
            <a:off x="182880" y="369322"/>
            <a:ext cx="2763520" cy="1154162"/>
          </a:xfrm>
          <a:prstGeom prst="rect">
            <a:avLst/>
          </a:prstGeom>
          <a:noFill/>
        </p:spPr>
        <p:txBody>
          <a:bodyPr wrap="square" rtlCol="0">
            <a:spAutoFit/>
          </a:bodyPr>
          <a:lstStyle/>
          <a:p>
            <a:r>
              <a:rPr lang="vi-VN" sz="2300" b="1" dirty="0">
                <a:latin typeface="Times New Roman" panose="02020603050405020304" pitchFamily="18" charset="0"/>
                <a:cs typeface="Times New Roman" panose="02020603050405020304" pitchFamily="18" charset="0"/>
              </a:rPr>
              <a:t>Trường hợp tốt nhất</a:t>
            </a:r>
          </a:p>
          <a:p>
            <a:br>
              <a:rPr lang="vi-VN" sz="2300" b="1" dirty="0"/>
            </a:br>
            <a:endParaRPr lang="en-US" sz="2300" b="1" dirty="0"/>
          </a:p>
        </p:txBody>
      </p:sp>
      <p:pic>
        <p:nvPicPr>
          <p:cNvPr id="2050" name="Picture 2">
            <a:extLst>
              <a:ext uri="{FF2B5EF4-FFF2-40B4-BE49-F238E27FC236}">
                <a16:creationId xmlns:a16="http://schemas.microsoft.com/office/drawing/2014/main" id="{BF76AACB-2F48-6413-13CD-4DF9E218256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375517" y="23882"/>
            <a:ext cx="8816483" cy="6823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71018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7AFC4-21BC-4467-75B9-455808CA8CB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450ADA4-A535-341E-5C45-6646B308E9C9}"/>
              </a:ext>
            </a:extLst>
          </p:cNvPr>
          <p:cNvSpPr txBox="1"/>
          <p:nvPr/>
        </p:nvSpPr>
        <p:spPr>
          <a:xfrm>
            <a:off x="92360" y="274320"/>
            <a:ext cx="2965799" cy="1154162"/>
          </a:xfrm>
          <a:prstGeom prst="rect">
            <a:avLst/>
          </a:prstGeom>
          <a:noFill/>
        </p:spPr>
        <p:txBody>
          <a:bodyPr wrap="square" rtlCol="0">
            <a:spAutoFit/>
          </a:bodyPr>
          <a:lstStyle/>
          <a:p>
            <a:r>
              <a:rPr lang="vi-VN" sz="2300" b="1" dirty="0">
                <a:latin typeface="Times New Roman" panose="02020603050405020304" pitchFamily="18" charset="0"/>
                <a:cs typeface="Times New Roman" panose="02020603050405020304" pitchFamily="18" charset="0"/>
              </a:rPr>
              <a:t>Trường hợp</a:t>
            </a:r>
          </a:p>
          <a:p>
            <a:r>
              <a:rPr lang="vi-VN" sz="2300" b="1" dirty="0">
                <a:latin typeface="Times New Roman" panose="02020603050405020304" pitchFamily="18" charset="0"/>
                <a:cs typeface="Times New Roman" panose="02020603050405020304" pitchFamily="18" charset="0"/>
              </a:rPr>
              <a:t> trung bình</a:t>
            </a:r>
            <a:br>
              <a:rPr lang="vi-VN" sz="2300" dirty="0"/>
            </a:br>
            <a:endParaRPr lang="en-US" sz="2300" dirty="0"/>
          </a:p>
        </p:txBody>
      </p:sp>
      <p:pic>
        <p:nvPicPr>
          <p:cNvPr id="4098" name="Picture 2">
            <a:extLst>
              <a:ext uri="{FF2B5EF4-FFF2-40B4-BE49-F238E27FC236}">
                <a16:creationId xmlns:a16="http://schemas.microsoft.com/office/drawing/2014/main" id="{5AFFB0AE-5751-D7B6-D432-A2156FEF0B2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32361" y="0"/>
            <a:ext cx="9559639"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8412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90C57-2BD9-9966-6183-50E5690363A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619D13E-7DBF-C9C7-73F4-3B7EA7D76FFB}"/>
              </a:ext>
            </a:extLst>
          </p:cNvPr>
          <p:cNvSpPr txBox="1"/>
          <p:nvPr/>
        </p:nvSpPr>
        <p:spPr>
          <a:xfrm>
            <a:off x="0" y="478750"/>
            <a:ext cx="3037840" cy="446276"/>
          </a:xfrm>
          <a:prstGeom prst="rect">
            <a:avLst/>
          </a:prstGeom>
          <a:noFill/>
        </p:spPr>
        <p:txBody>
          <a:bodyPr wrap="square" rtlCol="0">
            <a:spAutoFit/>
          </a:bodyPr>
          <a:lstStyle/>
          <a:p>
            <a:r>
              <a:rPr lang="vi-VN" sz="2300" b="1" dirty="0">
                <a:latin typeface="Times New Roman" panose="02020603050405020304" pitchFamily="18" charset="0"/>
                <a:cs typeface="Times New Roman" panose="02020603050405020304" pitchFamily="18" charset="0"/>
              </a:rPr>
              <a:t>Trường hợp xấu nhất</a:t>
            </a:r>
            <a:endParaRPr lang="vi-VN" sz="2300" dirty="0">
              <a:latin typeface="Times New Roman" panose="02020603050405020304" pitchFamily="18" charset="0"/>
              <a:cs typeface="Times New Roman" panose="02020603050405020304" pitchFamily="18" charset="0"/>
            </a:endParaRPr>
          </a:p>
        </p:txBody>
      </p:sp>
      <p:pic>
        <p:nvPicPr>
          <p:cNvPr id="5122" name="Picture 2">
            <a:extLst>
              <a:ext uri="{FF2B5EF4-FFF2-40B4-BE49-F238E27FC236}">
                <a16:creationId xmlns:a16="http://schemas.microsoft.com/office/drawing/2014/main" id="{A936471E-B745-13B0-E916-B60283ED833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99319" y="0"/>
            <a:ext cx="9292682"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84563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AAC38-309C-3275-053C-3187FDD031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CA2933-DBB1-7B49-B59B-78B795D0BD8D}"/>
              </a:ext>
            </a:extLst>
          </p:cNvPr>
          <p:cNvSpPr>
            <a:spLocks noGrp="1"/>
          </p:cNvSpPr>
          <p:nvPr>
            <p:ph type="title"/>
          </p:nvPr>
        </p:nvSpPr>
        <p:spPr>
          <a:xfrm>
            <a:off x="1306751" y="1093808"/>
            <a:ext cx="3234770" cy="618360"/>
          </a:xfrm>
          <a:noFill/>
        </p:spPr>
        <p:txBody>
          <a:bodyPr/>
          <a:lstStyle/>
          <a:p>
            <a:r>
              <a:rPr lang="vi-VN" dirty="0"/>
              <a:t>Thuật toán :</a:t>
            </a:r>
            <a:endParaRPr lang="en-US" dirty="0"/>
          </a:p>
        </p:txBody>
      </p:sp>
      <p:sp>
        <p:nvSpPr>
          <p:cNvPr id="3" name="Content Placeholder 2">
            <a:extLst>
              <a:ext uri="{FF2B5EF4-FFF2-40B4-BE49-F238E27FC236}">
                <a16:creationId xmlns:a16="http://schemas.microsoft.com/office/drawing/2014/main" id="{9967A1C4-4D2E-2ACF-9571-97FF5C9935CA}"/>
              </a:ext>
            </a:extLst>
          </p:cNvPr>
          <p:cNvSpPr>
            <a:spLocks noGrp="1"/>
          </p:cNvSpPr>
          <p:nvPr>
            <p:ph sz="half" idx="1"/>
          </p:nvPr>
        </p:nvSpPr>
        <p:spPr>
          <a:xfrm>
            <a:off x="1484002" y="1712168"/>
            <a:ext cx="9681837" cy="4200952"/>
          </a:xfrm>
          <a:noFill/>
        </p:spPr>
        <p:txBody>
          <a:bodyPr vert="horz" lIns="91440" tIns="45720" rIns="91440" bIns="45720" rtlCol="0" anchor="t">
            <a:noAutofit/>
          </a:bodyPr>
          <a:lstStyle/>
          <a:p>
            <a:r>
              <a:rPr lang="vi-VN" sz="2000" dirty="0"/>
              <a:t>B1: Left = 0, Right = n-1 </a:t>
            </a:r>
          </a:p>
          <a:p>
            <a:r>
              <a:rPr lang="vi-VN" sz="2000" dirty="0"/>
              <a:t>B2: Mid = (Left + Right)/2		</a:t>
            </a:r>
            <a:r>
              <a:rPr lang="vi-VN" sz="2000" dirty="0">
                <a:solidFill>
                  <a:srgbClr val="FF0000"/>
                </a:solidFill>
              </a:rPr>
              <a:t>// lấy vị trí cận giữa  </a:t>
            </a:r>
          </a:p>
          <a:p>
            <a:r>
              <a:rPr lang="vi-VN" sz="2000" dirty="0"/>
              <a:t>B3: So sánh X với A[Mid], có 3 khả năng xảy ra: </a:t>
            </a:r>
          </a:p>
          <a:p>
            <a:r>
              <a:rPr lang="vi-VN" sz="2000" dirty="0"/>
              <a:t>        ■ A[Mid] = X 			</a:t>
            </a:r>
            <a:r>
              <a:rPr lang="vi-VN" sz="2000" dirty="0">
                <a:solidFill>
                  <a:srgbClr val="FF0000"/>
                </a:solidFill>
              </a:rPr>
              <a:t>// tìm thấy. Dừng thuật toán </a:t>
            </a:r>
          </a:p>
          <a:p>
            <a:r>
              <a:rPr lang="vi-VN" sz="2000" dirty="0"/>
              <a:t>        ■ A[Mid] &gt; X Right = Mid-1 	</a:t>
            </a:r>
            <a:r>
              <a:rPr lang="vi-VN" sz="2000" dirty="0">
                <a:solidFill>
                  <a:srgbClr val="FF0000"/>
                </a:solidFill>
              </a:rPr>
              <a:t>// Tiếp tục tìm trong dãy A[0]… A[Mid-1]</a:t>
            </a:r>
          </a:p>
          <a:p>
            <a:r>
              <a:rPr lang="vi-VN" sz="2000" dirty="0"/>
              <a:t>        ■ A[Mid] &lt; X Left = Mid+1 	</a:t>
            </a:r>
            <a:r>
              <a:rPr lang="vi-VN" sz="2000" dirty="0">
                <a:solidFill>
                  <a:srgbClr val="FF0000"/>
                </a:solidFill>
              </a:rPr>
              <a:t>// Tiếp tục tìm trong dãy A[Mid+1]… A[Right] </a:t>
            </a:r>
          </a:p>
          <a:p>
            <a:r>
              <a:rPr lang="vi-VN" sz="2000" dirty="0"/>
              <a:t>B4: Nếu (Left &lt;= Right)		 </a:t>
            </a:r>
            <a:r>
              <a:rPr lang="vi-VN" sz="2000" dirty="0">
                <a:solidFill>
                  <a:srgbClr val="FF0000"/>
                </a:solidFill>
              </a:rPr>
              <a:t>// Còn phần tử chưa xét </a:t>
            </a:r>
          </a:p>
          <a:p>
            <a:r>
              <a:rPr lang="vi-VN" sz="2000" dirty="0"/>
              <a:t>         Lặp lại B2 </a:t>
            </a:r>
          </a:p>
          <a:p>
            <a:r>
              <a:rPr lang="vi-VN" sz="2000" dirty="0"/>
              <a:t>         Ngược lại: Kết thúc</a:t>
            </a:r>
            <a:endParaRPr lang="en-US" sz="2000" dirty="0"/>
          </a:p>
        </p:txBody>
      </p:sp>
    </p:spTree>
    <p:extLst>
      <p:ext uri="{BB962C8B-B14F-4D97-AF65-F5344CB8AC3E}">
        <p14:creationId xmlns:p14="http://schemas.microsoft.com/office/powerpoint/2010/main" val="41513922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2D9E8-959E-D0C9-F7FD-8BE45B10A25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9BB472-F59D-535B-0AB4-4B53F8CF28C0}"/>
              </a:ext>
            </a:extLst>
          </p:cNvPr>
          <p:cNvSpPr>
            <a:spLocks noGrp="1"/>
          </p:cNvSpPr>
          <p:nvPr>
            <p:ph sz="half" idx="1"/>
          </p:nvPr>
        </p:nvSpPr>
        <p:spPr>
          <a:xfrm>
            <a:off x="1219201" y="883920"/>
            <a:ext cx="8371839" cy="4876800"/>
          </a:xfrm>
          <a:noFill/>
        </p:spPr>
        <p:txBody>
          <a:bodyPr vert="horz" lIns="91440" tIns="45720" rIns="91440" bIns="45720" rtlCol="0" anchor="t">
            <a:noAutofit/>
          </a:bodyPr>
          <a:lstStyle/>
          <a:p>
            <a:r>
              <a:rPr lang="vi-VN" sz="2000" dirty="0">
                <a:solidFill>
                  <a:srgbClr val="00B0F0"/>
                </a:solidFill>
              </a:rPr>
              <a:t>void</a:t>
            </a:r>
            <a:r>
              <a:rPr lang="vi-VN" sz="2000" dirty="0"/>
              <a:t> BSearch (</a:t>
            </a:r>
            <a:r>
              <a:rPr lang="vi-VN" sz="2000" dirty="0">
                <a:solidFill>
                  <a:srgbClr val="00B0F0"/>
                </a:solidFill>
              </a:rPr>
              <a:t>int</a:t>
            </a:r>
            <a:r>
              <a:rPr lang="vi-VN" sz="2000" dirty="0"/>
              <a:t> list[], </a:t>
            </a:r>
            <a:r>
              <a:rPr lang="vi-VN" sz="2000" dirty="0">
                <a:solidFill>
                  <a:srgbClr val="00B0F0"/>
                </a:solidFill>
              </a:rPr>
              <a:t>int</a:t>
            </a:r>
            <a:r>
              <a:rPr lang="vi-VN" sz="2000" dirty="0"/>
              <a:t> n</a:t>
            </a:r>
            <a:r>
              <a:rPr lang="vi-VN" sz="2000" dirty="0">
                <a:solidFill>
                  <a:srgbClr val="00B0F0"/>
                </a:solidFill>
              </a:rPr>
              <a:t>, int </a:t>
            </a:r>
            <a:r>
              <a:rPr lang="vi-VN" sz="2000" dirty="0"/>
              <a:t>key) </a:t>
            </a:r>
            <a:r>
              <a:rPr lang="vi-VN" sz="2000" dirty="0">
                <a:solidFill>
                  <a:srgbClr val="00B0F0"/>
                </a:solidFill>
              </a:rPr>
              <a:t>{</a:t>
            </a:r>
            <a:r>
              <a:rPr lang="vi-VN" sz="2000" dirty="0"/>
              <a:t> </a:t>
            </a:r>
          </a:p>
          <a:p>
            <a:r>
              <a:rPr lang="vi-VN" sz="2000" dirty="0">
                <a:solidFill>
                  <a:srgbClr val="00B0F0"/>
                </a:solidFill>
              </a:rPr>
              <a:t>int </a:t>
            </a:r>
            <a:r>
              <a:rPr lang="vi-VN" sz="2000" dirty="0"/>
              <a:t>left , right , mid , flag = 0;	</a:t>
            </a:r>
            <a:endParaRPr lang="vi-VN" sz="2000" dirty="0">
              <a:solidFill>
                <a:srgbClr val="00B050"/>
              </a:solidFill>
            </a:endParaRPr>
          </a:p>
          <a:p>
            <a:r>
              <a:rPr lang="vi-VN" sz="2000" dirty="0"/>
              <a:t> left = 0 ; right = n- 1;</a:t>
            </a:r>
          </a:p>
          <a:p>
            <a:r>
              <a:rPr lang="vi-VN" sz="2000" dirty="0"/>
              <a:t>   </a:t>
            </a:r>
            <a:r>
              <a:rPr lang="vi-VN" sz="2000" dirty="0">
                <a:solidFill>
                  <a:srgbClr val="00B0F0"/>
                </a:solidFill>
              </a:rPr>
              <a:t>while</a:t>
            </a:r>
            <a:r>
              <a:rPr lang="vi-VN" sz="2000" dirty="0"/>
              <a:t> ( left &lt; =  right )</a:t>
            </a:r>
            <a:r>
              <a:rPr lang="vi-VN" sz="2000" dirty="0">
                <a:solidFill>
                  <a:srgbClr val="00B0F0"/>
                </a:solidFill>
              </a:rPr>
              <a:t> {</a:t>
            </a:r>
            <a:r>
              <a:rPr lang="vi-VN" sz="2000" dirty="0"/>
              <a:t> </a:t>
            </a:r>
          </a:p>
          <a:p>
            <a:r>
              <a:rPr lang="vi-VN" sz="2000" dirty="0"/>
              <a:t>      mid = (left +  right )/2;</a:t>
            </a:r>
          </a:p>
          <a:p>
            <a:r>
              <a:rPr lang="vi-VN" sz="2000" dirty="0"/>
              <a:t>   if (list [mid] == key )</a:t>
            </a:r>
            <a:r>
              <a:rPr lang="vi-VN" sz="2000" dirty="0">
                <a:solidFill>
                  <a:srgbClr val="00B0F0"/>
                </a:solidFill>
              </a:rPr>
              <a:t> {</a:t>
            </a:r>
            <a:r>
              <a:rPr lang="vi-VN" sz="2000" dirty="0"/>
              <a:t>cout&lt;&lt;“</a:t>
            </a:r>
            <a:r>
              <a:rPr lang="vi-VN" sz="2000" dirty="0">
                <a:solidFill>
                  <a:srgbClr val="FF0000"/>
                </a:solidFill>
              </a:rPr>
              <a:t>found</a:t>
            </a:r>
            <a:r>
              <a:rPr lang="vi-VN" sz="2000" dirty="0"/>
              <a:t>” &lt;&lt; mid;</a:t>
            </a:r>
          </a:p>
          <a:p>
            <a:r>
              <a:rPr lang="vi-VN" sz="2000" dirty="0"/>
              <a:t>     flag = 1;	</a:t>
            </a:r>
            <a:r>
              <a:rPr lang="vi-VN" sz="2000" dirty="0">
                <a:solidFill>
                  <a:srgbClr val="00B050"/>
                </a:solidFill>
              </a:rPr>
              <a:t>  // tìm thấy</a:t>
            </a:r>
          </a:p>
          <a:p>
            <a:r>
              <a:rPr lang="vi-VN" sz="2000" dirty="0">
                <a:solidFill>
                  <a:srgbClr val="00B0F0"/>
                </a:solidFill>
              </a:rPr>
              <a:t>     break</a:t>
            </a:r>
            <a:r>
              <a:rPr lang="vi-VN" sz="2000" dirty="0"/>
              <a:t>;</a:t>
            </a:r>
            <a:r>
              <a:rPr lang="vi-VN" sz="2000" dirty="0">
                <a:solidFill>
                  <a:srgbClr val="00B0F0"/>
                </a:solidFill>
              </a:rPr>
              <a:t>}</a:t>
            </a:r>
            <a:endParaRPr lang="vi-VN" sz="2000" dirty="0"/>
          </a:p>
          <a:p>
            <a:r>
              <a:rPr lang="vi-VN" sz="2000" dirty="0">
                <a:solidFill>
                  <a:srgbClr val="00B0F0"/>
                </a:solidFill>
              </a:rPr>
              <a:t>else If</a:t>
            </a:r>
            <a:r>
              <a:rPr lang="vi-VN" sz="2000" dirty="0"/>
              <a:t> (list [mid] &lt; key )  left = mid +1;</a:t>
            </a:r>
          </a:p>
          <a:p>
            <a:r>
              <a:rPr lang="vi-VN" sz="2000" dirty="0">
                <a:solidFill>
                  <a:srgbClr val="00B0F0"/>
                </a:solidFill>
              </a:rPr>
              <a:t>Else</a:t>
            </a:r>
          </a:p>
          <a:p>
            <a:r>
              <a:rPr lang="vi-VN" sz="2000" dirty="0">
                <a:solidFill>
                  <a:srgbClr val="00B0F0"/>
                </a:solidFill>
              </a:rPr>
              <a:t>        </a:t>
            </a:r>
            <a:r>
              <a:rPr lang="vi-VN" sz="2000" dirty="0"/>
              <a:t>right = mid - 1 ;</a:t>
            </a:r>
            <a:r>
              <a:rPr lang="vi-VN" sz="2000" dirty="0">
                <a:solidFill>
                  <a:srgbClr val="00B0F0"/>
                </a:solidFill>
              </a:rPr>
              <a:t>}</a:t>
            </a:r>
          </a:p>
          <a:p>
            <a:r>
              <a:rPr lang="vi-VN" sz="2000" dirty="0">
                <a:solidFill>
                  <a:srgbClr val="00B0F0"/>
                </a:solidFill>
              </a:rPr>
              <a:t>if</a:t>
            </a:r>
            <a:r>
              <a:rPr lang="vi-VN" sz="2000" dirty="0"/>
              <a:t>(flag == 0)</a:t>
            </a:r>
          </a:p>
          <a:p>
            <a:r>
              <a:rPr lang="vi-VN" sz="2000" dirty="0"/>
              <a:t>cout &lt;&lt; “</a:t>
            </a:r>
            <a:r>
              <a:rPr lang="vi-VN" sz="2000" dirty="0">
                <a:solidFill>
                  <a:srgbClr val="FF0000"/>
                </a:solidFill>
              </a:rPr>
              <a:t>not found</a:t>
            </a:r>
            <a:r>
              <a:rPr lang="vi-VN" sz="2000" dirty="0"/>
              <a:t>”;}</a:t>
            </a:r>
            <a:endParaRPr lang="en-US" sz="2000" dirty="0"/>
          </a:p>
        </p:txBody>
      </p:sp>
    </p:spTree>
    <p:extLst>
      <p:ext uri="{BB962C8B-B14F-4D97-AF65-F5344CB8AC3E}">
        <p14:creationId xmlns:p14="http://schemas.microsoft.com/office/powerpoint/2010/main" val="29595205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65EE3-481E-D13C-C14E-3B39D9CE82F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A9DE7E-F68F-94F6-B258-E713F90340CC}"/>
              </a:ext>
            </a:extLst>
          </p:cNvPr>
          <p:cNvSpPr>
            <a:spLocks noGrp="1"/>
          </p:cNvSpPr>
          <p:nvPr>
            <p:ph sz="half" idx="1"/>
          </p:nvPr>
        </p:nvSpPr>
        <p:spPr>
          <a:xfrm>
            <a:off x="1188721" y="990600"/>
            <a:ext cx="8371839" cy="4876800"/>
          </a:xfrm>
          <a:noFill/>
        </p:spPr>
        <p:txBody>
          <a:bodyPr vert="horz" lIns="91440" tIns="45720" rIns="91440" bIns="45720" rtlCol="0" anchor="t">
            <a:noAutofit/>
          </a:bodyPr>
          <a:lstStyle/>
          <a:p>
            <a:r>
              <a:rPr lang="vi-VN" sz="2000" dirty="0">
                <a:solidFill>
                  <a:srgbClr val="00B0F0"/>
                </a:solidFill>
              </a:rPr>
              <a:t>void</a:t>
            </a:r>
            <a:r>
              <a:rPr lang="vi-VN" sz="2000" dirty="0"/>
              <a:t> BSearch (</a:t>
            </a:r>
            <a:r>
              <a:rPr lang="vi-VN" sz="2000" dirty="0">
                <a:solidFill>
                  <a:srgbClr val="00B0F0"/>
                </a:solidFill>
              </a:rPr>
              <a:t>int</a:t>
            </a:r>
            <a:r>
              <a:rPr lang="vi-VN" sz="2000" dirty="0"/>
              <a:t> list[], </a:t>
            </a:r>
            <a:r>
              <a:rPr lang="vi-VN" sz="2000" dirty="0">
                <a:solidFill>
                  <a:srgbClr val="00B0F0"/>
                </a:solidFill>
              </a:rPr>
              <a:t>int</a:t>
            </a:r>
            <a:r>
              <a:rPr lang="vi-VN" sz="2000" dirty="0"/>
              <a:t> n</a:t>
            </a:r>
            <a:r>
              <a:rPr lang="vi-VN" sz="2000" dirty="0">
                <a:solidFill>
                  <a:srgbClr val="00B0F0"/>
                </a:solidFill>
              </a:rPr>
              <a:t>, int </a:t>
            </a:r>
            <a:r>
              <a:rPr lang="vi-VN" sz="2000" dirty="0"/>
              <a:t>key) </a:t>
            </a:r>
            <a:r>
              <a:rPr lang="vi-VN" sz="2000" dirty="0">
                <a:solidFill>
                  <a:srgbClr val="00B0F0"/>
                </a:solidFill>
              </a:rPr>
              <a:t>{</a:t>
            </a:r>
            <a:r>
              <a:rPr lang="vi-VN" sz="2000" dirty="0"/>
              <a:t> </a:t>
            </a:r>
          </a:p>
          <a:p>
            <a:r>
              <a:rPr lang="vi-VN" sz="2000" dirty="0">
                <a:solidFill>
                  <a:srgbClr val="00B0F0"/>
                </a:solidFill>
              </a:rPr>
              <a:t> int </a:t>
            </a:r>
            <a:r>
              <a:rPr lang="vi-VN" sz="2000" dirty="0"/>
              <a:t>( left &lt; =  right )</a:t>
            </a:r>
            <a:r>
              <a:rPr lang="vi-VN" sz="2000" dirty="0">
                <a:solidFill>
                  <a:srgbClr val="00B0F0"/>
                </a:solidFill>
              </a:rPr>
              <a:t> {</a:t>
            </a:r>
            <a:r>
              <a:rPr lang="vi-VN" sz="2000" dirty="0"/>
              <a:t> </a:t>
            </a:r>
          </a:p>
          <a:p>
            <a:r>
              <a:rPr lang="vi-VN" sz="2000" dirty="0">
                <a:solidFill>
                  <a:srgbClr val="00B0F0"/>
                </a:solidFill>
              </a:rPr>
              <a:t>       int </a:t>
            </a:r>
            <a:r>
              <a:rPr lang="vi-VN" sz="2000" dirty="0"/>
              <a:t>mid = (left +  right )/2;</a:t>
            </a:r>
          </a:p>
          <a:p>
            <a:r>
              <a:rPr lang="vi-VN" sz="2000" dirty="0">
                <a:solidFill>
                  <a:srgbClr val="00B0F0"/>
                </a:solidFill>
              </a:rPr>
              <a:t>       If </a:t>
            </a:r>
            <a:r>
              <a:rPr lang="vi-VN" sz="2000" dirty="0"/>
              <a:t>(key == list [mid] )</a:t>
            </a:r>
          </a:p>
          <a:p>
            <a:r>
              <a:rPr lang="vi-VN" sz="2000" dirty="0">
                <a:solidFill>
                  <a:srgbClr val="00B0F0"/>
                </a:solidFill>
              </a:rPr>
              <a:t>	return </a:t>
            </a:r>
            <a:r>
              <a:rPr lang="vi-VN" sz="2000" dirty="0"/>
              <a:t>mid ;</a:t>
            </a:r>
            <a:r>
              <a:rPr lang="vi-VN" sz="2000" dirty="0">
                <a:solidFill>
                  <a:srgbClr val="00B050"/>
                </a:solidFill>
              </a:rPr>
              <a:t> // Trả lại vị trí tìm thấy key</a:t>
            </a:r>
          </a:p>
          <a:p>
            <a:r>
              <a:rPr lang="vi-VN" sz="2000" dirty="0">
                <a:solidFill>
                  <a:srgbClr val="00B0F0"/>
                </a:solidFill>
              </a:rPr>
              <a:t>       else If</a:t>
            </a:r>
            <a:r>
              <a:rPr lang="vi-VN" sz="2000" dirty="0"/>
              <a:t> (key == list [mid] )</a:t>
            </a:r>
          </a:p>
          <a:p>
            <a:r>
              <a:rPr lang="vi-VN" sz="2000" dirty="0">
                <a:solidFill>
                  <a:srgbClr val="00B0F0"/>
                </a:solidFill>
              </a:rPr>
              <a:t> 	return</a:t>
            </a:r>
            <a:r>
              <a:rPr lang="vi-VN" sz="2000" dirty="0"/>
              <a:t> Bsearch_Recursion (list , key , left , mid-1);</a:t>
            </a:r>
          </a:p>
          <a:p>
            <a:r>
              <a:rPr lang="vi-VN" sz="2000" dirty="0">
                <a:solidFill>
                  <a:srgbClr val="00B0F0"/>
                </a:solidFill>
              </a:rPr>
              <a:t>       else </a:t>
            </a:r>
            <a:r>
              <a:rPr lang="vi-VN" sz="2000" dirty="0"/>
              <a:t>return</a:t>
            </a:r>
            <a:r>
              <a:rPr lang="vi-VN" sz="2000" dirty="0">
                <a:solidFill>
                  <a:srgbClr val="00B0F0"/>
                </a:solidFill>
              </a:rPr>
              <a:t> </a:t>
            </a:r>
            <a:r>
              <a:rPr lang="vi-VN" sz="2000" dirty="0"/>
              <a:t>Bsearch_Recursion (list , key , left , mid-1);</a:t>
            </a:r>
          </a:p>
          <a:p>
            <a:r>
              <a:rPr lang="vi-VN" sz="2000" dirty="0">
                <a:solidFill>
                  <a:srgbClr val="00B0F0"/>
                </a:solidFill>
              </a:rPr>
              <a:t>      }</a:t>
            </a:r>
          </a:p>
          <a:p>
            <a:r>
              <a:rPr lang="vi-VN" sz="2000" dirty="0">
                <a:solidFill>
                  <a:srgbClr val="00B0F0"/>
                </a:solidFill>
              </a:rPr>
              <a:t>     return </a:t>
            </a:r>
            <a:r>
              <a:rPr lang="vi-VN" sz="2000" dirty="0"/>
              <a:t>-1; </a:t>
            </a:r>
            <a:r>
              <a:rPr lang="vi-VN" sz="2000" dirty="0">
                <a:solidFill>
                  <a:srgbClr val="00B050"/>
                </a:solidFill>
              </a:rPr>
              <a:t>// không tìm thấy</a:t>
            </a:r>
            <a:endParaRPr lang="vi-VN" sz="2000" dirty="0">
              <a:solidFill>
                <a:srgbClr val="00B0F0"/>
              </a:solidFill>
            </a:endParaRPr>
          </a:p>
          <a:p>
            <a:r>
              <a:rPr lang="vi-VN" sz="2000" dirty="0">
                <a:solidFill>
                  <a:srgbClr val="00B0F0"/>
                </a:solidFill>
              </a:rPr>
              <a:t>}</a:t>
            </a:r>
          </a:p>
        </p:txBody>
      </p:sp>
    </p:spTree>
    <p:extLst>
      <p:ext uri="{BB962C8B-B14F-4D97-AF65-F5344CB8AC3E}">
        <p14:creationId xmlns:p14="http://schemas.microsoft.com/office/powerpoint/2010/main" val="30147379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7FC74-A0C5-3158-D045-4AF9767D18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A62647-25E1-8C07-29C9-640B61C752CD}"/>
              </a:ext>
            </a:extLst>
          </p:cNvPr>
          <p:cNvSpPr>
            <a:spLocks noGrp="1"/>
          </p:cNvSpPr>
          <p:nvPr>
            <p:ph type="title"/>
          </p:nvPr>
        </p:nvSpPr>
        <p:spPr>
          <a:xfrm>
            <a:off x="838200" y="266219"/>
            <a:ext cx="10389243" cy="1424470"/>
          </a:xfrm>
          <a:noFill/>
        </p:spPr>
        <p:txBody>
          <a:bodyPr anchor="ctr">
            <a:noAutofit/>
          </a:bodyPr>
          <a:lstStyle/>
          <a:p>
            <a:r>
              <a:rPr lang="en-US" dirty="0" err="1"/>
              <a:t>Phân</a:t>
            </a:r>
            <a:r>
              <a:rPr lang="en-US" dirty="0"/>
              <a:t> </a:t>
            </a:r>
            <a:r>
              <a:rPr lang="en-US" dirty="0" err="1"/>
              <a:t>tích</a:t>
            </a:r>
            <a:r>
              <a:rPr lang="en-US" dirty="0"/>
              <a:t>, </a:t>
            </a:r>
            <a:r>
              <a:rPr lang="en-US" dirty="0" err="1"/>
              <a:t>đánh</a:t>
            </a:r>
            <a:r>
              <a:rPr lang="en-US" dirty="0"/>
              <a:t> </a:t>
            </a:r>
            <a:r>
              <a:rPr lang="en-US" dirty="0" err="1"/>
              <a:t>giá</a:t>
            </a:r>
            <a:r>
              <a:rPr lang="en-US" dirty="0"/>
              <a:t> </a:t>
            </a:r>
            <a:r>
              <a:rPr lang="en-US" dirty="0" err="1"/>
              <a:t>thuật</a:t>
            </a:r>
            <a:r>
              <a:rPr lang="en-US" dirty="0"/>
              <a:t> </a:t>
            </a:r>
            <a:r>
              <a:rPr lang="en-US" dirty="0" err="1"/>
              <a:t>toán</a:t>
            </a:r>
            <a:r>
              <a:rPr lang="en-US" dirty="0"/>
              <a:t>:</a:t>
            </a:r>
          </a:p>
        </p:txBody>
      </p:sp>
      <p:sp>
        <p:nvSpPr>
          <p:cNvPr id="8" name="Content Placeholder 7">
            <a:extLst>
              <a:ext uri="{FF2B5EF4-FFF2-40B4-BE49-F238E27FC236}">
                <a16:creationId xmlns:a16="http://schemas.microsoft.com/office/drawing/2014/main" id="{6C6F2CC5-A3B9-0913-1294-7CCE2EDFEBED}"/>
              </a:ext>
            </a:extLst>
          </p:cNvPr>
          <p:cNvSpPr>
            <a:spLocks noGrp="1"/>
          </p:cNvSpPr>
          <p:nvPr>
            <p:ph sz="half" idx="1"/>
          </p:nvPr>
        </p:nvSpPr>
        <p:spPr>
          <a:xfrm>
            <a:off x="543560" y="5535876"/>
            <a:ext cx="11546840" cy="1055906"/>
          </a:xfrm>
          <a:noFill/>
        </p:spPr>
        <p:txBody>
          <a:bodyPr vert="horz" lIns="91440" tIns="45720" rIns="91440" bIns="45720" rtlCol="0" anchor="t">
            <a:noAutofit/>
          </a:bodyPr>
          <a:lstStyle/>
          <a:p>
            <a:r>
              <a:rPr lang="vi-VN" sz="2500" dirty="0">
                <a:latin typeface="Times New Roman" panose="02020603050405020304" pitchFamily="18" charset="0"/>
                <a:cs typeface="Times New Roman" panose="02020603050405020304" pitchFamily="18" charset="0"/>
              </a:rPr>
              <a:t>-</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Vậy</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giải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thuật</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tìm</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nhị</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phân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có</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độ</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phức</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tạp</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tính</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toán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cấp</a:t>
            </a:r>
            <a:r>
              <a:rPr lang="en-US" sz="2500" dirty="0">
                <a:latin typeface="Times New Roman" panose="02020603050405020304" pitchFamily="18" charset="0"/>
                <a:cs typeface="Times New Roman" panose="02020603050405020304" pitchFamily="18" charset="0"/>
              </a:rPr>
              <a:t> n: T(n) = O(log</a:t>
            </a:r>
            <a:r>
              <a:rPr lang="vi-VN" sz="2500" dirty="0">
                <a:latin typeface="Times New Roman" panose="02020603050405020304" pitchFamily="18" charset="0"/>
                <a:cs typeface="Times New Roman" panose="02020603050405020304" pitchFamily="18" charset="0"/>
              </a:rPr>
              <a:t> 2 </a:t>
            </a:r>
            <a:r>
              <a:rPr lang="en-US" sz="2500" dirty="0">
                <a:latin typeface="Times New Roman" panose="02020603050405020304" pitchFamily="18" charset="0"/>
                <a:cs typeface="Times New Roman" panose="02020603050405020304" pitchFamily="18" charset="0"/>
              </a:rPr>
              <a:t> n)</a:t>
            </a:r>
            <a:endParaRPr lang="vi-VN" sz="2500" dirty="0">
              <a:latin typeface="Times New Roman" panose="02020603050405020304" pitchFamily="18" charset="0"/>
              <a:cs typeface="Times New Roman" panose="02020603050405020304" pitchFamily="18" charset="0"/>
            </a:endParaRPr>
          </a:p>
          <a:p>
            <a:r>
              <a:rPr lang="vi-VN" sz="2500" dirty="0">
                <a:latin typeface="Times New Roman" panose="02020603050405020304" pitchFamily="18" charset="0"/>
                <a:cs typeface="Times New Roman" panose="02020603050405020304" pitchFamily="18" charset="0"/>
              </a:rPr>
              <a:t> 										</a:t>
            </a:r>
            <a:endParaRPr lang="en-US" sz="2500" dirty="0">
              <a:latin typeface="Times New Roman" panose="02020603050405020304" pitchFamily="18" charset="0"/>
              <a:cs typeface="Times New Roman" panose="02020603050405020304" pitchFamily="18" charset="0"/>
            </a:endParaRPr>
          </a:p>
        </p:txBody>
      </p:sp>
      <p:graphicFrame>
        <p:nvGraphicFramePr>
          <p:cNvPr id="3" name="Table Placeholder 2">
            <a:extLst>
              <a:ext uri="{FF2B5EF4-FFF2-40B4-BE49-F238E27FC236}">
                <a16:creationId xmlns:a16="http://schemas.microsoft.com/office/drawing/2014/main" id="{0411E0CE-D0FF-557F-AB65-34D049507E69}"/>
              </a:ext>
            </a:extLst>
          </p:cNvPr>
          <p:cNvGraphicFramePr>
            <a:graphicFrameLocks noGrp="1"/>
          </p:cNvGraphicFramePr>
          <p:nvPr>
            <p:ph type="tbl" sz="quarter" idx="13"/>
            <p:extLst>
              <p:ext uri="{D42A27DB-BD31-4B8C-83A1-F6EECF244321}">
                <p14:modId xmlns:p14="http://schemas.microsoft.com/office/powerpoint/2010/main" val="209870687"/>
              </p:ext>
            </p:extLst>
          </p:nvPr>
        </p:nvGraphicFramePr>
        <p:xfrm>
          <a:off x="304800" y="1473200"/>
          <a:ext cx="11049000" cy="3789680"/>
        </p:xfrm>
        <a:graphic>
          <a:graphicData uri="http://schemas.openxmlformats.org/drawingml/2006/table">
            <a:tbl>
              <a:tblPr firstRow="1" bandRow="1">
                <a:tableStyleId>{912C8C85-51F0-491E-9774-3900AFEF0FD7}</a:tableStyleId>
              </a:tblPr>
              <a:tblGrid>
                <a:gridCol w="2489200">
                  <a:extLst>
                    <a:ext uri="{9D8B030D-6E8A-4147-A177-3AD203B41FA5}">
                      <a16:colId xmlns:a16="http://schemas.microsoft.com/office/drawing/2014/main" val="127040821"/>
                    </a:ext>
                  </a:extLst>
                </a:gridCol>
                <a:gridCol w="3048000">
                  <a:extLst>
                    <a:ext uri="{9D8B030D-6E8A-4147-A177-3AD203B41FA5}">
                      <a16:colId xmlns:a16="http://schemas.microsoft.com/office/drawing/2014/main" val="149845700"/>
                    </a:ext>
                  </a:extLst>
                </a:gridCol>
                <a:gridCol w="5511800">
                  <a:extLst>
                    <a:ext uri="{9D8B030D-6E8A-4147-A177-3AD203B41FA5}">
                      <a16:colId xmlns:a16="http://schemas.microsoft.com/office/drawing/2014/main" val="3119692462"/>
                    </a:ext>
                  </a:extLst>
                </a:gridCol>
              </a:tblGrid>
              <a:tr h="947420">
                <a:tc>
                  <a:txBody>
                    <a:bodyPr/>
                    <a:lstStyle/>
                    <a:p>
                      <a:pPr algn="ctr"/>
                      <a:r>
                        <a:rPr lang="vi-VN" b="1" dirty="0">
                          <a:latin typeface="Times New Roman" panose="02020603050405020304" pitchFamily="18" charset="0"/>
                          <a:cs typeface="Times New Roman" panose="02020603050405020304" pitchFamily="18" charset="0"/>
                        </a:rPr>
                        <a:t>Trường hợp</a:t>
                      </a:r>
                      <a:endParaRPr lang="en-US" b="1" i="0" dirty="0">
                        <a:latin typeface="Times New Roman" panose="02020603050405020304" pitchFamily="18" charset="0"/>
                        <a:cs typeface="Times New Roman" panose="02020603050405020304" pitchFamily="18" charset="0"/>
                      </a:endParaRPr>
                    </a:p>
                  </a:txBody>
                  <a:tcPr anchor="ctr"/>
                </a:tc>
                <a:tc>
                  <a:txBody>
                    <a:bodyPr/>
                    <a:lstStyle/>
                    <a:p>
                      <a:pPr algn="ctr"/>
                      <a:r>
                        <a:rPr lang="vi-VN" b="1" dirty="0">
                          <a:latin typeface="Times New Roman" panose="02020603050405020304" pitchFamily="18" charset="0"/>
                          <a:cs typeface="Times New Roman" panose="02020603050405020304" pitchFamily="18" charset="0"/>
                        </a:rPr>
                        <a:t>Số lần so sánh</a:t>
                      </a:r>
                      <a:endParaRPr lang="en-US" b="1" i="0" dirty="0">
                        <a:latin typeface="Times New Roman" panose="02020603050405020304" pitchFamily="18" charset="0"/>
                        <a:cs typeface="Times New Roman" panose="02020603050405020304" pitchFamily="18" charset="0"/>
                      </a:endParaRPr>
                    </a:p>
                  </a:txBody>
                  <a:tcPr anchor="ctr"/>
                </a:tc>
                <a:tc>
                  <a:txBody>
                    <a:bodyPr/>
                    <a:lstStyle/>
                    <a:p>
                      <a:pPr algn="ctr"/>
                      <a:r>
                        <a:rPr lang="vi-VN" b="1" dirty="0">
                          <a:latin typeface="Times New Roman" panose="02020603050405020304" pitchFamily="18" charset="0"/>
                          <a:cs typeface="Times New Roman" panose="02020603050405020304" pitchFamily="18" charset="0"/>
                        </a:rPr>
                        <a:t>Giải thích</a:t>
                      </a:r>
                      <a:endParaRPr lang="en-US" b="1" i="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98013591"/>
                  </a:ext>
                </a:extLst>
              </a:tr>
              <a:tr h="947420">
                <a:tc>
                  <a:txBody>
                    <a:bodyPr/>
                    <a:lstStyle/>
                    <a:p>
                      <a:pPr algn="ctr"/>
                      <a:r>
                        <a:rPr lang="vi-VN" b="0" dirty="0">
                          <a:latin typeface="Times New Roman" panose="02020603050405020304" pitchFamily="18" charset="0"/>
                          <a:cs typeface="Times New Roman" panose="02020603050405020304" pitchFamily="18" charset="0"/>
                        </a:rPr>
                        <a:t>Tốt nhất</a:t>
                      </a:r>
                      <a:endParaRPr lang="en-US" b="0" i="0" dirty="0">
                        <a:latin typeface="Times New Roman" panose="02020603050405020304" pitchFamily="18" charset="0"/>
                        <a:cs typeface="Times New Roman" panose="02020603050405020304" pitchFamily="18" charset="0"/>
                      </a:endParaRPr>
                    </a:p>
                  </a:txBody>
                  <a:tcPr anchor="ctr"/>
                </a:tc>
                <a:tc>
                  <a:txBody>
                    <a:bodyPr/>
                    <a:lstStyle/>
                    <a:p>
                      <a:pPr algn="ctr"/>
                      <a:r>
                        <a:rPr lang="vi-VN" b="0" dirty="0">
                          <a:latin typeface="Times New Roman" panose="02020603050405020304" pitchFamily="18" charset="0"/>
                          <a:cs typeface="Times New Roman" panose="02020603050405020304" pitchFamily="18" charset="0"/>
                        </a:rPr>
                        <a:t>1 </a:t>
                      </a:r>
                      <a:endParaRPr lang="en-US" b="0" i="0"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giữa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mảng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trị</a:t>
                      </a:r>
                      <a:r>
                        <a:rPr lang="en-US" dirty="0">
                          <a:latin typeface="Times New Roman" panose="02020603050405020304" pitchFamily="18" charset="0"/>
                          <a:cs typeface="Times New Roman" panose="02020603050405020304" pitchFamily="18" charset="0"/>
                        </a:rPr>
                        <a:t> x</a:t>
                      </a:r>
                      <a:endParaRPr lang="en-US" b="0" i="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873867931"/>
                  </a:ext>
                </a:extLst>
              </a:tr>
              <a:tr h="947420">
                <a:tc>
                  <a:txBody>
                    <a:bodyPr/>
                    <a:lstStyle/>
                    <a:p>
                      <a:pPr algn="ctr"/>
                      <a:r>
                        <a:rPr lang="vi-VN" b="0" dirty="0">
                          <a:latin typeface="Times New Roman" panose="02020603050405020304" pitchFamily="18" charset="0"/>
                          <a:cs typeface="Times New Roman" panose="02020603050405020304" pitchFamily="18" charset="0"/>
                        </a:rPr>
                        <a:t>Xấu nhất</a:t>
                      </a:r>
                      <a:endParaRPr lang="en-US" b="0" i="0"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latin typeface="Times New Roman" panose="02020603050405020304" pitchFamily="18" charset="0"/>
                          <a:cs typeface="Times New Roman" panose="02020603050405020304" pitchFamily="18" charset="0"/>
                        </a:rPr>
                        <a:t>log 2 n </a:t>
                      </a:r>
                      <a:endParaRPr lang="en-US" b="0" i="0"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err="1">
                          <a:latin typeface="Times New Roman" panose="02020603050405020304" pitchFamily="18" charset="0"/>
                          <a:cs typeface="Times New Roman" panose="02020603050405020304" pitchFamily="18" charset="0"/>
                        </a:rPr>
                        <a:t>Không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x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mảng</a:t>
                      </a:r>
                      <a:r>
                        <a:rPr lang="en-US" dirty="0">
                          <a:latin typeface="Times New Roman" panose="02020603050405020304" pitchFamily="18" charset="0"/>
                          <a:cs typeface="Times New Roman" panose="02020603050405020304" pitchFamily="18" charset="0"/>
                        </a:rPr>
                        <a:t> </a:t>
                      </a:r>
                      <a:endParaRPr lang="en-US" b="0" i="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85209771"/>
                  </a:ext>
                </a:extLst>
              </a:tr>
              <a:tr h="947420">
                <a:tc>
                  <a:txBody>
                    <a:bodyPr/>
                    <a:lstStyle/>
                    <a:p>
                      <a:pPr algn="ctr"/>
                      <a:r>
                        <a:rPr lang="vi-VN" b="0" dirty="0">
                          <a:latin typeface="Times New Roman" panose="02020603050405020304" pitchFamily="18" charset="0"/>
                          <a:cs typeface="Times New Roman" panose="02020603050405020304" pitchFamily="18" charset="0"/>
                        </a:rPr>
                        <a:t>Trung bình</a:t>
                      </a:r>
                      <a:endParaRPr lang="en-US" b="0" i="0"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latin typeface="Times New Roman" panose="02020603050405020304" pitchFamily="18" charset="0"/>
                          <a:cs typeface="Times New Roman" panose="02020603050405020304" pitchFamily="18" charset="0"/>
                        </a:rPr>
                        <a:t>log </a:t>
                      </a:r>
                      <a:r>
                        <a:rPr lang="vi-V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(n/2)</a:t>
                      </a:r>
                      <a:endParaRPr lang="vi-VN" dirty="0">
                        <a:latin typeface="Times New Roman" panose="02020603050405020304" pitchFamily="18" charset="0"/>
                        <a:cs typeface="Times New Roman" panose="02020603050405020304" pitchFamily="18" charset="0"/>
                      </a:endParaRPr>
                    </a:p>
                    <a:p>
                      <a:pPr algn="ctr"/>
                      <a:r>
                        <a:rPr lang="vi-VN"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a:t>
                      </a:r>
                      <a:endParaRPr lang="en-US" b="0" i="0" dirty="0">
                        <a:latin typeface="Times New Roman" panose="02020603050405020304" pitchFamily="18" charset="0"/>
                        <a:cs typeface="Times New Roman" panose="02020603050405020304" pitchFamily="18" charset="0"/>
                      </a:endParaRPr>
                    </a:p>
                  </a:txBody>
                  <a:tcPr anchor="ctr"/>
                </a:tc>
                <a:tc>
                  <a:txBody>
                    <a:bodyPr/>
                    <a:lstStyle/>
                    <a:p>
                      <a:pPr algn="ctr"/>
                      <a:r>
                        <a:rPr lang="vi-VN" dirty="0">
                          <a:latin typeface="Times New Roman" panose="02020603050405020304" pitchFamily="18" charset="0"/>
                          <a:cs typeface="Times New Roman" panose="02020603050405020304" pitchFamily="18" charset="0"/>
                        </a:rPr>
                        <a:t>Giả sử xác suất các phần tử trong mảng nhận giá trị x là như nhau </a:t>
                      </a:r>
                      <a:endParaRPr lang="en-US" b="0" i="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61031278"/>
                  </a:ext>
                </a:extLst>
              </a:tr>
            </a:tbl>
          </a:graphicData>
        </a:graphic>
      </p:graphicFrame>
    </p:spTree>
    <p:extLst>
      <p:ext uri="{BB962C8B-B14F-4D97-AF65-F5344CB8AC3E}">
        <p14:creationId xmlns:p14="http://schemas.microsoft.com/office/powerpoint/2010/main" val="27583471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C61CC16-17FE-0648-0F43-EAF814B695E7}"/>
              </a:ext>
            </a:extLst>
          </p:cNvPr>
          <p:cNvSpPr>
            <a:spLocks noGrp="1"/>
          </p:cNvSpPr>
          <p:nvPr>
            <p:ph type="ctrTitle"/>
          </p:nvPr>
        </p:nvSpPr>
        <p:spPr>
          <a:xfrm>
            <a:off x="5959675" y="2450939"/>
            <a:ext cx="4803494" cy="1956122"/>
          </a:xfrm>
        </p:spPr>
        <p:txBody>
          <a:bodyPr/>
          <a:lstStyle/>
          <a:p>
            <a:r>
              <a:rPr lang="vi-VN" dirty="0">
                <a:latin typeface="Times New Roman" panose="02020603050405020304" pitchFamily="18" charset="0"/>
                <a:cs typeface="Times New Roman" panose="02020603050405020304" pitchFamily="18" charset="0"/>
              </a:rPr>
              <a:t>4. So sách giữa </a:t>
            </a:r>
            <a:br>
              <a:rPr lang="vi-VN" dirty="0">
                <a:latin typeface="Times New Roman" panose="02020603050405020304" pitchFamily="18" charset="0"/>
                <a:cs typeface="Times New Roman" panose="02020603050405020304" pitchFamily="18" charset="0"/>
              </a:rPr>
            </a:br>
            <a:r>
              <a:rPr lang="vi-VN" dirty="0">
                <a:latin typeface="Times New Roman" panose="02020603050405020304" pitchFamily="18" charset="0"/>
                <a:cs typeface="Times New Roman" panose="02020603050405020304" pitchFamily="18" charset="0"/>
              </a:rPr>
              <a:t>thuật toán tìm kiếm tuần tự và nhị phân</a:t>
            </a:r>
            <a:br>
              <a:rPr lang="en-US" dirty="0">
                <a:latin typeface="Times New Roman" panose="02020603050405020304" pitchFamily="18" charset="0"/>
                <a:cs typeface="Times New Roman" panose="02020603050405020304" pitchFamily="18" charset="0"/>
              </a:rPr>
            </a:br>
            <a:endParaRPr lang="en-US" dirty="0"/>
          </a:p>
        </p:txBody>
      </p:sp>
      <p:pic>
        <p:nvPicPr>
          <p:cNvPr id="38" name="Picture Placeholder 37" descr="A person writing on a glass board">
            <a:extLst>
              <a:ext uri="{FF2B5EF4-FFF2-40B4-BE49-F238E27FC236}">
                <a16:creationId xmlns:a16="http://schemas.microsoft.com/office/drawing/2014/main" id="{BB1CE701-01CA-6742-A69C-8DE01DEABF86}"/>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a:stretch/>
        </p:blipFill>
        <p:spPr>
          <a:xfrm>
            <a:off x="1308563" y="1146638"/>
            <a:ext cx="4389120" cy="4572000"/>
          </a:xfrm>
        </p:spPr>
      </p:pic>
    </p:spTree>
    <p:extLst>
      <p:ext uri="{BB962C8B-B14F-4D97-AF65-F5344CB8AC3E}">
        <p14:creationId xmlns:p14="http://schemas.microsoft.com/office/powerpoint/2010/main" val="21919256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able Placeholder 3">
            <a:extLst>
              <a:ext uri="{FF2B5EF4-FFF2-40B4-BE49-F238E27FC236}">
                <a16:creationId xmlns:a16="http://schemas.microsoft.com/office/drawing/2014/main" id="{81012411-049E-B618-E9BE-800979D76AFD}"/>
              </a:ext>
            </a:extLst>
          </p:cNvPr>
          <p:cNvGraphicFramePr>
            <a:graphicFrameLocks noGrp="1"/>
          </p:cNvGraphicFramePr>
          <p:nvPr>
            <p:ph type="tbl" sz="quarter" idx="13"/>
            <p:extLst>
              <p:ext uri="{D42A27DB-BD31-4B8C-83A1-F6EECF244321}">
                <p14:modId xmlns:p14="http://schemas.microsoft.com/office/powerpoint/2010/main" val="3141765705"/>
              </p:ext>
            </p:extLst>
          </p:nvPr>
        </p:nvGraphicFramePr>
        <p:xfrm>
          <a:off x="0" y="1"/>
          <a:ext cx="12192000" cy="6832977"/>
        </p:xfrm>
        <a:graphic>
          <a:graphicData uri="http://schemas.openxmlformats.org/drawingml/2006/table">
            <a:tbl>
              <a:tblPr firstRow="1" bandRow="1">
                <a:tableStyleId>{912C8C85-51F0-491E-9774-3900AFEF0FD7}</a:tableStyleId>
              </a:tblPr>
              <a:tblGrid>
                <a:gridCol w="2814320">
                  <a:extLst>
                    <a:ext uri="{9D8B030D-6E8A-4147-A177-3AD203B41FA5}">
                      <a16:colId xmlns:a16="http://schemas.microsoft.com/office/drawing/2014/main" val="2382218087"/>
                    </a:ext>
                  </a:extLst>
                </a:gridCol>
                <a:gridCol w="4744720">
                  <a:extLst>
                    <a:ext uri="{9D8B030D-6E8A-4147-A177-3AD203B41FA5}">
                      <a16:colId xmlns:a16="http://schemas.microsoft.com/office/drawing/2014/main" val="3953468724"/>
                    </a:ext>
                  </a:extLst>
                </a:gridCol>
                <a:gridCol w="4632960">
                  <a:extLst>
                    <a:ext uri="{9D8B030D-6E8A-4147-A177-3AD203B41FA5}">
                      <a16:colId xmlns:a16="http://schemas.microsoft.com/office/drawing/2014/main" val="4277526474"/>
                    </a:ext>
                  </a:extLst>
                </a:gridCol>
              </a:tblGrid>
              <a:tr h="610855">
                <a:tc>
                  <a:txBody>
                    <a:bodyPr/>
                    <a:lstStyle/>
                    <a:p>
                      <a:pPr algn="ctr"/>
                      <a:r>
                        <a:rPr lang="vi-VN" b="0" dirty="0">
                          <a:latin typeface="Times New Roman" panose="02020603050405020304" pitchFamily="18" charset="0"/>
                          <a:cs typeface="Times New Roman" panose="02020603050405020304" pitchFamily="18" charset="0"/>
                        </a:rPr>
                        <a:t>Tiêu chí</a:t>
                      </a:r>
                      <a:endParaRPr lang="en-US" b="0" i="0" dirty="0">
                        <a:latin typeface="Times New Roman" panose="02020603050405020304" pitchFamily="18" charset="0"/>
                        <a:cs typeface="Times New Roman" panose="02020603050405020304" pitchFamily="18" charset="0"/>
                      </a:endParaRPr>
                    </a:p>
                  </a:txBody>
                  <a:tcPr anchor="ctr"/>
                </a:tc>
                <a:tc>
                  <a:txBody>
                    <a:bodyPr/>
                    <a:lstStyle/>
                    <a:p>
                      <a:pPr algn="ctr"/>
                      <a:r>
                        <a:rPr lang="vi-VN" b="0" dirty="0">
                          <a:latin typeface="Times New Roman" panose="02020603050405020304" pitchFamily="18" charset="0"/>
                          <a:cs typeface="Times New Roman" panose="02020603050405020304" pitchFamily="18" charset="0"/>
                        </a:rPr>
                        <a:t>Tìm kiếm tuần tự</a:t>
                      </a:r>
                      <a:endParaRPr lang="en-US" b="0" i="0"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b="1" kern="1200" dirty="0">
                          <a:solidFill>
                            <a:schemeClr val="bg1"/>
                          </a:solidFill>
                          <a:effectLst/>
                          <a:latin typeface="Times New Roman" panose="02020603050405020304" pitchFamily="18" charset="0"/>
                          <a:ea typeface="+mn-ea"/>
                          <a:cs typeface="Times New Roman" panose="02020603050405020304" pitchFamily="18" charset="0"/>
                        </a:rPr>
                        <a:t>Tìm </a:t>
                      </a:r>
                      <a:r>
                        <a:rPr lang="en-US" sz="1800" b="1" kern="1200" dirty="0" err="1">
                          <a:solidFill>
                            <a:schemeClr val="bg1"/>
                          </a:solidFill>
                          <a:effectLst/>
                          <a:latin typeface="Times New Roman" panose="02020603050405020304" pitchFamily="18" charset="0"/>
                          <a:ea typeface="+mn-ea"/>
                          <a:cs typeface="Times New Roman" panose="02020603050405020304" pitchFamily="18" charset="0"/>
                        </a:rPr>
                        <a:t>kiếm</a:t>
                      </a:r>
                      <a:r>
                        <a:rPr lang="en-US" sz="1800" b="1" kern="1200" dirty="0">
                          <a:solidFill>
                            <a:schemeClr val="bg1"/>
                          </a:solidFill>
                          <a:effectLst/>
                          <a:latin typeface="Times New Roman" panose="02020603050405020304" pitchFamily="18" charset="0"/>
                          <a:ea typeface="+mn-ea"/>
                          <a:cs typeface="Times New Roman" panose="02020603050405020304" pitchFamily="18" charset="0"/>
                        </a:rPr>
                        <a:t> </a:t>
                      </a:r>
                      <a:r>
                        <a:rPr lang="en-US" sz="1800" b="1" kern="1200" dirty="0" err="1">
                          <a:solidFill>
                            <a:schemeClr val="bg1"/>
                          </a:solidFill>
                          <a:effectLst/>
                          <a:latin typeface="Times New Roman" panose="02020603050405020304" pitchFamily="18" charset="0"/>
                          <a:ea typeface="+mn-ea"/>
                          <a:cs typeface="Times New Roman" panose="02020603050405020304" pitchFamily="18" charset="0"/>
                        </a:rPr>
                        <a:t>nhị</a:t>
                      </a:r>
                      <a:r>
                        <a:rPr lang="en-US" sz="1800" b="1" kern="1200" dirty="0">
                          <a:solidFill>
                            <a:schemeClr val="bg1"/>
                          </a:solidFill>
                          <a:effectLst/>
                          <a:latin typeface="Times New Roman" panose="02020603050405020304" pitchFamily="18" charset="0"/>
                          <a:ea typeface="+mn-ea"/>
                          <a:cs typeface="Times New Roman" panose="02020603050405020304" pitchFamily="18" charset="0"/>
                        </a:rPr>
                        <a:t> </a:t>
                      </a:r>
                      <a:r>
                        <a:rPr lang="en-US" sz="1800" b="1" kern="1200" dirty="0" err="1">
                          <a:solidFill>
                            <a:schemeClr val="bg1"/>
                          </a:solidFill>
                          <a:effectLst/>
                          <a:latin typeface="Times New Roman" panose="02020603050405020304" pitchFamily="18" charset="0"/>
                          <a:ea typeface="+mn-ea"/>
                          <a:cs typeface="Times New Roman" panose="02020603050405020304" pitchFamily="18" charset="0"/>
                        </a:rPr>
                        <a:t>phân</a:t>
                      </a:r>
                      <a:endParaRPr lang="en-US" b="0" i="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857107962"/>
                  </a:ext>
                </a:extLst>
              </a:tr>
              <a:tr h="1132498">
                <a:tc>
                  <a:txBody>
                    <a:bodyPr/>
                    <a:lstStyle/>
                    <a:p>
                      <a:pPr algn="ctr"/>
                      <a:r>
                        <a:rPr lang="en-US" sz="1800" b="1" kern="1200" dirty="0">
                          <a:solidFill>
                            <a:schemeClr val="tx1"/>
                          </a:solidFill>
                          <a:effectLst/>
                          <a:latin typeface="Times New Roman" panose="02020603050405020304" pitchFamily="18" charset="0"/>
                          <a:ea typeface="+mn-ea"/>
                          <a:cs typeface="Times New Roman" panose="02020603050405020304" pitchFamily="18" charset="0"/>
                        </a:rPr>
                        <a:t>Nguyên </a:t>
                      </a:r>
                      <a:r>
                        <a:rPr lang="en-US" sz="1800" b="1" kern="1200" dirty="0" err="1">
                          <a:solidFill>
                            <a:schemeClr val="tx1"/>
                          </a:solidFill>
                          <a:effectLst/>
                          <a:latin typeface="Times New Roman" panose="02020603050405020304" pitchFamily="18" charset="0"/>
                          <a:ea typeface="+mn-ea"/>
                          <a:cs typeface="Times New Roman" panose="02020603050405020304" pitchFamily="18" charset="0"/>
                        </a:rPr>
                        <a:t>lý</a:t>
                      </a:r>
                      <a:r>
                        <a:rPr lang="en-US" sz="1800" b="1"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b="1" kern="1200" dirty="0" err="1">
                          <a:solidFill>
                            <a:schemeClr val="tx1"/>
                          </a:solidFill>
                          <a:effectLst/>
                          <a:latin typeface="Times New Roman" panose="02020603050405020304" pitchFamily="18" charset="0"/>
                          <a:ea typeface="+mn-ea"/>
                          <a:cs typeface="Times New Roman" panose="02020603050405020304" pitchFamily="18" charset="0"/>
                        </a:rPr>
                        <a:t>hoạt</a:t>
                      </a:r>
                      <a:r>
                        <a:rPr lang="en-US" sz="1800" b="1"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b="1" kern="1200" dirty="0" err="1">
                          <a:solidFill>
                            <a:schemeClr val="tx1"/>
                          </a:solidFill>
                          <a:effectLst/>
                          <a:latin typeface="Times New Roman" panose="02020603050405020304" pitchFamily="18" charset="0"/>
                          <a:ea typeface="+mn-ea"/>
                          <a:cs typeface="Times New Roman" panose="02020603050405020304" pitchFamily="18" charset="0"/>
                        </a:rPr>
                        <a:t>động</a:t>
                      </a:r>
                      <a:endParaRPr lang="en-US" b="0" i="0"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Duyệt</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từng</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phần</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tử</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từ</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đầu</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đến</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cuối</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đến</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khi</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tìm</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thấy</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hoặc</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hết</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dãy</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a:t>
                      </a:r>
                      <a:endParaRPr lang="en-US" b="0" i="0"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kern="1200" dirty="0">
                          <a:solidFill>
                            <a:schemeClr val="tx1"/>
                          </a:solidFill>
                          <a:effectLst/>
                          <a:latin typeface="Times New Roman" panose="02020603050405020304" pitchFamily="18" charset="0"/>
                          <a:ea typeface="+mn-ea"/>
                          <a:cs typeface="Times New Roman" panose="02020603050405020304" pitchFamily="18" charset="0"/>
                        </a:rPr>
                        <a:t>Chia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dãy</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thành</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hai</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phần</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so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sánh</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phần</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tử</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giữa</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loại</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bỏ</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một</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nửa</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ở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mỗi</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bước</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Lặp</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lại</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quá</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trình</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này</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đến</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khi</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tìm</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thấy</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hoặc</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dãy</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rỗng</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a:t>
                      </a:r>
                      <a:endParaRPr lang="en-US" b="0" i="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71386868"/>
                  </a:ext>
                </a:extLst>
              </a:tr>
              <a:tr h="624314">
                <a:tc>
                  <a:txBody>
                    <a:bodyPr/>
                    <a:lstStyle/>
                    <a:p>
                      <a:pPr algn="ctr"/>
                      <a:r>
                        <a:rPr lang="en-US" sz="1800" b="1" kern="1200" dirty="0" err="1">
                          <a:solidFill>
                            <a:schemeClr val="tx1"/>
                          </a:solidFill>
                          <a:effectLst/>
                          <a:latin typeface="Times New Roman" panose="02020603050405020304" pitchFamily="18" charset="0"/>
                          <a:ea typeface="+mn-ea"/>
                          <a:cs typeface="Times New Roman" panose="02020603050405020304" pitchFamily="18" charset="0"/>
                        </a:rPr>
                        <a:t>Điều</a:t>
                      </a:r>
                      <a:r>
                        <a:rPr lang="en-US" sz="1800" b="1"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b="1" kern="1200" dirty="0" err="1">
                          <a:solidFill>
                            <a:schemeClr val="tx1"/>
                          </a:solidFill>
                          <a:effectLst/>
                          <a:latin typeface="Times New Roman" panose="02020603050405020304" pitchFamily="18" charset="0"/>
                          <a:ea typeface="+mn-ea"/>
                          <a:cs typeface="Times New Roman" panose="02020603050405020304" pitchFamily="18" charset="0"/>
                        </a:rPr>
                        <a:t>kiện</a:t>
                      </a:r>
                      <a:r>
                        <a:rPr lang="en-US" sz="1800" b="1"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b="1" kern="1200" dirty="0" err="1">
                          <a:solidFill>
                            <a:schemeClr val="tx1"/>
                          </a:solidFill>
                          <a:effectLst/>
                          <a:latin typeface="Times New Roman" panose="02020603050405020304" pitchFamily="18" charset="0"/>
                          <a:ea typeface="+mn-ea"/>
                          <a:cs typeface="Times New Roman" panose="02020603050405020304" pitchFamily="18" charset="0"/>
                        </a:rPr>
                        <a:t>tiên</a:t>
                      </a:r>
                      <a:r>
                        <a:rPr lang="en-US" sz="1800" b="1"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b="1" kern="1200" dirty="0" err="1">
                          <a:solidFill>
                            <a:schemeClr val="tx1"/>
                          </a:solidFill>
                          <a:effectLst/>
                          <a:latin typeface="Times New Roman" panose="02020603050405020304" pitchFamily="18" charset="0"/>
                          <a:ea typeface="+mn-ea"/>
                          <a:cs typeface="Times New Roman" panose="02020603050405020304" pitchFamily="18" charset="0"/>
                        </a:rPr>
                        <a:t>quyết</a:t>
                      </a:r>
                      <a:endParaRPr lang="en-US" b="0" i="0"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yêu</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cầu</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dãy</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phải</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được</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sắp</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xếp</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a:t>
                      </a:r>
                      <a:endParaRPr lang="en-US" b="0" i="0"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Yêu</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cầu</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dãy</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phải</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được</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sắp</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xếp</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trước</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khi</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tìm</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kiếm</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a:t>
                      </a:r>
                      <a:endParaRPr lang="en-US" b="0" i="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80626418"/>
                  </a:ext>
                </a:extLst>
              </a:tr>
              <a:tr h="624314">
                <a:tc>
                  <a:txBody>
                    <a:bodyPr/>
                    <a:lstStyle/>
                    <a:p>
                      <a:pPr algn="ctr"/>
                      <a:r>
                        <a:rPr lang="en-US" sz="1800" b="1" kern="1200" dirty="0" err="1">
                          <a:solidFill>
                            <a:schemeClr val="tx1"/>
                          </a:solidFill>
                          <a:effectLst/>
                          <a:latin typeface="Times New Roman" panose="02020603050405020304" pitchFamily="18" charset="0"/>
                          <a:ea typeface="+mn-ea"/>
                          <a:cs typeface="Times New Roman" panose="02020603050405020304" pitchFamily="18" charset="0"/>
                        </a:rPr>
                        <a:t>Độ</a:t>
                      </a:r>
                      <a:r>
                        <a:rPr lang="en-US" sz="1800" b="1"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b="1" kern="1200" dirty="0" err="1">
                          <a:solidFill>
                            <a:schemeClr val="tx1"/>
                          </a:solidFill>
                          <a:effectLst/>
                          <a:latin typeface="Times New Roman" panose="02020603050405020304" pitchFamily="18" charset="0"/>
                          <a:ea typeface="+mn-ea"/>
                          <a:cs typeface="Times New Roman" panose="02020603050405020304" pitchFamily="18" charset="0"/>
                        </a:rPr>
                        <a:t>phức</a:t>
                      </a:r>
                      <a:r>
                        <a:rPr lang="en-US" sz="1800" b="1"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b="1" kern="1200" dirty="0" err="1">
                          <a:solidFill>
                            <a:schemeClr val="tx1"/>
                          </a:solidFill>
                          <a:effectLst/>
                          <a:latin typeface="Times New Roman" panose="02020603050405020304" pitchFamily="18" charset="0"/>
                          <a:ea typeface="+mn-ea"/>
                          <a:cs typeface="Times New Roman" panose="02020603050405020304" pitchFamily="18" charset="0"/>
                        </a:rPr>
                        <a:t>tạp</a:t>
                      </a:r>
                      <a:endParaRPr lang="en-US" b="0" i="0"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kern="1200" dirty="0">
                          <a:solidFill>
                            <a:schemeClr val="tx1"/>
                          </a:solidFill>
                          <a:effectLst/>
                          <a:latin typeface="Times New Roman" panose="02020603050405020304" pitchFamily="18" charset="0"/>
                          <a:ea typeface="+mn-ea"/>
                          <a:cs typeface="Times New Roman" panose="02020603050405020304" pitchFamily="18" charset="0"/>
                        </a:rPr>
                        <a:t>𝑂(𝑛)</a:t>
                      </a:r>
                    </a:p>
                    <a:p>
                      <a:pPr algn="ctr"/>
                      <a:r>
                        <a:rPr lang="en-US" sz="1800" kern="1200" dirty="0">
                          <a:solidFill>
                            <a:schemeClr val="tx1"/>
                          </a:solidFill>
                          <a:effectLst/>
                          <a:latin typeface="Times New Roman" panose="02020603050405020304" pitchFamily="18" charset="0"/>
                          <a:ea typeface="+mn-ea"/>
                          <a:cs typeface="Times New Roman" panose="02020603050405020304" pitchFamily="18" charset="0"/>
                        </a:rPr>
                        <a:t>(</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trong</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trường</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hợp</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xấu</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nhất</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a:t>
                      </a:r>
                      <a:endParaRPr lang="en-US" b="0" i="0"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kern="1200" dirty="0">
                          <a:solidFill>
                            <a:schemeClr val="tx1"/>
                          </a:solidFill>
                          <a:effectLst/>
                          <a:latin typeface="Times New Roman" panose="02020603050405020304" pitchFamily="18" charset="0"/>
                          <a:ea typeface="+mn-ea"/>
                          <a:cs typeface="Times New Roman" panose="02020603050405020304" pitchFamily="18" charset="0"/>
                        </a:rPr>
                        <a:t>𝑂(𝑙𝑜𝑔𝑛)</a:t>
                      </a:r>
                    </a:p>
                    <a:p>
                      <a:pPr algn="ctr"/>
                      <a:r>
                        <a:rPr lang="en-US" sz="1800" kern="1200" dirty="0">
                          <a:solidFill>
                            <a:schemeClr val="tx1"/>
                          </a:solidFill>
                          <a:effectLst/>
                          <a:latin typeface="Times New Roman" panose="02020603050405020304" pitchFamily="18" charset="0"/>
                          <a:ea typeface="+mn-ea"/>
                          <a:cs typeface="Times New Roman" panose="02020603050405020304" pitchFamily="18" charset="0"/>
                        </a:rPr>
                        <a:t>(</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trong</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trường</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hợp</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xấu</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nhất</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a:t>
                      </a:r>
                      <a:endParaRPr lang="en-US" b="0" i="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132482967"/>
                  </a:ext>
                </a:extLst>
              </a:tr>
              <a:tr h="624314">
                <a:tc>
                  <a:txBody>
                    <a:bodyPr/>
                    <a:lstStyle/>
                    <a:p>
                      <a:pPr algn="ctr"/>
                      <a:r>
                        <a:rPr lang="en-US" sz="1800" b="1" kern="1200" dirty="0">
                          <a:solidFill>
                            <a:schemeClr val="tx1"/>
                          </a:solidFill>
                          <a:effectLst/>
                          <a:latin typeface="Times New Roman" panose="02020603050405020304" pitchFamily="18" charset="0"/>
                          <a:ea typeface="+mn-ea"/>
                          <a:cs typeface="Times New Roman" panose="02020603050405020304" pitchFamily="18" charset="0"/>
                        </a:rPr>
                        <a:t>Hiệu </a:t>
                      </a:r>
                      <a:r>
                        <a:rPr lang="en-US" sz="1800" b="1" kern="1200" dirty="0" err="1">
                          <a:solidFill>
                            <a:schemeClr val="tx1"/>
                          </a:solidFill>
                          <a:effectLst/>
                          <a:latin typeface="Times New Roman" panose="02020603050405020304" pitchFamily="18" charset="0"/>
                          <a:ea typeface="+mn-ea"/>
                          <a:cs typeface="Times New Roman" panose="02020603050405020304" pitchFamily="18" charset="0"/>
                        </a:rPr>
                        <a:t>suất</a:t>
                      </a:r>
                      <a:endParaRPr lang="en-US" b="0" i="0"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Chậm</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hơn</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đặc</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biệt</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với</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dãy</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dữ</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liệu</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lớn</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a:t>
                      </a:r>
                      <a:endParaRPr lang="en-US" b="0" i="0"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kern="1200" dirty="0">
                          <a:solidFill>
                            <a:schemeClr val="tx1"/>
                          </a:solidFill>
                          <a:effectLst/>
                          <a:latin typeface="Times New Roman" panose="02020603050405020304" pitchFamily="18" charset="0"/>
                          <a:ea typeface="+mn-ea"/>
                          <a:cs typeface="Times New Roman" panose="02020603050405020304" pitchFamily="18" charset="0"/>
                        </a:rPr>
                        <a:t>Nhanh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hơn</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nhiều</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so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với</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tìm</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kiếm</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tuần</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tự</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đối</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với</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tập</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dữ</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liệu</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lớn</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a:t>
                      </a:r>
                      <a:endParaRPr lang="en-US" b="0" i="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36251906"/>
                  </a:ext>
                </a:extLst>
              </a:tr>
              <a:tr h="861158">
                <a:tc>
                  <a:txBody>
                    <a:bodyPr/>
                    <a:lstStyle/>
                    <a:p>
                      <a:pPr algn="ctr"/>
                      <a:r>
                        <a:rPr lang="en-US" sz="1800" b="1" kern="1200" dirty="0" err="1">
                          <a:solidFill>
                            <a:schemeClr val="tx1"/>
                          </a:solidFill>
                          <a:effectLst/>
                          <a:latin typeface="Times New Roman" panose="02020603050405020304" pitchFamily="18" charset="0"/>
                          <a:ea typeface="+mn-ea"/>
                          <a:cs typeface="Times New Roman" panose="02020603050405020304" pitchFamily="18" charset="0"/>
                        </a:rPr>
                        <a:t>Ưu</a:t>
                      </a:r>
                      <a:r>
                        <a:rPr lang="en-US" sz="1800" b="1"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b="1" kern="1200" dirty="0" err="1">
                          <a:solidFill>
                            <a:schemeClr val="tx1"/>
                          </a:solidFill>
                          <a:effectLst/>
                          <a:latin typeface="Times New Roman" panose="02020603050405020304" pitchFamily="18" charset="0"/>
                          <a:ea typeface="+mn-ea"/>
                          <a:cs typeface="Times New Roman" panose="02020603050405020304" pitchFamily="18" charset="0"/>
                        </a:rPr>
                        <a:t>điểm</a:t>
                      </a:r>
                      <a:endParaRPr lang="en-US" b="0" i="0"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Đơn</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giản</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dễ</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thực</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Phù</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hợp</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khi</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dãy</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dữ</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liệu</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nhỏ</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hoặc</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được</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sắp</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xếp</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a:t>
                      </a:r>
                      <a:endParaRPr lang="en-US" b="0" i="0"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Rất</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hiệu</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quả</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thời</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gian</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khi</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tìm</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kiếm</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trong</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dãy</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lớn</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a:t>
                      </a:r>
                      <a:endParaRPr lang="en-US" b="0" i="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568537164"/>
                  </a:ext>
                </a:extLst>
              </a:tr>
              <a:tr h="1159440">
                <a:tc>
                  <a:txBody>
                    <a:bodyPr/>
                    <a:lstStyle/>
                    <a:p>
                      <a:pPr algn="ctr"/>
                      <a:r>
                        <a:rPr lang="en-US" sz="1800" b="1" kern="1200" dirty="0" err="1">
                          <a:solidFill>
                            <a:schemeClr val="tx1"/>
                          </a:solidFill>
                          <a:effectLst/>
                          <a:latin typeface="Times New Roman" panose="02020603050405020304" pitchFamily="18" charset="0"/>
                          <a:ea typeface="+mn-ea"/>
                          <a:cs typeface="Times New Roman" panose="02020603050405020304" pitchFamily="18" charset="0"/>
                        </a:rPr>
                        <a:t>Nhược</a:t>
                      </a:r>
                      <a:r>
                        <a:rPr lang="en-US" sz="1800" b="1"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b="1" kern="1200" dirty="0" err="1">
                          <a:solidFill>
                            <a:schemeClr val="tx1"/>
                          </a:solidFill>
                          <a:effectLst/>
                          <a:latin typeface="Times New Roman" panose="02020603050405020304" pitchFamily="18" charset="0"/>
                          <a:ea typeface="+mn-ea"/>
                          <a:cs typeface="Times New Roman" panose="02020603050405020304" pitchFamily="18" charset="0"/>
                        </a:rPr>
                        <a:t>điểm</a:t>
                      </a:r>
                      <a:endParaRPr lang="en-US" b="0" i="0"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Tốn</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thời</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gian</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nếu</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dãy</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dữ</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liệu</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dài</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a:t>
                      </a:r>
                      <a:endParaRPr lang="en-US" b="0" i="0" dirty="0">
                        <a:latin typeface="Times New Roman" panose="02020603050405020304" pitchFamily="18" charset="0"/>
                        <a:cs typeface="Times New Roman" panose="02020603050405020304" pitchFamily="18" charset="0"/>
                      </a:endParaRPr>
                    </a:p>
                  </a:txBody>
                  <a:tcPr anchor="ctr"/>
                </a:tc>
                <a:tc>
                  <a:txBody>
                    <a:bodyPr/>
                    <a:lstStyle/>
                    <a:p>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Tốn</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thêm</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thời</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gian</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sắp</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xếp</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dữ</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liệu</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ban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đầu</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(𝑂(𝑛𝑙𝑜𝑔𝑛)</a:t>
                      </a:r>
                    </a:p>
                    <a:p>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cần</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sắp</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xếp</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lại</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nếu</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dữ</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liệu</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bị</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thay</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đổi</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thường</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xuyên</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a:t>
                      </a:r>
                      <a:endParaRPr lang="en-US" b="0" i="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81563551"/>
                  </a:ext>
                </a:extLst>
              </a:tr>
              <a:tr h="1119506">
                <a:tc>
                  <a:txBody>
                    <a:bodyPr/>
                    <a:lstStyle/>
                    <a:p>
                      <a:pPr algn="ctr"/>
                      <a:r>
                        <a:rPr lang="en-US" sz="1800" b="1" kern="1200" dirty="0">
                          <a:solidFill>
                            <a:schemeClr val="tx1"/>
                          </a:solidFill>
                          <a:effectLst/>
                          <a:latin typeface="Times New Roman" panose="02020603050405020304" pitchFamily="18" charset="0"/>
                          <a:ea typeface="+mn-ea"/>
                          <a:cs typeface="Times New Roman" panose="02020603050405020304" pitchFamily="18" charset="0"/>
                        </a:rPr>
                        <a:t>Khi </a:t>
                      </a:r>
                      <a:r>
                        <a:rPr lang="en-US" sz="1800" b="1" kern="1200" dirty="0" err="1">
                          <a:solidFill>
                            <a:schemeClr val="tx1"/>
                          </a:solidFill>
                          <a:effectLst/>
                          <a:latin typeface="Times New Roman" panose="02020603050405020304" pitchFamily="18" charset="0"/>
                          <a:ea typeface="+mn-ea"/>
                          <a:cs typeface="Times New Roman" panose="02020603050405020304" pitchFamily="18" charset="0"/>
                        </a:rPr>
                        <a:t>nào</a:t>
                      </a:r>
                      <a:r>
                        <a:rPr lang="en-US" sz="1800" b="1"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b="1" kern="1200" dirty="0" err="1">
                          <a:solidFill>
                            <a:schemeClr val="tx1"/>
                          </a:solidFill>
                          <a:effectLst/>
                          <a:latin typeface="Times New Roman" panose="02020603050405020304" pitchFamily="18" charset="0"/>
                          <a:ea typeface="+mn-ea"/>
                          <a:cs typeface="Times New Roman" panose="02020603050405020304" pitchFamily="18" charset="0"/>
                        </a:rPr>
                        <a:t>sử</a:t>
                      </a:r>
                      <a:r>
                        <a:rPr lang="en-US" sz="1800" b="1"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b="1" kern="1200" dirty="0" err="1">
                          <a:solidFill>
                            <a:schemeClr val="tx1"/>
                          </a:solidFill>
                          <a:effectLst/>
                          <a:latin typeface="Times New Roman" panose="02020603050405020304" pitchFamily="18" charset="0"/>
                          <a:ea typeface="+mn-ea"/>
                          <a:cs typeface="Times New Roman" panose="02020603050405020304" pitchFamily="18" charset="0"/>
                        </a:rPr>
                        <a:t>dụng</a:t>
                      </a:r>
                      <a:endParaRPr lang="en-US" b="0" i="0"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kern="1200" dirty="0">
                          <a:solidFill>
                            <a:schemeClr val="tx1"/>
                          </a:solidFill>
                          <a:effectLst/>
                          <a:latin typeface="Times New Roman" panose="02020603050405020304" pitchFamily="18" charset="0"/>
                          <a:ea typeface="+mn-ea"/>
                          <a:cs typeface="Times New Roman" panose="02020603050405020304" pitchFamily="18" charset="0"/>
                        </a:rPr>
                        <a:t>Khi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dãy</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dữ</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liệu</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nhỏ</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thường</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xuyên</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biến</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thêm</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xóa</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phần</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tử</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cần</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sắp</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xếp</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hoặc</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khi</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tần</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suất</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tìm</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kiếm</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thấp</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a:t>
                      </a:r>
                      <a:endParaRPr lang="en-US" b="0" i="0"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kern="1200" dirty="0">
                          <a:solidFill>
                            <a:schemeClr val="tx1"/>
                          </a:solidFill>
                          <a:effectLst/>
                          <a:latin typeface="Times New Roman" panose="02020603050405020304" pitchFamily="18" charset="0"/>
                          <a:ea typeface="+mn-ea"/>
                          <a:cs typeface="Times New Roman" panose="02020603050405020304" pitchFamily="18" charset="0"/>
                        </a:rPr>
                        <a:t>Khi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dãy</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dữ</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liệu</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lớn</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ít</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biến</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đã</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được</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sắp</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xếp</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hoặc</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chi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phí</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sắp</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xếp</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ban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đầu</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hợp</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lý</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tần</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suất</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tìm</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kiếm</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cao</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a:t>
                      </a:r>
                      <a:endParaRPr lang="en-US" b="0" i="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756409992"/>
                  </a:ext>
                </a:extLst>
              </a:tr>
            </a:tbl>
          </a:graphicData>
        </a:graphic>
      </p:graphicFrame>
    </p:spTree>
    <p:extLst>
      <p:ext uri="{BB962C8B-B14F-4D97-AF65-F5344CB8AC3E}">
        <p14:creationId xmlns:p14="http://schemas.microsoft.com/office/powerpoint/2010/main" val="36046306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CA72D-08AD-5F41-D1F5-D0AC1399EAB2}"/>
              </a:ext>
            </a:extLst>
          </p:cNvPr>
          <p:cNvSpPr>
            <a:spLocks noGrp="1"/>
          </p:cNvSpPr>
          <p:nvPr>
            <p:ph type="title"/>
          </p:nvPr>
        </p:nvSpPr>
        <p:spPr/>
        <p:txBody>
          <a:bodyPr/>
          <a:lstStyle/>
          <a:p>
            <a:r>
              <a:rPr lang="en-US" b="1" dirty="0" err="1"/>
              <a:t>Phân</a:t>
            </a:r>
            <a:r>
              <a:rPr lang="en-US" b="1" dirty="0"/>
              <a:t> </a:t>
            </a:r>
            <a:r>
              <a:rPr lang="en-US" b="1" dirty="0" err="1"/>
              <a:t>tích</a:t>
            </a:r>
            <a:r>
              <a:rPr lang="en-US" b="1" dirty="0"/>
              <a:t> </a:t>
            </a:r>
            <a:r>
              <a:rPr lang="en-US" b="1" dirty="0" err="1"/>
              <a:t>hiệu</a:t>
            </a:r>
            <a:r>
              <a:rPr lang="en-US" b="1" dirty="0"/>
              <a:t> </a:t>
            </a:r>
            <a:r>
              <a:rPr lang="en-US" b="1" dirty="0" err="1"/>
              <a:t>suất</a:t>
            </a:r>
            <a:r>
              <a:rPr lang="en-US" b="1" dirty="0"/>
              <a:t>:</a:t>
            </a:r>
            <a:br>
              <a:rPr lang="en-US" dirty="0"/>
            </a:br>
            <a:endParaRPr lang="en-US" dirty="0"/>
          </a:p>
        </p:txBody>
      </p:sp>
      <p:sp>
        <p:nvSpPr>
          <p:cNvPr id="3" name="Content Placeholder 2">
            <a:extLst>
              <a:ext uri="{FF2B5EF4-FFF2-40B4-BE49-F238E27FC236}">
                <a16:creationId xmlns:a16="http://schemas.microsoft.com/office/drawing/2014/main" id="{A70EC04A-6C27-D759-8BF7-9A44ACD41B57}"/>
              </a:ext>
            </a:extLst>
          </p:cNvPr>
          <p:cNvSpPr>
            <a:spLocks noGrp="1"/>
          </p:cNvSpPr>
          <p:nvPr>
            <p:ph sz="half" idx="1"/>
          </p:nvPr>
        </p:nvSpPr>
        <p:spPr>
          <a:xfrm>
            <a:off x="1423686" y="2061080"/>
            <a:ext cx="8959833" cy="3703112"/>
          </a:xfrm>
        </p:spPr>
        <p:txBody>
          <a:bodyPr>
            <a:normAutofit/>
          </a:bodyPr>
          <a:lstStyle/>
          <a:p>
            <a:pPr lvl="0"/>
            <a:r>
              <a:rPr lang="en-US" sz="2500" dirty="0" err="1">
                <a:latin typeface="Times New Roman" panose="02020603050405020304" pitchFamily="18" charset="0"/>
                <a:cs typeface="Times New Roman" panose="02020603050405020304" pitchFamily="18" charset="0"/>
              </a:rPr>
              <a:t>Với</a:t>
            </a:r>
            <a:r>
              <a:rPr lang="en-US" sz="2500" dirty="0">
                <a:latin typeface="Times New Roman" panose="02020603050405020304" pitchFamily="18" charset="0"/>
                <a:cs typeface="Times New Roman" panose="02020603050405020304" pitchFamily="18" charset="0"/>
              </a:rPr>
              <a:t> n = 1000 </a:t>
            </a:r>
            <a:r>
              <a:rPr lang="en-US" sz="2500" dirty="0" err="1">
                <a:latin typeface="Times New Roman" panose="02020603050405020304" pitchFamily="18" charset="0"/>
                <a:cs typeface="Times New Roman" panose="02020603050405020304" pitchFamily="18" charset="0"/>
              </a:rPr>
              <a:t>phần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tử</a:t>
            </a:r>
            <a:r>
              <a:rPr lang="en-US" sz="2500" dirty="0">
                <a:latin typeface="Times New Roman" panose="02020603050405020304" pitchFamily="18" charset="0"/>
                <a:cs typeface="Times New Roman" panose="02020603050405020304" pitchFamily="18" charset="0"/>
              </a:rPr>
              <a:t>:</a:t>
            </a:r>
          </a:p>
          <a:p>
            <a:pPr lvl="1"/>
            <a:r>
              <a:rPr lang="en-US" sz="2500" dirty="0">
                <a:latin typeface="Times New Roman" panose="02020603050405020304" pitchFamily="18" charset="0"/>
                <a:cs typeface="Times New Roman" panose="02020603050405020304" pitchFamily="18" charset="0"/>
              </a:rPr>
              <a:t>Tìm </a:t>
            </a:r>
            <a:r>
              <a:rPr lang="en-US" sz="2500" dirty="0" err="1">
                <a:latin typeface="Times New Roman" panose="02020603050405020304" pitchFamily="18" charset="0"/>
                <a:cs typeface="Times New Roman" panose="02020603050405020304" pitchFamily="18" charset="0"/>
              </a:rPr>
              <a:t>kiếm</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tuần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tự</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tối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đa</a:t>
            </a:r>
            <a:r>
              <a:rPr lang="en-US" sz="2500" dirty="0">
                <a:latin typeface="Times New Roman" panose="02020603050405020304" pitchFamily="18" charset="0"/>
                <a:cs typeface="Times New Roman" panose="02020603050405020304" pitchFamily="18" charset="0"/>
              </a:rPr>
              <a:t> 1000 </a:t>
            </a:r>
            <a:r>
              <a:rPr lang="en-US" sz="2500" dirty="0" err="1">
                <a:latin typeface="Times New Roman" panose="02020603050405020304" pitchFamily="18" charset="0"/>
                <a:cs typeface="Times New Roman" panose="02020603050405020304" pitchFamily="18" charset="0"/>
              </a:rPr>
              <a:t>lần</a:t>
            </a:r>
            <a:r>
              <a:rPr lang="en-US" sz="2500" dirty="0">
                <a:latin typeface="Times New Roman" panose="02020603050405020304" pitchFamily="18" charset="0"/>
                <a:cs typeface="Times New Roman" panose="02020603050405020304" pitchFamily="18" charset="0"/>
              </a:rPr>
              <a:t> so </a:t>
            </a:r>
            <a:r>
              <a:rPr lang="en-US" sz="2500" dirty="0" err="1">
                <a:latin typeface="Times New Roman" panose="02020603050405020304" pitchFamily="18" charset="0"/>
                <a:cs typeface="Times New Roman" panose="02020603050405020304" pitchFamily="18" charset="0"/>
              </a:rPr>
              <a:t>sánh</a:t>
            </a:r>
            <a:endParaRPr lang="en-US" sz="2500" dirty="0">
              <a:latin typeface="Times New Roman" panose="02020603050405020304" pitchFamily="18" charset="0"/>
              <a:cs typeface="Times New Roman" panose="02020603050405020304" pitchFamily="18" charset="0"/>
            </a:endParaRPr>
          </a:p>
          <a:p>
            <a:pPr lvl="1"/>
            <a:r>
              <a:rPr lang="en-US" sz="2500" dirty="0">
                <a:latin typeface="Times New Roman" panose="02020603050405020304" pitchFamily="18" charset="0"/>
                <a:cs typeface="Times New Roman" panose="02020603050405020304" pitchFamily="18" charset="0"/>
              </a:rPr>
              <a:t>Tìm </a:t>
            </a:r>
            <a:r>
              <a:rPr lang="en-US" sz="2500" dirty="0" err="1">
                <a:latin typeface="Times New Roman" panose="02020603050405020304" pitchFamily="18" charset="0"/>
                <a:cs typeface="Times New Roman" panose="02020603050405020304" pitchFamily="18" charset="0"/>
              </a:rPr>
              <a:t>kiếm</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nhị</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phân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tối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đa</a:t>
            </a:r>
            <a:r>
              <a:rPr lang="en-US" sz="2500" dirty="0">
                <a:latin typeface="Times New Roman" panose="02020603050405020304" pitchFamily="18" charset="0"/>
                <a:cs typeface="Times New Roman" panose="02020603050405020304" pitchFamily="18" charset="0"/>
              </a:rPr>
              <a:t> 10 </a:t>
            </a:r>
            <a:r>
              <a:rPr lang="en-US" sz="2500" dirty="0" err="1">
                <a:latin typeface="Times New Roman" panose="02020603050405020304" pitchFamily="18" charset="0"/>
                <a:cs typeface="Times New Roman" panose="02020603050405020304" pitchFamily="18" charset="0"/>
              </a:rPr>
              <a:t>lần</a:t>
            </a:r>
            <a:r>
              <a:rPr lang="en-US" sz="2500" dirty="0">
                <a:latin typeface="Times New Roman" panose="02020603050405020304" pitchFamily="18" charset="0"/>
                <a:cs typeface="Times New Roman" panose="02020603050405020304" pitchFamily="18" charset="0"/>
              </a:rPr>
              <a:t> so </a:t>
            </a:r>
            <a:r>
              <a:rPr lang="en-US" sz="2500" dirty="0" err="1">
                <a:latin typeface="Times New Roman" panose="02020603050405020304" pitchFamily="18" charset="0"/>
                <a:cs typeface="Times New Roman" panose="02020603050405020304" pitchFamily="18" charset="0"/>
              </a:rPr>
              <a:t>sánh</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vì</a:t>
            </a:r>
            <a:r>
              <a:rPr lang="en-US" sz="2500" dirty="0">
                <a:latin typeface="Times New Roman" panose="02020603050405020304" pitchFamily="18" charset="0"/>
                <a:cs typeface="Times New Roman" panose="02020603050405020304" pitchFamily="18" charset="0"/>
              </a:rPr>
              <a:t> 2¹⁰ = 1024)</a:t>
            </a:r>
          </a:p>
          <a:p>
            <a:pPr lvl="0"/>
            <a:r>
              <a:rPr lang="en-US" sz="2500" dirty="0" err="1">
                <a:latin typeface="Times New Roman" panose="02020603050405020304" pitchFamily="18" charset="0"/>
                <a:cs typeface="Times New Roman" panose="02020603050405020304" pitchFamily="18" charset="0"/>
              </a:rPr>
              <a:t>Với</a:t>
            </a:r>
            <a:r>
              <a:rPr lang="en-US" sz="2500" dirty="0">
                <a:latin typeface="Times New Roman" panose="02020603050405020304" pitchFamily="18" charset="0"/>
                <a:cs typeface="Times New Roman" panose="02020603050405020304" pitchFamily="18" charset="0"/>
              </a:rPr>
              <a:t> n = 1,000,000 </a:t>
            </a:r>
            <a:r>
              <a:rPr lang="en-US" sz="2500" dirty="0" err="1">
                <a:latin typeface="Times New Roman" panose="02020603050405020304" pitchFamily="18" charset="0"/>
                <a:cs typeface="Times New Roman" panose="02020603050405020304" pitchFamily="18" charset="0"/>
              </a:rPr>
              <a:t>phần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tử</a:t>
            </a:r>
            <a:r>
              <a:rPr lang="en-US" sz="2500" dirty="0">
                <a:latin typeface="Times New Roman" panose="02020603050405020304" pitchFamily="18" charset="0"/>
                <a:cs typeface="Times New Roman" panose="02020603050405020304" pitchFamily="18" charset="0"/>
              </a:rPr>
              <a:t>:</a:t>
            </a:r>
          </a:p>
          <a:p>
            <a:pPr lvl="1"/>
            <a:r>
              <a:rPr lang="en-US" sz="2500" dirty="0">
                <a:latin typeface="Times New Roman" panose="02020603050405020304" pitchFamily="18" charset="0"/>
                <a:cs typeface="Times New Roman" panose="02020603050405020304" pitchFamily="18" charset="0"/>
              </a:rPr>
              <a:t>Tìm </a:t>
            </a:r>
            <a:r>
              <a:rPr lang="en-US" sz="2500" dirty="0" err="1">
                <a:latin typeface="Times New Roman" panose="02020603050405020304" pitchFamily="18" charset="0"/>
                <a:cs typeface="Times New Roman" panose="02020603050405020304" pitchFamily="18" charset="0"/>
              </a:rPr>
              <a:t>kiếm</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tuần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tự</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tối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đa</a:t>
            </a:r>
            <a:r>
              <a:rPr lang="en-US" sz="2500" dirty="0">
                <a:latin typeface="Times New Roman" panose="02020603050405020304" pitchFamily="18" charset="0"/>
                <a:cs typeface="Times New Roman" panose="02020603050405020304" pitchFamily="18" charset="0"/>
              </a:rPr>
              <a:t> 1,000,000 </a:t>
            </a:r>
            <a:r>
              <a:rPr lang="en-US" sz="2500" dirty="0" err="1">
                <a:latin typeface="Times New Roman" panose="02020603050405020304" pitchFamily="18" charset="0"/>
                <a:cs typeface="Times New Roman" panose="02020603050405020304" pitchFamily="18" charset="0"/>
              </a:rPr>
              <a:t>lần</a:t>
            </a:r>
            <a:r>
              <a:rPr lang="en-US" sz="2500" dirty="0">
                <a:latin typeface="Times New Roman" panose="02020603050405020304" pitchFamily="18" charset="0"/>
                <a:cs typeface="Times New Roman" panose="02020603050405020304" pitchFamily="18" charset="0"/>
              </a:rPr>
              <a:t> so </a:t>
            </a:r>
            <a:r>
              <a:rPr lang="en-US" sz="2500" dirty="0" err="1">
                <a:latin typeface="Times New Roman" panose="02020603050405020304" pitchFamily="18" charset="0"/>
                <a:cs typeface="Times New Roman" panose="02020603050405020304" pitchFamily="18" charset="0"/>
              </a:rPr>
              <a:t>sánh</a:t>
            </a:r>
            <a:endParaRPr lang="en-US" sz="2500" dirty="0">
              <a:latin typeface="Times New Roman" panose="02020603050405020304" pitchFamily="18" charset="0"/>
              <a:cs typeface="Times New Roman" panose="02020603050405020304" pitchFamily="18" charset="0"/>
            </a:endParaRPr>
          </a:p>
          <a:p>
            <a:pPr lvl="1"/>
            <a:r>
              <a:rPr lang="en-US" sz="2500" dirty="0">
                <a:latin typeface="Times New Roman" panose="02020603050405020304" pitchFamily="18" charset="0"/>
                <a:cs typeface="Times New Roman" panose="02020603050405020304" pitchFamily="18" charset="0"/>
              </a:rPr>
              <a:t>Tìm </a:t>
            </a:r>
            <a:r>
              <a:rPr lang="en-US" sz="2500" dirty="0" err="1">
                <a:latin typeface="Times New Roman" panose="02020603050405020304" pitchFamily="18" charset="0"/>
                <a:cs typeface="Times New Roman" panose="02020603050405020304" pitchFamily="18" charset="0"/>
              </a:rPr>
              <a:t>kiếm</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nhị</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phân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tối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đa</a:t>
            </a:r>
            <a:r>
              <a:rPr lang="en-US" sz="2500" dirty="0">
                <a:latin typeface="Times New Roman" panose="02020603050405020304" pitchFamily="18" charset="0"/>
                <a:cs typeface="Times New Roman" panose="02020603050405020304" pitchFamily="18" charset="0"/>
              </a:rPr>
              <a:t> 20 </a:t>
            </a:r>
            <a:r>
              <a:rPr lang="en-US" sz="2500" dirty="0" err="1">
                <a:latin typeface="Times New Roman" panose="02020603050405020304" pitchFamily="18" charset="0"/>
                <a:cs typeface="Times New Roman" panose="02020603050405020304" pitchFamily="18" charset="0"/>
              </a:rPr>
              <a:t>lần</a:t>
            </a:r>
            <a:r>
              <a:rPr lang="en-US" sz="2500" dirty="0">
                <a:latin typeface="Times New Roman" panose="02020603050405020304" pitchFamily="18" charset="0"/>
                <a:cs typeface="Times New Roman" panose="02020603050405020304" pitchFamily="18" charset="0"/>
              </a:rPr>
              <a:t> so </a:t>
            </a:r>
            <a:r>
              <a:rPr lang="en-US" sz="2500" dirty="0" err="1">
                <a:latin typeface="Times New Roman" panose="02020603050405020304" pitchFamily="18" charset="0"/>
                <a:cs typeface="Times New Roman" panose="02020603050405020304" pitchFamily="18" charset="0"/>
              </a:rPr>
              <a:t>sánh</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vì</a:t>
            </a:r>
            <a:r>
              <a:rPr lang="en-US" sz="2500" dirty="0">
                <a:latin typeface="Times New Roman" panose="02020603050405020304" pitchFamily="18" charset="0"/>
                <a:cs typeface="Times New Roman" panose="02020603050405020304" pitchFamily="18" charset="0"/>
              </a:rPr>
              <a:t> 2²⁰ = 1,048,576)</a:t>
            </a:r>
          </a:p>
          <a:p>
            <a:endParaRPr lang="en-US"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13004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39B8F-7914-0855-E5D2-DCEA527403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E42229-1D5E-526C-5728-4BD91F79FDDD}"/>
              </a:ext>
            </a:extLst>
          </p:cNvPr>
          <p:cNvSpPr>
            <a:spLocks noGrp="1"/>
          </p:cNvSpPr>
          <p:nvPr>
            <p:ph type="title"/>
          </p:nvPr>
        </p:nvSpPr>
        <p:spPr>
          <a:xfrm>
            <a:off x="1237574" y="1002368"/>
            <a:ext cx="9716851" cy="672632"/>
          </a:xfrm>
        </p:spPr>
        <p:txBody>
          <a:bodyPr/>
          <a:lstStyle/>
          <a:p>
            <a:r>
              <a:rPr lang="en-US" b="1" dirty="0" err="1">
                <a:latin typeface="Times New Roman" panose="02020603050405020304" pitchFamily="18" charset="0"/>
                <a:cs typeface="Times New Roman" panose="02020603050405020304" pitchFamily="18" charset="0"/>
              </a:rPr>
              <a:t>Lựa</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chọn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thuật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toán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phụ</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thuộc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vào</a:t>
            </a:r>
            <a:r>
              <a:rPr lang="en-US" b="1"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29AF98C-80AA-BE72-DB1A-9F7B5F4221E3}"/>
              </a:ext>
            </a:extLst>
          </p:cNvPr>
          <p:cNvSpPr>
            <a:spLocks noGrp="1"/>
          </p:cNvSpPr>
          <p:nvPr>
            <p:ph sz="half" idx="1"/>
          </p:nvPr>
        </p:nvSpPr>
        <p:spPr>
          <a:xfrm>
            <a:off x="1423686" y="2061080"/>
            <a:ext cx="8959833" cy="3703112"/>
          </a:xfrm>
        </p:spPr>
        <p:txBody>
          <a:bodyPr>
            <a:normAutofit/>
          </a:bodyPr>
          <a:lstStyle/>
          <a:p>
            <a:pPr lvl="0"/>
            <a:r>
              <a:rPr lang="vi-VN" sz="2500" dirty="0">
                <a:latin typeface="Times New Roman" panose="02020603050405020304" pitchFamily="18" charset="0"/>
                <a:cs typeface="Times New Roman" panose="02020603050405020304" pitchFamily="18" charset="0"/>
              </a:rPr>
              <a:t>1. </a:t>
            </a:r>
            <a:r>
              <a:rPr lang="en-US" sz="2500" dirty="0" err="1">
                <a:latin typeface="Times New Roman" panose="02020603050405020304" pitchFamily="18" charset="0"/>
                <a:cs typeface="Times New Roman" panose="02020603050405020304" pitchFamily="18" charset="0"/>
              </a:rPr>
              <a:t>Kích</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thước</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dữ</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liệu</a:t>
            </a:r>
            <a:endParaRPr lang="en-US" sz="2500" dirty="0">
              <a:latin typeface="Times New Roman" panose="02020603050405020304" pitchFamily="18" charset="0"/>
              <a:cs typeface="Times New Roman" panose="02020603050405020304" pitchFamily="18" charset="0"/>
            </a:endParaRPr>
          </a:p>
          <a:p>
            <a:pPr lvl="0"/>
            <a:r>
              <a:rPr lang="vi-VN" sz="2500" dirty="0">
                <a:latin typeface="Times New Roman" panose="02020603050405020304" pitchFamily="18" charset="0"/>
                <a:cs typeface="Times New Roman" panose="02020603050405020304" pitchFamily="18" charset="0"/>
              </a:rPr>
              <a:t>2. </a:t>
            </a:r>
            <a:r>
              <a:rPr lang="en-US" sz="2500" dirty="0" err="1">
                <a:latin typeface="Times New Roman" panose="02020603050405020304" pitchFamily="18" charset="0"/>
                <a:cs typeface="Times New Roman" panose="02020603050405020304" pitchFamily="18" charset="0"/>
              </a:rPr>
              <a:t>Trạng</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thái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sắp</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xếp</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của</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dữ</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liệu</a:t>
            </a:r>
            <a:endParaRPr lang="en-US" sz="2500" dirty="0">
              <a:latin typeface="Times New Roman" panose="02020603050405020304" pitchFamily="18" charset="0"/>
              <a:cs typeface="Times New Roman" panose="02020603050405020304" pitchFamily="18" charset="0"/>
            </a:endParaRPr>
          </a:p>
          <a:p>
            <a:pPr lvl="0"/>
            <a:r>
              <a:rPr lang="vi-VN" sz="2500" dirty="0">
                <a:latin typeface="Times New Roman" panose="02020603050405020304" pitchFamily="18" charset="0"/>
                <a:cs typeface="Times New Roman" panose="02020603050405020304" pitchFamily="18" charset="0"/>
              </a:rPr>
              <a:t>3. </a:t>
            </a:r>
            <a:r>
              <a:rPr lang="en-US" sz="2500" dirty="0" err="1">
                <a:latin typeface="Times New Roman" panose="02020603050405020304" pitchFamily="18" charset="0"/>
                <a:cs typeface="Times New Roman" panose="02020603050405020304" pitchFamily="18" charset="0"/>
              </a:rPr>
              <a:t>Tần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suất</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tìm</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kiếm</a:t>
            </a:r>
            <a:endParaRPr lang="en-US" sz="2500" dirty="0">
              <a:latin typeface="Times New Roman" panose="02020603050405020304" pitchFamily="18" charset="0"/>
              <a:cs typeface="Times New Roman" panose="02020603050405020304" pitchFamily="18" charset="0"/>
            </a:endParaRPr>
          </a:p>
          <a:p>
            <a:pPr lvl="0"/>
            <a:r>
              <a:rPr lang="vi-VN" sz="2500" dirty="0">
                <a:latin typeface="Times New Roman" panose="02020603050405020304" pitchFamily="18" charset="0"/>
                <a:cs typeface="Times New Roman" panose="02020603050405020304" pitchFamily="18" charset="0"/>
              </a:rPr>
              <a:t>4. </a:t>
            </a:r>
            <a:r>
              <a:rPr lang="en-US" sz="2500" dirty="0" err="1">
                <a:latin typeface="Times New Roman" panose="02020603050405020304" pitchFamily="18" charset="0"/>
                <a:cs typeface="Times New Roman" panose="02020603050405020304" pitchFamily="18" charset="0"/>
              </a:rPr>
              <a:t>Yêu</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cầu</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về</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hiệu</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năng</a:t>
            </a:r>
            <a:endParaRPr lang="en-US"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69347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6BCB9-F401-6D2D-0CE3-4E4EA9878E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9EB71-3FBC-A09C-4F73-7CF2179E5481}"/>
              </a:ext>
            </a:extLst>
          </p:cNvPr>
          <p:cNvSpPr>
            <a:spLocks noGrp="1"/>
          </p:cNvSpPr>
          <p:nvPr>
            <p:ph type="title"/>
          </p:nvPr>
        </p:nvSpPr>
        <p:spPr>
          <a:xfrm>
            <a:off x="1073070" y="914400"/>
            <a:ext cx="10045861" cy="1146680"/>
          </a:xfrm>
          <a:noFill/>
        </p:spPr>
        <p:txBody>
          <a:bodyPr/>
          <a:lstStyle/>
          <a:p>
            <a:r>
              <a:rPr lang="vi-VN" dirty="0">
                <a:latin typeface="Times New Roman" panose="02020603050405020304" pitchFamily="18" charset="0"/>
                <a:cs typeface="Times New Roman" panose="02020603050405020304" pitchFamily="18" charset="0"/>
              </a:rPr>
              <a:t>5. Demo code minh họa</a:t>
            </a:r>
            <a:endParaRPr lang="en-US" dirty="0">
              <a:latin typeface="Times New Roman" panose="02020603050405020304" pitchFamily="18" charset="0"/>
              <a:cs typeface="Times New Roman" panose="02020603050405020304" pitchFamily="18" charset="0"/>
            </a:endParaRPr>
          </a:p>
        </p:txBody>
      </p:sp>
      <p:pic>
        <p:nvPicPr>
          <p:cNvPr id="6145" name="Picture 1">
            <a:extLst>
              <a:ext uri="{FF2B5EF4-FFF2-40B4-BE49-F238E27FC236}">
                <a16:creationId xmlns:a16="http://schemas.microsoft.com/office/drawing/2014/main" id="{A8FA2B0D-89DC-7B51-A13A-30AE161BC1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a:extLst>
              <a:ext uri="{FF2B5EF4-FFF2-40B4-BE49-F238E27FC236}">
                <a16:creationId xmlns:a16="http://schemas.microsoft.com/office/drawing/2014/main" id="{31C0E291-96E3-B41E-23DC-FD2A860299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7" name="Picture 3">
            <a:extLst>
              <a:ext uri="{FF2B5EF4-FFF2-40B4-BE49-F238E27FC236}">
                <a16:creationId xmlns:a16="http://schemas.microsoft.com/office/drawing/2014/main" id="{361D3B26-023B-E0BF-8765-296FB563F2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86C286AC-0F4A-E850-6754-942ED19FBA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a:extLst>
              <a:ext uri="{FF2B5EF4-FFF2-40B4-BE49-F238E27FC236}">
                <a16:creationId xmlns:a16="http://schemas.microsoft.com/office/drawing/2014/main" id="{E6438039-1AD8-746F-0705-AF383D5CBE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DDA95312-C79F-4304-6604-88C182163F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9525" cy="9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48778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2376797" y="689652"/>
            <a:ext cx="6746883" cy="738865"/>
          </a:xfrm>
          <a:noFill/>
        </p:spPr>
        <p:txBody>
          <a:bodyPr/>
          <a:lstStyle/>
          <a:p>
            <a:r>
              <a:rPr lang="vi-VN" dirty="0"/>
              <a:t>Nhận xét</a:t>
            </a:r>
            <a:endParaRPr lang="en-US" dirty="0"/>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half" idx="13"/>
          </p:nvPr>
        </p:nvSpPr>
        <p:spPr>
          <a:xfrm>
            <a:off x="1400540" y="1574800"/>
            <a:ext cx="9348740" cy="4224115"/>
          </a:xfrm>
          <a:noFill/>
        </p:spPr>
        <p:txBody>
          <a:bodyPr>
            <a:noAutofit/>
          </a:bodyPr>
          <a:lstStyle/>
          <a:p>
            <a:r>
              <a:rPr lang="vi-VN" sz="3000" dirty="0">
                <a:latin typeface="Times New Roman" panose="02020603050405020304" pitchFamily="18" charset="0"/>
                <a:cs typeface="Times New Roman" panose="02020603050405020304" pitchFamily="18" charset="0"/>
              </a:rPr>
              <a:t>- Tìm tuần tự không phụ thuộc vào thứ tự của các phần tử, do vậy đây là phương pháp tổng quát nhất để tìm kiếm trên một dãy bất kỳ </a:t>
            </a:r>
          </a:p>
          <a:p>
            <a:r>
              <a:rPr lang="vi-VN" sz="3000" dirty="0">
                <a:latin typeface="Times New Roman" panose="02020603050405020304" pitchFamily="18" charset="0"/>
                <a:cs typeface="Times New Roman" panose="02020603050405020304" pitchFamily="18" charset="0"/>
              </a:rPr>
              <a:t>- Tìm Nhị Phân dựa vào quan hệ giá trị của các phần tử mảng để định hướng trong quá trình tìm kiếm, do vậy chỉ áp dụng được cho những dãy đã có thứ tự </a:t>
            </a:r>
          </a:p>
          <a:p>
            <a:r>
              <a:rPr lang="vi-VN" sz="3000" dirty="0">
                <a:latin typeface="Times New Roman" panose="02020603050405020304" pitchFamily="18" charset="0"/>
                <a:cs typeface="Times New Roman" panose="02020603050405020304" pitchFamily="18" charset="0"/>
              </a:rPr>
              <a:t>- Giải thuật Tìm Nhị Phân tiết kiệm thời gian hơn rất nhiều so với giải thuật Tìm tuần tự do: Tnhị_phân(n) = O(log2 n) &lt; Ttuần_tự (n) = O(n)</a:t>
            </a:r>
            <a:r>
              <a:rPr lang="en-US" sz="3000" dirty="0">
                <a:latin typeface="Times New Roman" panose="02020603050405020304" pitchFamily="18" charset="0"/>
                <a:cs typeface="Times New Roman" panose="02020603050405020304" pitchFamily="18" charset="0"/>
              </a:rPr>
              <a:t> </a:t>
            </a:r>
            <a:endParaRPr lang="vi-VN"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05954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1094820" y="943337"/>
            <a:ext cx="10002359" cy="719963"/>
          </a:xfrm>
          <a:noFill/>
        </p:spPr>
        <p:txBody>
          <a:bodyPr anchor="b"/>
          <a:lstStyle/>
          <a:p>
            <a:r>
              <a:rPr lang="vi-VN" dirty="0"/>
              <a:t>Nhận xét</a:t>
            </a:r>
            <a:endParaRPr lang="en-US" dirty="0"/>
          </a:p>
        </p:txBody>
      </p:sp>
      <p:sp>
        <p:nvSpPr>
          <p:cNvPr id="3" name="Content Placeholder 2">
            <a:extLst>
              <a:ext uri="{FF2B5EF4-FFF2-40B4-BE49-F238E27FC236}">
                <a16:creationId xmlns:a16="http://schemas.microsoft.com/office/drawing/2014/main" id="{FACE640F-7F5A-BDB7-205D-765FA80B6796}"/>
              </a:ext>
            </a:extLst>
          </p:cNvPr>
          <p:cNvSpPr>
            <a:spLocks noGrp="1"/>
          </p:cNvSpPr>
          <p:nvPr>
            <p:ph sz="half" idx="1"/>
          </p:nvPr>
        </p:nvSpPr>
        <p:spPr>
          <a:xfrm>
            <a:off x="1457188" y="1936193"/>
            <a:ext cx="8997451" cy="3653350"/>
          </a:xfrm>
          <a:noFill/>
        </p:spPr>
        <p:txBody>
          <a:bodyPr>
            <a:normAutofit lnSpcReduction="10000"/>
          </a:bodyPr>
          <a:lstStyle/>
          <a:p>
            <a:r>
              <a:rPr lang="vi-VN" sz="3000" dirty="0">
                <a:latin typeface="Times New Roman" panose="02020603050405020304" pitchFamily="18" charset="0"/>
                <a:cs typeface="Times New Roman" panose="02020603050405020304" pitchFamily="18" charset="0"/>
              </a:rPr>
              <a:t>- </a:t>
            </a:r>
            <a:r>
              <a:rPr lang="en-US" sz="3000" dirty="0">
                <a:latin typeface="Times New Roman" panose="02020603050405020304" pitchFamily="18" charset="0"/>
                <a:cs typeface="Times New Roman" panose="02020603050405020304" pitchFamily="18" charset="0"/>
              </a:rPr>
              <a:t>Tuy </a:t>
            </a:r>
            <a:r>
              <a:rPr lang="en-US" sz="3000" dirty="0" err="1">
                <a:latin typeface="Times New Roman" panose="02020603050405020304" pitchFamily="18" charset="0"/>
                <a:cs typeface="Times New Roman" panose="02020603050405020304" pitchFamily="18" charset="0"/>
              </a:rPr>
              <a:t>nhiên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khi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muốn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áp</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dụng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giải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thuật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tìm</a:t>
            </a:r>
            <a:r>
              <a:rPr lang="en-US" sz="3000" dirty="0">
                <a:latin typeface="Times New Roman" panose="02020603050405020304" pitchFamily="18" charset="0"/>
                <a:cs typeface="Times New Roman" panose="02020603050405020304" pitchFamily="18" charset="0"/>
              </a:rPr>
              <a:t> Nhị </a:t>
            </a:r>
            <a:r>
              <a:rPr lang="en-US" sz="3000" dirty="0" err="1">
                <a:latin typeface="Times New Roman" panose="02020603050405020304" pitchFamily="18" charset="0"/>
                <a:cs typeface="Times New Roman" panose="02020603050405020304" pitchFamily="18" charset="0"/>
              </a:rPr>
              <a:t>Phân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cần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phải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xét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đến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thời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gian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sắp</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xếp</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dãy</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số</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để</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thỏa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điều</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kiện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dãy</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số</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có</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thứ</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tự</a:t>
            </a:r>
            <a:r>
              <a:rPr lang="en-US" sz="3000" dirty="0">
                <a:latin typeface="Times New Roman" panose="02020603050405020304" pitchFamily="18" charset="0"/>
                <a:cs typeface="Times New Roman" panose="02020603050405020304" pitchFamily="18" charset="0"/>
              </a:rPr>
              <a:t> </a:t>
            </a:r>
            <a:endParaRPr lang="vi-VN" sz="3000" dirty="0">
              <a:latin typeface="Times New Roman" panose="02020603050405020304" pitchFamily="18" charset="0"/>
              <a:cs typeface="Times New Roman" panose="02020603050405020304" pitchFamily="18" charset="0"/>
            </a:endParaRPr>
          </a:p>
          <a:p>
            <a:r>
              <a:rPr lang="vi-VN" sz="3000" dirty="0">
                <a:latin typeface="Times New Roman" panose="02020603050405020304" pitchFamily="18" charset="0"/>
                <a:cs typeface="Times New Roman" panose="02020603050405020304" pitchFamily="18" charset="0"/>
              </a:rPr>
              <a: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Thời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gian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này</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không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nhỏ</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và</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khi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dãy</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số</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biến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động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cần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phải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tiến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hành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sắp</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xếp</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lại</a:t>
            </a:r>
            <a:endParaRPr lang="vi-VN" sz="3000" dirty="0">
              <a:latin typeface="Times New Roman" panose="02020603050405020304" pitchFamily="18" charset="0"/>
              <a:cs typeface="Times New Roman" panose="02020603050405020304" pitchFamily="18" charset="0"/>
            </a:endParaRPr>
          </a:p>
          <a:p>
            <a:r>
              <a:rPr lang="vi-VN" sz="3000" dirty="0">
                <a:latin typeface="Times New Roman" panose="02020603050405020304" pitchFamily="18" charset="0"/>
                <a:cs typeface="Times New Roman" panose="02020603050405020304" pitchFamily="18" charset="0"/>
              </a:rPr>
              <a: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Tất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cả</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các</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nhu</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cầu</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đó</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tạo</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ra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khuyết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điểm</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chính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cho</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giải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thuật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tìm</a:t>
            </a:r>
            <a:r>
              <a:rPr lang="en-US" sz="3000" dirty="0">
                <a:latin typeface="Times New Roman" panose="02020603050405020304" pitchFamily="18" charset="0"/>
                <a:cs typeface="Times New Roman" panose="02020603050405020304" pitchFamily="18" charset="0"/>
              </a:rPr>
              <a:t> Nhị </a:t>
            </a:r>
            <a:r>
              <a:rPr lang="en-US" sz="3000" dirty="0" err="1">
                <a:latin typeface="Times New Roman" panose="02020603050405020304" pitchFamily="18" charset="0"/>
                <a:cs typeface="Times New Roman" panose="02020603050405020304" pitchFamily="18" charset="0"/>
              </a:rPr>
              <a:t>Phân</a:t>
            </a:r>
            <a:r>
              <a:rPr lang="en-US" sz="3000" dirty="0">
                <a:latin typeface="Times New Roman" panose="02020603050405020304" pitchFamily="18" charset="0"/>
                <a:cs typeface="Times New Roman" panose="02020603050405020304" pitchFamily="18" charset="0"/>
              </a:rPr>
              <a:t> </a:t>
            </a:r>
            <a:endParaRPr lang="vi-VN" sz="30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0540867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D67DD-D6F7-D1C7-EB3C-3224C9F797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F1EA1D-1022-26F3-9403-3C210EE2BB2A}"/>
              </a:ext>
            </a:extLst>
          </p:cNvPr>
          <p:cNvSpPr>
            <a:spLocks noGrp="1"/>
          </p:cNvSpPr>
          <p:nvPr>
            <p:ph type="title"/>
          </p:nvPr>
        </p:nvSpPr>
        <p:spPr>
          <a:xfrm>
            <a:off x="1094820" y="943337"/>
            <a:ext cx="10002359" cy="719963"/>
          </a:xfrm>
          <a:noFill/>
        </p:spPr>
        <p:txBody>
          <a:bodyPr anchor="b"/>
          <a:lstStyle/>
          <a:p>
            <a:r>
              <a:rPr lang="vi-VN" dirty="0"/>
              <a:t>Kết luận</a:t>
            </a:r>
            <a:endParaRPr lang="en-US" dirty="0"/>
          </a:p>
        </p:txBody>
      </p:sp>
      <p:sp>
        <p:nvSpPr>
          <p:cNvPr id="3" name="Content Placeholder 2">
            <a:extLst>
              <a:ext uri="{FF2B5EF4-FFF2-40B4-BE49-F238E27FC236}">
                <a16:creationId xmlns:a16="http://schemas.microsoft.com/office/drawing/2014/main" id="{9A10CC39-CE15-A279-6F71-AF912B18B543}"/>
              </a:ext>
            </a:extLst>
          </p:cNvPr>
          <p:cNvSpPr>
            <a:spLocks noGrp="1"/>
          </p:cNvSpPr>
          <p:nvPr>
            <p:ph sz="half" idx="1"/>
          </p:nvPr>
        </p:nvSpPr>
        <p:spPr>
          <a:xfrm>
            <a:off x="1457188" y="1936193"/>
            <a:ext cx="8997451" cy="3653350"/>
          </a:xfrm>
          <a:noFill/>
        </p:spPr>
        <p:txBody>
          <a:bodyPr>
            <a:normAutofit lnSpcReduction="10000"/>
          </a:bodyPr>
          <a:lstStyle/>
          <a:p>
            <a:pPr lvl="0"/>
            <a:r>
              <a:rPr lang="vi-VN" sz="26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Tìm </a:t>
            </a:r>
            <a:r>
              <a:rPr lang="en-US" sz="2600" dirty="0" err="1">
                <a:latin typeface="Times New Roman" panose="02020603050405020304" pitchFamily="18" charset="0"/>
                <a:cs typeface="Times New Roman" panose="02020603050405020304" pitchFamily="18" charset="0"/>
              </a:rPr>
              <a:t>kiếm</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tuần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tự</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phù</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hợp</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cho</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danh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sách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nhỏ</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hoặc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chưa</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sắp</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xếp</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với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ưu</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điểm</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là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đơn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giản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không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yêu</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cầu</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dữ</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liệu</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phải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được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sắp</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xếp</a:t>
            </a:r>
            <a:r>
              <a:rPr lang="en-US" sz="2600" dirty="0">
                <a:latin typeface="Times New Roman" panose="02020603050405020304" pitchFamily="18" charset="0"/>
                <a:cs typeface="Times New Roman" panose="02020603050405020304" pitchFamily="18" charset="0"/>
              </a:rPr>
              <a:t>.</a:t>
            </a:r>
          </a:p>
          <a:p>
            <a:pPr lvl="0"/>
            <a:r>
              <a:rPr lang="vi-VN" sz="26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Tìm </a:t>
            </a:r>
            <a:r>
              <a:rPr lang="en-US" sz="2600" dirty="0" err="1">
                <a:latin typeface="Times New Roman" panose="02020603050405020304" pitchFamily="18" charset="0"/>
                <a:cs typeface="Times New Roman" panose="02020603050405020304" pitchFamily="18" charset="0"/>
              </a:rPr>
              <a:t>kiếm</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nhị</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phân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vượt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trội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về</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hiệu</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suất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với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danh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sách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lớn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đã</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sắp</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xếp</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nhưng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yêu</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cầu</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dữ</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liệu</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phải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được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sắp</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xếp</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trước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phức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tạp</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hơn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trong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cài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đặt</a:t>
            </a:r>
            <a:r>
              <a:rPr lang="en-US" sz="2600" dirty="0">
                <a:latin typeface="Times New Roman" panose="02020603050405020304" pitchFamily="18" charset="0"/>
                <a:cs typeface="Times New Roman" panose="02020603050405020304" pitchFamily="18" charset="0"/>
              </a:rPr>
              <a:t>.</a:t>
            </a:r>
            <a:endParaRPr lang="vi-VN" sz="2600" dirty="0">
              <a:latin typeface="Times New Roman" panose="02020603050405020304" pitchFamily="18" charset="0"/>
              <a:cs typeface="Times New Roman" panose="02020603050405020304" pitchFamily="18" charset="0"/>
            </a:endParaRPr>
          </a:p>
          <a:p>
            <a:r>
              <a:rPr lang="vi-VN"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Ta </a:t>
            </a:r>
            <a:r>
              <a:rPr lang="en-US" sz="2800" dirty="0" err="1">
                <a:latin typeface="Times New Roman" panose="02020603050405020304" pitchFamily="18" charset="0"/>
                <a:cs typeface="Times New Roman" panose="02020603050405020304" pitchFamily="18" charset="0"/>
              </a:rPr>
              <a:t>cần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cân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nhắc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cầu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thực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tế</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để</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chọn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một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trong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hai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giải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thuật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tìm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kiếm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trên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sao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lợi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nhất</a:t>
            </a:r>
            <a:r>
              <a:rPr lang="en-US" sz="2800" dirty="0">
                <a:latin typeface="Times New Roman" panose="02020603050405020304" pitchFamily="18" charset="0"/>
                <a:cs typeface="Times New Roman" panose="02020603050405020304" pitchFamily="18" charset="0"/>
              </a:rPr>
              <a:t> </a:t>
            </a:r>
          </a:p>
          <a:p>
            <a:pPr marL="457200" lvl="0" indent="-457200">
              <a:buFontTx/>
              <a:buChar char="-"/>
            </a:pP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95903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xfrm>
            <a:off x="4143375" y="976517"/>
            <a:ext cx="3905250" cy="3032567"/>
          </a:xfrm>
          <a:noFill/>
        </p:spPr>
        <p:txBody>
          <a:bodyPr anchor="b"/>
          <a:lstStyle/>
          <a:p>
            <a:r>
              <a:rPr lang="en-US" sz="5000" dirty="0"/>
              <a:t>Thank you</a:t>
            </a:r>
          </a:p>
        </p:txBody>
      </p:sp>
    </p:spTree>
    <p:extLst>
      <p:ext uri="{BB962C8B-B14F-4D97-AF65-F5344CB8AC3E}">
        <p14:creationId xmlns:p14="http://schemas.microsoft.com/office/powerpoint/2010/main" val="611567175"/>
      </p:ext>
    </p:extLst>
  </p:cSld>
  <p:clrMapOvr>
    <a:masterClrMapping/>
  </p:clrMapOvr>
</p:sld>
</file>

<file path=ppt/theme/theme1.xml><?xml version="1.0" encoding="utf-8"?>
<a:theme xmlns:a="http://schemas.openxmlformats.org/drawingml/2006/main" name="Custom">
  <a:themeElements>
    <a:clrScheme name="TM10081922">
      <a:dk1>
        <a:srgbClr val="000000"/>
      </a:dk1>
      <a:lt1>
        <a:srgbClr val="FFFFFF"/>
      </a:lt1>
      <a:dk2>
        <a:srgbClr val="435369"/>
      </a:dk2>
      <a:lt2>
        <a:srgbClr val="E7E5E5"/>
      </a:lt2>
      <a:accent1>
        <a:srgbClr val="F2E5D8"/>
      </a:accent1>
      <a:accent2>
        <a:srgbClr val="8C3A27"/>
      </a:accent2>
      <a:accent3>
        <a:srgbClr val="F0C8BC"/>
      </a:accent3>
      <a:accent4>
        <a:srgbClr val="D9A390"/>
      </a:accent4>
      <a:accent5>
        <a:srgbClr val="FFF6F4"/>
      </a:accent5>
      <a:accent6>
        <a:srgbClr val="183F1E"/>
      </a:accent6>
      <a:hlink>
        <a:srgbClr val="467886"/>
      </a:hlink>
      <a:folHlink>
        <a:srgbClr val="96607D"/>
      </a:folHlink>
    </a:clrScheme>
    <a:fontScheme name="Custom 100">
      <a:majorFont>
        <a:latin typeface="Tisa Offc Serif Pro"/>
        <a:ea typeface=""/>
        <a:cs typeface=""/>
      </a:majorFont>
      <a:minorFont>
        <a:latin typeface="Qui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10081922_Win32_SL_V4" id="{CCBED28E-3218-45D8-920F-A2D91CCE8680}" vid="{A1C6549C-A185-4AC8-97B3-DFFFA73555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A349358-775F-4CF9-9AE6-33A7901637E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FB2D96AF-4C9E-4DD0-A165-CD22BB87D090}">
  <ds:schemaRefs>
    <ds:schemaRef ds:uri="http://schemas.microsoft.com/sharepoint/v3/contenttype/forms"/>
  </ds:schemaRefs>
</ds:datastoreItem>
</file>

<file path=customXml/itemProps3.xml><?xml version="1.0" encoding="utf-8"?>
<ds:datastoreItem xmlns:ds="http://schemas.openxmlformats.org/officeDocument/2006/customXml" ds:itemID="{FAF1DBB7-4BA2-49E3-BEC8-A38406CA50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{CFD6C849-DB5C-4CE3-A61C-82C37E5F7095}TF96423eb0-8e02-4a99-b83b-bc60d19202d5328e4d86_win32-c07ae754e67e</Template>
  <TotalTime>335</TotalTime>
  <Words>2363</Words>
  <Application>Microsoft Office PowerPoint</Application>
  <PresentationFormat>Widescreen</PresentationFormat>
  <Paragraphs>216</Paragraphs>
  <Slides>37</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Aptos</vt:lpstr>
      <vt:lpstr>Arial</vt:lpstr>
      <vt:lpstr>Calibri</vt:lpstr>
      <vt:lpstr>Cambria Math</vt:lpstr>
      <vt:lpstr>Quire Sans Pro Light</vt:lpstr>
      <vt:lpstr>Times New Roman</vt:lpstr>
      <vt:lpstr>Tisa Offc Serif Pro</vt:lpstr>
      <vt:lpstr>Custom</vt:lpstr>
      <vt:lpstr>So sánh thuật toán tìm kiếm tuần tự và tìm kiếm nhị phân</vt:lpstr>
      <vt:lpstr>Nội dung</vt:lpstr>
      <vt:lpstr>1. Giới thiệu về bài toán tìm kiếm (searching problem)</vt:lpstr>
      <vt:lpstr>- Tìm kiếm là một yêu cầu rất thường xuyên trong đời sống hàng ngày cũng như trong tin học  -Ví dụ:  Tìm kiếm một sinh viên trong lớp  Tìm kiếm một tập tin, thư mục trong máy   - Để đơn giản ta xét bài toán tìm kiếm như sau:  Cho một dãy số gồm các phần tử a1 , a2 , ..., an . Cho biết trong dãy này có phần tử nào có giá trị bằng X (cho trước) hay không?</vt:lpstr>
      <vt:lpstr>2. Tìm kiếm tuần tự(Linear Search)</vt:lpstr>
      <vt:lpstr>Giới thiệu Thuật Toán Tìm Kiếm Tuần Tự (Sequential Search)</vt:lpstr>
      <vt:lpstr>Ý tưởng :</vt:lpstr>
      <vt:lpstr>Thuật toán text</vt:lpstr>
      <vt:lpstr>PowerPoint Presentation</vt:lpstr>
      <vt:lpstr>Ví dụ: </vt:lpstr>
      <vt:lpstr>Ví dụ : </vt:lpstr>
      <vt:lpstr>Thuật toán :</vt:lpstr>
      <vt:lpstr>PowerPoint Presentation</vt:lpstr>
      <vt:lpstr>PowerPoint Presentation</vt:lpstr>
      <vt:lpstr>Phân tích , đánh giá thuật toán</vt:lpstr>
      <vt:lpstr>Đánh giá thuật toán</vt:lpstr>
      <vt:lpstr>Tìm kiếm nhị phân (Binary Search)</vt:lpstr>
      <vt:lpstr>PowerPoint Presentation</vt:lpstr>
      <vt:lpstr>Ý tưởng :</vt:lpstr>
      <vt:lpstr>PowerPoint Presentation</vt:lpstr>
      <vt:lpstr>PowerPoint Presentation</vt:lpstr>
      <vt:lpstr>PowerPoint Presentation</vt:lpstr>
      <vt:lpstr>PowerPoint Presentation</vt:lpstr>
      <vt:lpstr>PowerPoint Presentation</vt:lpstr>
      <vt:lpstr>Thuật toán :</vt:lpstr>
      <vt:lpstr>PowerPoint Presentation</vt:lpstr>
      <vt:lpstr>PowerPoint Presentation</vt:lpstr>
      <vt:lpstr>Phân tích, đánh giá thuật toán:</vt:lpstr>
      <vt:lpstr>4. So sách giữa  thuật toán tìm kiếm tuần tự và nhị phân </vt:lpstr>
      <vt:lpstr>PowerPoint Presentation</vt:lpstr>
      <vt:lpstr>Phân tích hiệu suất: </vt:lpstr>
      <vt:lpstr>Lựa chọn thuật toán phụ thuộc vào:</vt:lpstr>
      <vt:lpstr>5. Demo code minh họa</vt:lpstr>
      <vt:lpstr>Nhận xét</vt:lpstr>
      <vt:lpstr>Nhận xét</vt:lpstr>
      <vt:lpstr>Kết luận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nam nguyen</dc:creator>
  <cp:lastModifiedBy>nam nguyen</cp:lastModifiedBy>
  <cp:revision>4</cp:revision>
  <dcterms:created xsi:type="dcterms:W3CDTF">2025-11-27T09:24:02Z</dcterms:created>
  <dcterms:modified xsi:type="dcterms:W3CDTF">2025-11-28T02:41:42Z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