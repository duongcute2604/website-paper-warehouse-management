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18"/>
  </p:notesMasterIdLst>
  <p:handoutMasterIdLst>
    <p:handoutMasterId r:id="rId19"/>
  </p:handoutMasterIdLst>
  <p:sldIdLst>
    <p:sldId id="289" r:id="rId5"/>
    <p:sldId id="288" r:id="rId6"/>
    <p:sldId id="283" r:id="rId7"/>
    <p:sldId id="276" r:id="rId8"/>
    <p:sldId id="292" r:id="rId9"/>
    <p:sldId id="261" r:id="rId10"/>
    <p:sldId id="293" r:id="rId11"/>
    <p:sldId id="291" r:id="rId12"/>
    <p:sldId id="290" r:id="rId13"/>
    <p:sldId id="263" r:id="rId14"/>
    <p:sldId id="294" r:id="rId15"/>
    <p:sldId id="295" r:id="rId16"/>
    <p:sldId id="2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7DBD2F-ADB4-4290-B084-A097F5B240DA}" v="30" dt="2025-12-18T02:03:29.234"/>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0" autoAdjust="0"/>
    <p:restoredTop sz="94694" autoAdjust="0"/>
  </p:normalViewPr>
  <p:slideViewPr>
    <p:cSldViewPr snapToGrid="0">
      <p:cViewPr varScale="1">
        <p:scale>
          <a:sx n="104" d="100"/>
          <a:sy n="104" d="100"/>
        </p:scale>
        <p:origin x="164" y="10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12/18/2025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465852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778B4-82A9-EA1D-E9A7-0542946B1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7172F-3B3F-585D-A574-3C461DA75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5B359-839A-C903-A4AD-DB5267466C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A47818-4DAB-5B7B-59DA-09A3908565F8}"/>
              </a:ext>
            </a:extLst>
          </p:cNvPr>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3638100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C593D-06B6-6FAA-65C4-C98BAEC1E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69344-8719-D39D-1EAA-DE8E593131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ED7CC-8B42-4D40-3284-758136F766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E39A8-68ED-2D5F-0AC7-BB3E04283EC1}"/>
              </a:ext>
            </a:extLst>
          </p:cNvPr>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2441629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CADE2-6FE5-D8B2-F472-0BC6AEA49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07AE6-DD3F-327E-7CC1-F4DC523353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98466-CCFD-EAA8-3AAF-DAE39F16E7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8D4F6E-A1E8-9508-E227-073C1AE2002F}"/>
              </a:ext>
            </a:extLst>
          </p:cNvPr>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2003344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AF0EE-FF49-9A83-6667-6C81602EB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54A56-5A87-35EB-DBB7-19D6FD10B0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1C44C-59D9-E437-C3D9-C250E03E68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7ED27E-77EF-E2AF-F656-CB9B88074631}"/>
              </a:ext>
            </a:extLst>
          </p:cNvPr>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2584950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10</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F3680-83F7-B93B-EEE1-F1312A84A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DDCB1-3D6D-D367-27AF-D7EC0E3B90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81802-4BB3-1BA1-B2BA-8F871846B6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F19EDD-661A-F377-C672-61C3B14E9199}"/>
              </a:ext>
            </a:extLst>
          </p:cNvPr>
          <p:cNvSpPr>
            <a:spLocks noGrp="1"/>
          </p:cNvSpPr>
          <p:nvPr>
            <p:ph type="sldNum" sz="quarter" idx="5"/>
          </p:nvPr>
        </p:nvSpPr>
        <p:spPr/>
        <p:txBody>
          <a:bodyPr/>
          <a:lstStyle/>
          <a:p>
            <a:fld id="{CC5DA344-5FA2-43F7-9D95-CA56C82B080A}" type="slidenum">
              <a:rPr lang="en-US" smtClean="0"/>
              <a:t>11</a:t>
            </a:fld>
            <a:endParaRPr lang="en-US"/>
          </a:p>
        </p:txBody>
      </p:sp>
    </p:spTree>
    <p:extLst>
      <p:ext uri="{BB962C8B-B14F-4D97-AF65-F5344CB8AC3E}">
        <p14:creationId xmlns:p14="http://schemas.microsoft.com/office/powerpoint/2010/main" val="3130716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86FF-1F85-6D34-C39F-9F5579FA1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1DEEB-0095-9FA7-6E66-9EFD07556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CBEA8-C127-7495-8C8A-38F7EF6608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64AEB1-57EB-C64C-B4DA-6E29A1A39C1D}"/>
              </a:ext>
            </a:extLst>
          </p:cNvPr>
          <p:cNvSpPr>
            <a:spLocks noGrp="1"/>
          </p:cNvSpPr>
          <p:nvPr>
            <p:ph type="sldNum" sz="quarter" idx="5"/>
          </p:nvPr>
        </p:nvSpPr>
        <p:spPr/>
        <p:txBody>
          <a:bodyPr/>
          <a:lstStyle/>
          <a:p>
            <a:fld id="{CC5DA344-5FA2-43F7-9D95-CA56C82B080A}" type="slidenum">
              <a:rPr lang="en-US" smtClean="0"/>
              <a:t>12</a:t>
            </a:fld>
            <a:endParaRPr lang="en-US"/>
          </a:p>
        </p:txBody>
      </p:sp>
    </p:spTree>
    <p:extLst>
      <p:ext uri="{BB962C8B-B14F-4D97-AF65-F5344CB8AC3E}">
        <p14:creationId xmlns:p14="http://schemas.microsoft.com/office/powerpoint/2010/main" val="36906995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13</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25005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4056528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260937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12/18/2025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12/18/2025</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7" r:id="rId17"/>
    <p:sldLayoutId id="2147483691" r:id="rId18"/>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file:///D:\bai%20tap%20lon\uml\use%20case\t&#7893;ng%20qu&#225;t.jp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a:xfrm>
            <a:off x="750203" y="1330960"/>
            <a:ext cx="5370652" cy="2357120"/>
          </a:xfrm>
        </p:spPr>
        <p:txBody>
          <a:bodyPr/>
          <a:lstStyle/>
          <a:p>
            <a:r>
              <a:rPr lang="vi-VN" b="1" i="0" dirty="0">
                <a:latin typeface="Times New Roman" panose="02020603050405020304" pitchFamily="18" charset="0"/>
                <a:cs typeface="Times New Roman" panose="02020603050405020304" pitchFamily="18" charset="0"/>
              </a:rPr>
              <a:t>Đồ án 2 : </a:t>
            </a:r>
            <a:r>
              <a:rPr lang="en-US" b="1" i="0" dirty="0">
                <a:latin typeface="Times New Roman" panose="02020603050405020304" pitchFamily="18" charset="0"/>
                <a:cs typeface="Times New Roman" panose="02020603050405020304" pitchFamily="18" charset="0"/>
              </a:rPr>
              <a:t>THIẾT</a:t>
            </a:r>
            <a:r>
              <a:rPr lang="vi-VN" b="1" i="0" dirty="0">
                <a:latin typeface="Times New Roman" panose="02020603050405020304" pitchFamily="18" charset="0"/>
                <a:cs typeface="Times New Roman" panose="02020603050405020304" pitchFamily="18" charset="0"/>
              </a:rPr>
              <a:t> KẾ WEBSITE BÁN MÔ HÌNH</a:t>
            </a:r>
            <a:br>
              <a:rPr lang="vi-VN"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7" name="Picture Placeholder 6" descr="Looking up view of a city with skyscrapers">
            <a:extLst>
              <a:ext uri="{FF2B5EF4-FFF2-40B4-BE49-F238E27FC236}">
                <a16:creationId xmlns:a16="http://schemas.microsoft.com/office/drawing/2014/main" id="{ED21B7CD-3D69-26B5-8A0B-52A19A6B0A2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72" r="72"/>
          <a:stretch/>
        </p:blipFill>
        <p:spPr>
          <a:xfrm>
            <a:off x="5613199" y="-179433"/>
            <a:ext cx="6578801" cy="6894576"/>
          </a:xfrm>
        </p:spPr>
      </p:pic>
      <p:sp>
        <p:nvSpPr>
          <p:cNvPr id="2" name="TextBox 1">
            <a:extLst>
              <a:ext uri="{FF2B5EF4-FFF2-40B4-BE49-F238E27FC236}">
                <a16:creationId xmlns:a16="http://schemas.microsoft.com/office/drawing/2014/main" id="{94217EB2-C176-F22B-C633-675AA94426C0}"/>
              </a:ext>
            </a:extLst>
          </p:cNvPr>
          <p:cNvSpPr txBox="1"/>
          <p:nvPr/>
        </p:nvSpPr>
        <p:spPr>
          <a:xfrm>
            <a:off x="750203" y="4927191"/>
            <a:ext cx="4217116" cy="923330"/>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Sinh viên : Nguyễn Hải Nam</a:t>
            </a:r>
          </a:p>
          <a:p>
            <a:r>
              <a:rPr lang="vi-VN" dirty="0">
                <a:latin typeface="Times New Roman" panose="02020603050405020304" pitchFamily="18" charset="0"/>
                <a:cs typeface="Times New Roman" panose="02020603050405020304" pitchFamily="18" charset="0"/>
              </a:rPr>
              <a:t>Giảng viên : Nguyễn Hoàng Điệp</a:t>
            </a:r>
          </a:p>
          <a:p>
            <a:r>
              <a:rPr lang="vi-VN" dirty="0">
                <a:latin typeface="Times New Roman" panose="02020603050405020304" pitchFamily="18" charset="0"/>
                <a:cs typeface="Times New Roman" panose="02020603050405020304" pitchFamily="18" charset="0"/>
              </a:rPr>
              <a:t>Trường đại học sư phạm kĩ thuật Hưng Yên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4700876" y="811300"/>
            <a:ext cx="3565546" cy="1503621"/>
          </a:xfrm>
          <a:noFill/>
        </p:spPr>
        <p:txBody>
          <a:bodyPr>
            <a:noAutofit/>
          </a:bodyPr>
          <a:lstStyle/>
          <a:p>
            <a:r>
              <a:rPr lang="vi-VN" dirty="0">
                <a:latin typeface="Times New Roman" panose="02020603050405020304" pitchFamily="18" charset="0"/>
                <a:cs typeface="Times New Roman" panose="02020603050405020304" pitchFamily="18" charset="0"/>
              </a:rPr>
              <a:t>Mục lục</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4743834" y="2460902"/>
            <a:ext cx="4608510" cy="3665578"/>
          </a:xfrm>
          <a:noFill/>
        </p:spPr>
        <p:txBody>
          <a:bodyPr anchor="ctr">
            <a:noAutofit/>
          </a:bodyPr>
          <a:lstStyle/>
          <a:p>
            <a:pPr marL="342900" indent="-342900">
              <a:buAutoNum type="arabicPeriod"/>
            </a:pPr>
            <a:r>
              <a:rPr lang="vi-VN" sz="2800" dirty="0">
                <a:latin typeface="Times New Roman" panose="02020603050405020304" pitchFamily="18" charset="0"/>
                <a:cs typeface="Times New Roman" panose="02020603050405020304" pitchFamily="18" charset="0"/>
              </a:rPr>
              <a:t>Giới thiệu đề tài</a:t>
            </a:r>
          </a:p>
          <a:p>
            <a:pPr marL="342900" indent="-342900">
              <a:buAutoNum type="arabicPeriod"/>
            </a:pPr>
            <a:r>
              <a:rPr lang="vi-VN" sz="2800" dirty="0">
                <a:latin typeface="Times New Roman" panose="02020603050405020304" pitchFamily="18" charset="0"/>
                <a:cs typeface="Times New Roman" panose="02020603050405020304" pitchFamily="18" charset="0"/>
              </a:rPr>
              <a:t>Cơ sở lý thuyết</a:t>
            </a:r>
          </a:p>
          <a:p>
            <a:pPr marL="342900" indent="-342900">
              <a:buAutoNum type="arabicPeriod"/>
            </a:pPr>
            <a:r>
              <a:rPr lang="vi-VN" sz="2800" dirty="0">
                <a:latin typeface="Times New Roman" panose="02020603050405020304" pitchFamily="18" charset="0"/>
                <a:cs typeface="Times New Roman" panose="02020603050405020304" pitchFamily="18" charset="0"/>
              </a:rPr>
              <a:t>Phân tích thiết kế</a:t>
            </a:r>
          </a:p>
          <a:p>
            <a:pPr marL="342900" indent="-342900">
              <a:buAutoNum type="arabicPeriod"/>
            </a:pPr>
            <a:r>
              <a:rPr lang="vi-VN" sz="2800" dirty="0">
                <a:latin typeface="Times New Roman" panose="02020603050405020304" pitchFamily="18" charset="0"/>
                <a:cs typeface="Times New Roman" panose="02020603050405020304" pitchFamily="18" charset="0"/>
              </a:rPr>
              <a:t>Triển khai website</a:t>
            </a:r>
          </a:p>
          <a:p>
            <a:pPr marL="342900" indent="-342900">
              <a:buAutoNum type="arabicPeriod"/>
            </a:pPr>
            <a:r>
              <a:rPr lang="vi-VN" sz="2800" dirty="0">
                <a:latin typeface="Times New Roman" panose="02020603050405020304" pitchFamily="18" charset="0"/>
                <a:cs typeface="Times New Roman" panose="02020603050405020304" pitchFamily="18" charset="0"/>
              </a:rPr>
              <a:t>Kết luận</a:t>
            </a:r>
          </a:p>
        </p:txBody>
      </p:sp>
      <p:pic>
        <p:nvPicPr>
          <p:cNvPr id="25" name="Picture Placeholder 6" descr="A city skyline">
            <a:extLst>
              <a:ext uri="{FF2B5EF4-FFF2-40B4-BE49-F238E27FC236}">
                <a16:creationId xmlns:a16="http://schemas.microsoft.com/office/drawing/2014/main" id="{086C9520-C924-5732-CC82-F0C4A533D4E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8" r="38"/>
          <a:stretch/>
        </p:blipFill>
        <p:spPr/>
      </p:pic>
    </p:spTree>
    <p:extLst>
      <p:ext uri="{BB962C8B-B14F-4D97-AF65-F5344CB8AC3E}">
        <p14:creationId xmlns:p14="http://schemas.microsoft.com/office/powerpoint/2010/main" val="1038351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215072" y="2626598"/>
            <a:ext cx="6042254" cy="1256713"/>
          </a:xfrm>
          <a:noFill/>
        </p:spPr>
        <p:txBody>
          <a:bodyPr>
            <a:noAutofit/>
          </a:bodyPr>
          <a:lstStyle/>
          <a:p>
            <a:pPr marL="342900" indent="-342900">
              <a:buAutoNum type="arabicPeriod"/>
            </a:pPr>
            <a:r>
              <a:rPr lang="vi-VN" b="1" dirty="0">
                <a:latin typeface="Times New Roman" panose="02020603050405020304" pitchFamily="18" charset="0"/>
                <a:cs typeface="Times New Roman" panose="02020603050405020304" pitchFamily="18" charset="0"/>
              </a:rPr>
              <a:t> Giới thiệu đề tài</a:t>
            </a:r>
          </a:p>
        </p:txBody>
      </p:sp>
      <p:pic>
        <p:nvPicPr>
          <p:cNvPr id="43" name="Picture Placeholder 42" descr="A plane flying over a city">
            <a:extLst>
              <a:ext uri="{FF2B5EF4-FFF2-40B4-BE49-F238E27FC236}">
                <a16:creationId xmlns:a16="http://schemas.microsoft.com/office/drawing/2014/main" id="{9100BC91-12A3-DE75-3F38-9C17D39DC5E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9" r="39"/>
          <a:stretch/>
        </p:blipFill>
        <p:spPr/>
      </p:pic>
    </p:spTree>
    <p:extLst>
      <p:ext uri="{BB962C8B-B14F-4D97-AF65-F5344CB8AC3E}">
        <p14:creationId xmlns:p14="http://schemas.microsoft.com/office/powerpoint/2010/main" val="4242039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A9935F0C-7755-2D10-5E10-2DA3C1A3E60C}"/>
              </a:ext>
            </a:extLst>
          </p:cNvPr>
          <p:cNvSpPr txBox="1">
            <a:spLocks/>
          </p:cNvSpPr>
          <p:nvPr/>
        </p:nvSpPr>
        <p:spPr>
          <a:xfrm>
            <a:off x="4185021" y="0"/>
            <a:ext cx="4108745" cy="9386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endParaRPr lang="en-US" b="1" dirty="0">
              <a:latin typeface="Times New Roman" panose="02020603050405020304" pitchFamily="18" charset="0"/>
              <a:cs typeface="Times New Roman" panose="02020603050405020304" pitchFamily="18" charset="0"/>
            </a:endParaRPr>
          </a:p>
        </p:txBody>
      </p:sp>
      <p:sp>
        <p:nvSpPr>
          <p:cNvPr id="10" name="Content Placeholder 3">
            <a:extLst>
              <a:ext uri="{FF2B5EF4-FFF2-40B4-BE49-F238E27FC236}">
                <a16:creationId xmlns:a16="http://schemas.microsoft.com/office/drawing/2014/main" id="{2C11518B-2677-FC73-9436-445E55751DC2}"/>
              </a:ext>
            </a:extLst>
          </p:cNvPr>
          <p:cNvSpPr txBox="1">
            <a:spLocks/>
          </p:cNvSpPr>
          <p:nvPr/>
        </p:nvSpPr>
        <p:spPr>
          <a:xfrm>
            <a:off x="939709" y="1226446"/>
            <a:ext cx="11096436" cy="1878197"/>
          </a:xfrm>
          <a:prstGeom prst="rect">
            <a:avLst/>
          </a:prstGeom>
        </p:spPr>
        <p:txBody>
          <a:bodyP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sz="1500">
                <a:latin typeface="Times New Roman" panose="02020603050405020304" pitchFamily="18" charset="0"/>
                <a:cs typeface="Times New Roman" panose="02020603050405020304" pitchFamily="18" charset="0"/>
              </a:rPr>
              <a:t>- </a:t>
            </a:r>
            <a:r>
              <a:rPr lang="en-US" sz="1500">
                <a:latin typeface="Times New Roman" panose="02020603050405020304" pitchFamily="18" charset="0"/>
                <a:cs typeface="Times New Roman" panose="02020603050405020304" pitchFamily="18" charset="0"/>
              </a:rPr>
              <a:t>Trong những năm gần đây, nhu cầu mua sắm trực tuyến tại Việt Nam tăng trưởng mạnh mẽ nhờ sự phát triển của thương mại điện tử, công nghệ thanh toán số và thói quen tiêu dùng mới. Đặc biệt, thị trường mô hình sưu tầm (Gundam, Lego, Figure, xe mô hình…) đang ngày càng được giới trẻ quan </a:t>
            </a:r>
            <a:r>
              <a:rPr lang="vi-VN" sz="1500">
                <a:latin typeface="Times New Roman" panose="02020603050405020304" pitchFamily="18" charset="0"/>
                <a:cs typeface="Times New Roman" panose="02020603050405020304" pitchFamily="18" charset="0"/>
              </a:rPr>
              <a:t>tâm, </a:t>
            </a:r>
            <a:r>
              <a:rPr lang="en-US" sz="1500">
                <a:latin typeface="Times New Roman" panose="02020603050405020304" pitchFamily="18" charset="0"/>
                <a:cs typeface="Times New Roman" panose="02020603050405020304" pitchFamily="18" charset="0"/>
              </a:rPr>
              <a:t>tuy nhiên vẫn tồn tại nhiều hạn chế trong cách vận hành bán hàng hiện nay</a:t>
            </a:r>
            <a:r>
              <a:rPr lang="vi-VN" sz="1500">
                <a:latin typeface="Times New Roman" panose="02020603050405020304" pitchFamily="18" charset="0"/>
                <a:cs typeface="Times New Roman" panose="02020603050405020304" pitchFamily="18" charset="0"/>
              </a:rPr>
              <a:t> .</a:t>
            </a:r>
          </a:p>
          <a:p>
            <a:r>
              <a:rPr lang="vi-VN" sz="1500">
                <a:latin typeface="Times New Roman" panose="02020603050405020304" pitchFamily="18" charset="0"/>
                <a:cs typeface="Times New Roman" panose="02020603050405020304" pitchFamily="18" charset="0"/>
              </a:rPr>
              <a:t>- Vì vậy đề tài này này được lựa chọn nhằm nghiên cứuthieets kết hệ thống quản lý cửa hàng bán mô hình nhằm tối ưu hóa và nâng cao hiệu quả kinh doanh</a:t>
            </a:r>
            <a:endParaRPr lang="en-US" sz="15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8DB4F33-75BC-1A2A-05CF-BE9E150A7E34}"/>
              </a:ext>
            </a:extLst>
          </p:cNvPr>
          <p:cNvSpPr txBox="1"/>
          <p:nvPr/>
        </p:nvSpPr>
        <p:spPr>
          <a:xfrm>
            <a:off x="739269" y="673766"/>
            <a:ext cx="1800493"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Lý do chọn đề tài</a:t>
            </a: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E6E50F9-EED4-FFFF-92C6-1CF223BA596C}"/>
              </a:ext>
            </a:extLst>
          </p:cNvPr>
          <p:cNvSpPr txBox="1"/>
          <p:nvPr/>
        </p:nvSpPr>
        <p:spPr>
          <a:xfrm>
            <a:off x="623852" y="3156910"/>
            <a:ext cx="2149948"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Mục đích nghiên cứu</a:t>
            </a:r>
            <a:endParaRPr lang="en-US"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E939449-874B-A053-0F00-D570561D7DBE}"/>
              </a:ext>
            </a:extLst>
          </p:cNvPr>
          <p:cNvSpPr txBox="1"/>
          <p:nvPr/>
        </p:nvSpPr>
        <p:spPr>
          <a:xfrm>
            <a:off x="739269" y="4348979"/>
            <a:ext cx="2034531"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Phạm vi nghiên cứu</a:t>
            </a:r>
            <a:endParaRPr lang="en-US"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285205E-EAB3-58A4-129D-FF0DC20AA09B}"/>
              </a:ext>
            </a:extLst>
          </p:cNvPr>
          <p:cNvSpPr txBox="1"/>
          <p:nvPr/>
        </p:nvSpPr>
        <p:spPr>
          <a:xfrm>
            <a:off x="1026507" y="4874358"/>
            <a:ext cx="10367741" cy="553998"/>
          </a:xfrm>
          <a:prstGeom prst="rect">
            <a:avLst/>
          </a:prstGeom>
          <a:noFill/>
        </p:spPr>
        <p:txBody>
          <a:bodyPr wrap="square">
            <a:spAutoFit/>
          </a:bodyPr>
          <a:lstStyle/>
          <a:p>
            <a:r>
              <a:rPr lang="vi-VN"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Xây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dựng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thử</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nghiệm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hệ</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thống</a:t>
            </a:r>
            <a:r>
              <a:rPr lang="en-US" sz="1500" dirty="0">
                <a:latin typeface="Times New Roman" panose="02020603050405020304" pitchFamily="18" charset="0"/>
                <a:cs typeface="Times New Roman" panose="02020603050405020304" pitchFamily="18" charset="0"/>
              </a:rPr>
              <a:t> website </a:t>
            </a:r>
            <a:r>
              <a:rPr lang="en-US" sz="1500" dirty="0" err="1">
                <a:latin typeface="Times New Roman" panose="02020603050405020304" pitchFamily="18" charset="0"/>
                <a:cs typeface="Times New Roman" panose="02020603050405020304" pitchFamily="18" charset="0"/>
              </a:rPr>
              <a:t>bán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hình</a:t>
            </a:r>
            <a:r>
              <a:rPr lang="en-US" sz="1500" dirty="0">
                <a:latin typeface="Times New Roman" panose="02020603050405020304" pitchFamily="18" charset="0"/>
                <a:cs typeface="Times New Roman" panose="02020603050405020304" pitchFamily="18" charset="0"/>
              </a:rPr>
              <a:t> ở </a:t>
            </a:r>
            <a:r>
              <a:rPr lang="en-US" sz="1500" dirty="0" err="1">
                <a:latin typeface="Times New Roman" panose="02020603050405020304" pitchFamily="18" charset="0"/>
                <a:cs typeface="Times New Roman" panose="02020603050405020304" pitchFamily="18" charset="0"/>
              </a:rPr>
              <a:t>quy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cửa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vừa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nhỏ</a:t>
            </a:r>
            <a:r>
              <a:rPr lang="en-US" sz="1500" dirty="0">
                <a:latin typeface="Times New Roman" panose="02020603050405020304" pitchFamily="18" charset="0"/>
                <a:cs typeface="Times New Roman" panose="02020603050405020304" pitchFamily="18" charset="0"/>
              </a:rPr>
              <a:t>.</a:t>
            </a:r>
          </a:p>
          <a:p>
            <a:r>
              <a:rPr lang="vi-VN"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Tập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trung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chức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quản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lý</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sản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phẩm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khách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hệ</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thống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phân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quyền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báo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cáo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cơ</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bản</a:t>
            </a:r>
            <a:r>
              <a:rPr lang="en-US" sz="1500" dirty="0">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ECC972E4-ACC3-72BD-E392-3D534272E75D}"/>
              </a:ext>
            </a:extLst>
          </p:cNvPr>
          <p:cNvSpPr txBox="1"/>
          <p:nvPr/>
        </p:nvSpPr>
        <p:spPr>
          <a:xfrm>
            <a:off x="984341" y="3669713"/>
            <a:ext cx="10609743" cy="523220"/>
          </a:xfrm>
          <a:prstGeom prst="rect">
            <a:avLst/>
          </a:prstGeom>
          <a:noFill/>
        </p:spPr>
        <p:txBody>
          <a:bodyPr wrap="square" rtlCol="0">
            <a:spAutoFit/>
          </a:bodyPr>
          <a:lstStyle/>
          <a:p>
            <a:r>
              <a:rPr lang="vi-VN"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Xây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dựng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các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biểu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đồ</a:t>
            </a:r>
            <a:r>
              <a:rPr lang="en-US" sz="1500" dirty="0">
                <a:latin typeface="Times New Roman" panose="02020603050405020304" pitchFamily="18" charset="0"/>
                <a:cs typeface="Times New Roman" panose="02020603050405020304" pitchFamily="18" charset="0"/>
              </a:rPr>
              <a:t> UML (Use Case, </a:t>
            </a:r>
            <a:r>
              <a:rPr lang="en-US" sz="1500" dirty="0" err="1">
                <a:latin typeface="Times New Roman" panose="02020603050405020304" pitchFamily="18" charset="0"/>
                <a:cs typeface="Times New Roman" panose="02020603050405020304" pitchFamily="18" charset="0"/>
              </a:rPr>
              <a:t>lớp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tuần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hoạt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động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triển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khai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để</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tả</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rõ</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ràng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chức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cấu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trúc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hệ</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thống</a:t>
            </a:r>
            <a:r>
              <a:rPr lang="en-US" sz="1500" dirty="0">
                <a:latin typeface="Times New Roman" panose="02020603050405020304" pitchFamily="18" charset="0"/>
                <a:cs typeface="Times New Roman" panose="02020603050405020304" pitchFamily="18" charset="0"/>
              </a:rPr>
              <a:t>.</a:t>
            </a:r>
          </a:p>
          <a:p>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1088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065F0-A25D-9979-EAD7-734B020DC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0A3E3-3E1C-8EA6-817D-6E0B316335A6}"/>
              </a:ext>
            </a:extLst>
          </p:cNvPr>
          <p:cNvSpPr>
            <a:spLocks noGrp="1"/>
          </p:cNvSpPr>
          <p:nvPr>
            <p:ph type="ctrTitle"/>
          </p:nvPr>
        </p:nvSpPr>
        <p:spPr>
          <a:xfrm>
            <a:off x="1215072" y="2626598"/>
            <a:ext cx="5787146" cy="1256713"/>
          </a:xfrm>
          <a:noFill/>
        </p:spPr>
        <p:txBody>
          <a:bodyPr>
            <a:noAutofit/>
          </a:bodyPr>
          <a:lstStyle/>
          <a:p>
            <a:r>
              <a:rPr lang="vi-VN" b="1" dirty="0">
                <a:latin typeface="Times New Roman" panose="02020603050405020304" pitchFamily="18" charset="0"/>
                <a:cs typeface="Times New Roman" panose="02020603050405020304" pitchFamily="18" charset="0"/>
              </a:rPr>
              <a:t>2. Cơ sở lý thuyết</a:t>
            </a:r>
          </a:p>
        </p:txBody>
      </p:sp>
      <p:pic>
        <p:nvPicPr>
          <p:cNvPr id="43" name="Picture Placeholder 42" descr="A plane flying over a city">
            <a:extLst>
              <a:ext uri="{FF2B5EF4-FFF2-40B4-BE49-F238E27FC236}">
                <a16:creationId xmlns:a16="http://schemas.microsoft.com/office/drawing/2014/main" id="{56FDEB30-E846-3DF0-2CA1-296B8639829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9" r="39"/>
          <a:stretch/>
        </p:blipFill>
        <p:spPr/>
      </p:pic>
    </p:spTree>
    <p:extLst>
      <p:ext uri="{BB962C8B-B14F-4D97-AF65-F5344CB8AC3E}">
        <p14:creationId xmlns:p14="http://schemas.microsoft.com/office/powerpoint/2010/main" val="608347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7" descr="Looking up view of tall buildings">
            <a:extLst>
              <a:ext uri="{FF2B5EF4-FFF2-40B4-BE49-F238E27FC236}">
                <a16:creationId xmlns:a16="http://schemas.microsoft.com/office/drawing/2014/main" id="{A672B903-78EE-718A-C122-69D5120788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1" b="61"/>
          <a:stretch/>
        </p:blipFill>
        <p:spPr>
          <a:noFill/>
        </p:spPr>
      </p:pic>
      <p:sp>
        <p:nvSpPr>
          <p:cNvPr id="8" name="TextBox 7">
            <a:extLst>
              <a:ext uri="{FF2B5EF4-FFF2-40B4-BE49-F238E27FC236}">
                <a16:creationId xmlns:a16="http://schemas.microsoft.com/office/drawing/2014/main" id="{E2F57A0A-9747-BF88-49B4-62004EA54C04}"/>
              </a:ext>
            </a:extLst>
          </p:cNvPr>
          <p:cNvSpPr txBox="1"/>
          <p:nvPr/>
        </p:nvSpPr>
        <p:spPr>
          <a:xfrm>
            <a:off x="3727323" y="165044"/>
            <a:ext cx="6428415" cy="2800767"/>
          </a:xfrm>
          <a:prstGeom prst="rect">
            <a:avLst/>
          </a:prstGeom>
          <a:noFill/>
        </p:spPr>
        <p:txBody>
          <a:bodyPr wrap="square" rtlCol="0">
            <a:spAutoFit/>
          </a:bodyPr>
          <a:lstStyle/>
          <a:p>
            <a:pPr marL="457200" indent="-457200">
              <a:buAutoNum type="arabicPeriod"/>
            </a:pPr>
            <a:r>
              <a:rPr lang="en-US" sz="2500" dirty="0">
                <a:latin typeface="Times New Roman" panose="02020603050405020304" pitchFamily="18" charset="0"/>
                <a:cs typeface="Times New Roman" panose="02020603050405020304" pitchFamily="18" charset="0"/>
              </a:rPr>
              <a:t>Quy </a:t>
            </a:r>
            <a:r>
              <a:rPr lang="en-US" sz="2500" dirty="0" err="1">
                <a:latin typeface="Times New Roman" panose="02020603050405020304" pitchFamily="18" charset="0"/>
                <a:cs typeface="Times New Roman" panose="02020603050405020304" pitchFamily="18" charset="0"/>
              </a:rPr>
              <a:t>trình</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phát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triển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mềm</a:t>
            </a:r>
            <a:endParaRPr lang="vi-VN" sz="2500" dirty="0">
              <a:latin typeface="Times New Roman" panose="02020603050405020304" pitchFamily="18" charset="0"/>
              <a:cs typeface="Times New Roman" panose="02020603050405020304" pitchFamily="18" charset="0"/>
            </a:endParaRPr>
          </a:p>
          <a:p>
            <a:pPr marL="457200" indent="-457200">
              <a:buAutoNum type="arabicPeriod"/>
            </a:pPr>
            <a:endParaRPr lang="en-US" sz="2500"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Gồm</a:t>
            </a:r>
            <a:r>
              <a:rPr lang="en-US" dirty="0">
                <a:latin typeface="Times New Roman" panose="02020603050405020304" pitchFamily="18" charset="0"/>
                <a:cs typeface="Times New Roman" panose="02020603050405020304" pitchFamily="18" charset="0"/>
              </a:rPr>
              <a:t> 5 </a:t>
            </a:r>
            <a:r>
              <a:rPr lang="en-US" dirty="0" err="1">
                <a:latin typeface="Times New Roman" panose="02020603050405020304" pitchFamily="18" charset="0"/>
                <a:cs typeface="Times New Roman" panose="02020603050405020304" pitchFamily="18" charset="0"/>
              </a:rPr>
              <a:t>giai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luồng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HTML, CSS, JS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dựng</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website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đánh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hồi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
        <p:nvSpPr>
          <p:cNvPr id="10" name="Title 9">
            <a:extLst>
              <a:ext uri="{FF2B5EF4-FFF2-40B4-BE49-F238E27FC236}">
                <a16:creationId xmlns:a16="http://schemas.microsoft.com/office/drawing/2014/main" id="{7CB72FF1-31FA-8AE0-4A66-9B19763E94AF}"/>
              </a:ext>
            </a:extLst>
          </p:cNvPr>
          <p:cNvSpPr>
            <a:spLocks noGrp="1"/>
          </p:cNvSpPr>
          <p:nvPr>
            <p:ph type="title"/>
          </p:nvPr>
        </p:nvSpPr>
        <p:spPr>
          <a:xfrm>
            <a:off x="3727323" y="3139443"/>
            <a:ext cx="7293720" cy="1505493"/>
          </a:xfrm>
        </p:spPr>
        <p:txBody>
          <a:bodyPr/>
          <a:lstStyle/>
          <a:p>
            <a:r>
              <a:rPr lang="en-US" sz="2500" i="0" dirty="0">
                <a:latin typeface="Times New Roman" panose="02020603050405020304" pitchFamily="18" charset="0"/>
                <a:cs typeface="Times New Roman" panose="02020603050405020304" pitchFamily="18" charset="0"/>
              </a:rPr>
              <a:t>2. </a:t>
            </a:r>
            <a:r>
              <a:rPr lang="en-US" sz="2500" i="0" dirty="0" err="1">
                <a:latin typeface="Times New Roman" panose="02020603050405020304" pitchFamily="18" charset="0"/>
                <a:cs typeface="Times New Roman" panose="02020603050405020304" pitchFamily="18" charset="0"/>
              </a:rPr>
              <a:t>Thiết</a:t>
            </a:r>
            <a:r>
              <a:rPr lang="en-US" sz="2500" i="0" dirty="0">
                <a:latin typeface="Times New Roman" panose="02020603050405020304" pitchFamily="18" charset="0"/>
                <a:cs typeface="Times New Roman" panose="02020603050405020304" pitchFamily="18" charset="0"/>
              </a:rPr>
              <a:t> </a:t>
            </a:r>
            <a:r>
              <a:rPr lang="en-US" sz="2500" i="0" dirty="0" err="1">
                <a:latin typeface="Times New Roman" panose="02020603050405020304" pitchFamily="18" charset="0"/>
                <a:cs typeface="Times New Roman" panose="02020603050405020304" pitchFamily="18" charset="0"/>
              </a:rPr>
              <a:t>kế</a:t>
            </a:r>
            <a:r>
              <a:rPr lang="en-US" sz="2500" i="0" dirty="0">
                <a:latin typeface="Times New Roman" panose="02020603050405020304" pitchFamily="18" charset="0"/>
                <a:cs typeface="Times New Roman" panose="02020603050405020304" pitchFamily="18" charset="0"/>
              </a:rPr>
              <a:t> </a:t>
            </a:r>
            <a:r>
              <a:rPr lang="en-US" sz="2500" i="0" dirty="0" err="1">
                <a:latin typeface="Times New Roman" panose="02020603050405020304" pitchFamily="18" charset="0"/>
                <a:cs typeface="Times New Roman" panose="02020603050405020304" pitchFamily="18" charset="0"/>
              </a:rPr>
              <a:t>giao</a:t>
            </a:r>
            <a:r>
              <a:rPr lang="en-US" sz="2500" i="0" dirty="0">
                <a:latin typeface="Times New Roman" panose="02020603050405020304" pitchFamily="18" charset="0"/>
                <a:cs typeface="Times New Roman" panose="02020603050405020304" pitchFamily="18" charset="0"/>
              </a:rPr>
              <a:t> </a:t>
            </a:r>
            <a:r>
              <a:rPr lang="en-US" sz="2500" i="0" dirty="0" err="1">
                <a:latin typeface="Times New Roman" panose="02020603050405020304" pitchFamily="18" charset="0"/>
                <a:cs typeface="Times New Roman" panose="02020603050405020304" pitchFamily="18" charset="0"/>
              </a:rPr>
              <a:t>diện</a:t>
            </a:r>
            <a:r>
              <a:rPr lang="en-US" sz="2500" i="0" dirty="0">
                <a:latin typeface="Times New Roman" panose="02020603050405020304" pitchFamily="18" charset="0"/>
                <a:cs typeface="Times New Roman" panose="02020603050405020304" pitchFamily="18" charset="0"/>
              </a:rPr>
              <a:t> </a:t>
            </a:r>
            <a:r>
              <a:rPr lang="en-US" sz="2500" i="0" dirty="0" err="1">
                <a:latin typeface="Times New Roman" panose="02020603050405020304" pitchFamily="18" charset="0"/>
                <a:cs typeface="Times New Roman" panose="02020603050405020304" pitchFamily="18" charset="0"/>
              </a:rPr>
              <a:t>với</a:t>
            </a:r>
            <a:r>
              <a:rPr lang="en-US" sz="2500" i="0" dirty="0">
                <a:latin typeface="Times New Roman" panose="02020603050405020304" pitchFamily="18" charset="0"/>
                <a:cs typeface="Times New Roman" panose="02020603050405020304" pitchFamily="18" charset="0"/>
              </a:rPr>
              <a:t> HTML &amp; CSS</a:t>
            </a:r>
            <a:br>
              <a:rPr lang="vi-VN" sz="2500" i="0" dirty="0">
                <a:latin typeface="Times New Roman" panose="02020603050405020304" pitchFamily="18" charset="0"/>
                <a:cs typeface="Times New Roman" panose="02020603050405020304" pitchFamily="18" charset="0"/>
              </a:rPr>
            </a:br>
            <a:br>
              <a:rPr lang="en-US" sz="1800" i="0" dirty="0">
                <a:latin typeface="Times New Roman" panose="02020603050405020304" pitchFamily="18" charset="0"/>
                <a:cs typeface="Times New Roman" panose="02020603050405020304" pitchFamily="18" charset="0"/>
              </a:rPr>
            </a:br>
            <a:r>
              <a:rPr lang="en-US" sz="1800" i="0" dirty="0">
                <a:latin typeface="Times New Roman" panose="02020603050405020304" pitchFamily="18" charset="0"/>
                <a:cs typeface="Times New Roman" panose="02020603050405020304" pitchFamily="18" charset="0"/>
              </a:rPr>
              <a:t>HTML: </a:t>
            </a:r>
            <a:r>
              <a:rPr lang="en-US" sz="1800" i="0" dirty="0" err="1">
                <a:latin typeface="Times New Roman" panose="02020603050405020304" pitchFamily="18" charset="0"/>
                <a:cs typeface="Times New Roman" panose="02020603050405020304" pitchFamily="18" charset="0"/>
              </a:rPr>
              <a:t>Ngôn</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ngữ</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đánh</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dấu</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mô</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tả</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cấu</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trúc</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trang</a:t>
            </a:r>
            <a:r>
              <a:rPr lang="en-US" sz="1800" i="0" dirty="0">
                <a:latin typeface="Times New Roman" panose="02020603050405020304" pitchFamily="18" charset="0"/>
                <a:cs typeface="Times New Roman" panose="02020603050405020304" pitchFamily="18" charset="0"/>
              </a:rPr>
              <a:t> web.</a:t>
            </a:r>
            <a:br>
              <a:rPr lang="en-US" sz="1800" i="0" dirty="0">
                <a:latin typeface="Times New Roman" panose="02020603050405020304" pitchFamily="18" charset="0"/>
                <a:cs typeface="Times New Roman" panose="02020603050405020304" pitchFamily="18" charset="0"/>
              </a:rPr>
            </a:br>
            <a:r>
              <a:rPr lang="en-US" sz="1800" i="0" dirty="0">
                <a:latin typeface="Times New Roman" panose="02020603050405020304" pitchFamily="18" charset="0"/>
                <a:cs typeface="Times New Roman" panose="02020603050405020304" pitchFamily="18" charset="0"/>
              </a:rPr>
              <a:t>CSS: Định </a:t>
            </a:r>
            <a:r>
              <a:rPr lang="en-US" sz="1800" i="0" dirty="0" err="1">
                <a:latin typeface="Times New Roman" panose="02020603050405020304" pitchFamily="18" charset="0"/>
                <a:cs typeface="Times New Roman" panose="02020603050405020304" pitchFamily="18" charset="0"/>
              </a:rPr>
              <a:t>dạng</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và</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trình</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bày</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giao</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diện</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giúp</a:t>
            </a:r>
            <a:r>
              <a:rPr lang="en-US" sz="1800" i="0" dirty="0">
                <a:latin typeface="Times New Roman" panose="02020603050405020304" pitchFamily="18" charset="0"/>
                <a:cs typeface="Times New Roman" panose="02020603050405020304" pitchFamily="18" charset="0"/>
              </a:rPr>
              <a:t> website </a:t>
            </a:r>
            <a:r>
              <a:rPr lang="en-US" sz="1800" i="0" dirty="0" err="1">
                <a:latin typeface="Times New Roman" panose="02020603050405020304" pitchFamily="18" charset="0"/>
                <a:cs typeface="Times New Roman" panose="02020603050405020304" pitchFamily="18" charset="0"/>
              </a:rPr>
              <a:t>đẹp</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và</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dễ</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bảo</a:t>
            </a:r>
            <a:r>
              <a:rPr lang="en-US" sz="1800" i="0" dirty="0">
                <a:latin typeface="Times New Roman" panose="02020603050405020304" pitchFamily="18" charset="0"/>
                <a:cs typeface="Times New Roman" panose="02020603050405020304" pitchFamily="18" charset="0"/>
              </a:rPr>
              <a:t> </a:t>
            </a:r>
            <a:r>
              <a:rPr lang="en-US" sz="1800" i="0" dirty="0" err="1">
                <a:latin typeface="Times New Roman" panose="02020603050405020304" pitchFamily="18" charset="0"/>
                <a:cs typeface="Times New Roman" panose="02020603050405020304" pitchFamily="18" charset="0"/>
              </a:rPr>
              <a:t>trì</a:t>
            </a:r>
            <a:r>
              <a:rPr lang="en-US" sz="1800" i="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0C46BD1-7FD9-DEDE-BB4D-03D30DCD8ECB}"/>
              </a:ext>
            </a:extLst>
          </p:cNvPr>
          <p:cNvSpPr txBox="1"/>
          <p:nvPr/>
        </p:nvSpPr>
        <p:spPr>
          <a:xfrm>
            <a:off x="3807955" y="4744684"/>
            <a:ext cx="5589992" cy="2246769"/>
          </a:xfrm>
          <a:prstGeom prst="rect">
            <a:avLst/>
          </a:prstGeom>
          <a:noFill/>
        </p:spPr>
        <p:txBody>
          <a:bodyPr wrap="none" rtlCol="0">
            <a:spAutoFit/>
          </a:bodyPr>
          <a:lstStyle/>
          <a:p>
            <a:r>
              <a:rPr lang="vi-VN" sz="2500" dirty="0">
                <a:latin typeface="Times New Roman" panose="02020603050405020304" pitchFamily="18" charset="0"/>
                <a:cs typeface="Times New Roman" panose="02020603050405020304" pitchFamily="18" charset="0"/>
              </a:rPr>
              <a:t>3. Lập trình Front-End với JavaScript</a:t>
            </a:r>
          </a:p>
          <a:p>
            <a:endParaRPr lang="vi-VN" sz="2500" dirty="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Tạo trang web động và tương tác.</a:t>
            </a:r>
          </a:p>
          <a:p>
            <a:r>
              <a:rPr lang="vi-VN" dirty="0">
                <a:latin typeface="Times New Roman" panose="02020603050405020304" pitchFamily="18" charset="0"/>
                <a:cs typeface="Times New Roman" panose="02020603050405020304" pitchFamily="18" charset="0"/>
              </a:rPr>
              <a:t>Xử lý sự kiện người dùng.</a:t>
            </a:r>
          </a:p>
          <a:p>
            <a:r>
              <a:rPr lang="vi-VN" dirty="0">
                <a:latin typeface="Times New Roman" panose="02020603050405020304" pitchFamily="18" charset="0"/>
                <a:cs typeface="Times New Roman" panose="02020603050405020304" pitchFamily="18" charset="0"/>
              </a:rPr>
              <a:t>Thay đổi nội dung HTML/CSS mà không cần tải lại trang.</a:t>
            </a:r>
          </a:p>
          <a:p>
            <a:r>
              <a:rPr lang="vi-VN" dirty="0">
                <a:latin typeface="Times New Roman" panose="02020603050405020304" pitchFamily="18" charset="0"/>
                <a:cs typeface="Times New Roman" panose="02020603050405020304" pitchFamily="18" charset="0"/>
              </a:rPr>
              <a:t>Xử lý dữ liệu trực tiếp trên trình duyệt.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667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0CD-7B4C-77E1-18B9-9A5A7509D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8D39A-1AF1-8F9B-802A-A0BF66A5E29F}"/>
              </a:ext>
            </a:extLst>
          </p:cNvPr>
          <p:cNvSpPr>
            <a:spLocks noGrp="1"/>
          </p:cNvSpPr>
          <p:nvPr>
            <p:ph type="ctrTitle"/>
          </p:nvPr>
        </p:nvSpPr>
        <p:spPr>
          <a:xfrm>
            <a:off x="797799" y="2712515"/>
            <a:ext cx="6597182" cy="1256713"/>
          </a:xfrm>
          <a:noFill/>
        </p:spPr>
        <p:txBody>
          <a:bodyPr>
            <a:noAutofit/>
          </a:bodyPr>
          <a:lstStyle/>
          <a:p>
            <a:r>
              <a:rPr lang="vi-VN" b="1" dirty="0">
                <a:latin typeface="Times New Roman" panose="02020603050405020304" pitchFamily="18" charset="0"/>
                <a:cs typeface="Times New Roman" panose="02020603050405020304" pitchFamily="18" charset="0"/>
              </a:rPr>
              <a:t>3. Phân tích thiết kế</a:t>
            </a:r>
          </a:p>
        </p:txBody>
      </p:sp>
      <p:pic>
        <p:nvPicPr>
          <p:cNvPr id="43" name="Picture Placeholder 42" descr="A plane flying over a city">
            <a:extLst>
              <a:ext uri="{FF2B5EF4-FFF2-40B4-BE49-F238E27FC236}">
                <a16:creationId xmlns:a16="http://schemas.microsoft.com/office/drawing/2014/main" id="{E07D0039-EB36-7F4B-FECB-92D07AFA7FEF}"/>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9" r="39"/>
          <a:stretch/>
        </p:blipFill>
        <p:spPr/>
      </p:pic>
    </p:spTree>
    <p:extLst>
      <p:ext uri="{BB962C8B-B14F-4D97-AF65-F5344CB8AC3E}">
        <p14:creationId xmlns:p14="http://schemas.microsoft.com/office/powerpoint/2010/main" val="900133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D9E56-544B-8EC2-4B79-1F22C148166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D63756-C79A-CF6A-D9C2-C680A80B7AD1}"/>
              </a:ext>
            </a:extLst>
          </p:cNvPr>
          <p:cNvSpPr>
            <a:spLocks noGrp="1"/>
          </p:cNvSpPr>
          <p:nvPr>
            <p:ph type="ctrTitle"/>
          </p:nvPr>
        </p:nvSpPr>
        <p:spPr>
          <a:xfrm>
            <a:off x="2628645" y="0"/>
            <a:ext cx="4754062" cy="901457"/>
          </a:xfrm>
          <a:noFill/>
        </p:spPr>
        <p:txBody>
          <a:bodyPr anchor="b"/>
          <a:lstStyle/>
          <a:p>
            <a:r>
              <a:rPr lang="vi-VN" dirty="0">
                <a:latin typeface="tim"/>
              </a:rPr>
              <a:t>Biểu đồ use case</a:t>
            </a:r>
            <a:endParaRPr lang="en-US" dirty="0">
              <a:latin typeface="tim"/>
            </a:endParaRPr>
          </a:p>
        </p:txBody>
      </p:sp>
      <p:pic>
        <p:nvPicPr>
          <p:cNvPr id="1026" name="Picture 2">
            <a:extLst>
              <a:ext uri="{FF2B5EF4-FFF2-40B4-BE49-F238E27FC236}">
                <a16:creationId xmlns:a16="http://schemas.microsoft.com/office/drawing/2014/main" id="{1F35913F-CEEA-60CF-30AE-FC65DA1F276C}"/>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2428875" y="1054100"/>
            <a:ext cx="5613400" cy="516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4387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1343C-287F-85BB-53CC-1D59C4B049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731FA17-6583-49D7-28A0-CCD2A6831C60}"/>
              </a:ext>
            </a:extLst>
          </p:cNvPr>
          <p:cNvSpPr>
            <a:spLocks noGrp="1"/>
          </p:cNvSpPr>
          <p:nvPr>
            <p:ph type="ctrTitle"/>
          </p:nvPr>
        </p:nvSpPr>
        <p:spPr>
          <a:xfrm>
            <a:off x="2628645" y="0"/>
            <a:ext cx="4754062" cy="901457"/>
          </a:xfrm>
          <a:noFill/>
        </p:spPr>
        <p:txBody>
          <a:bodyPr anchor="b"/>
          <a:lstStyle/>
          <a:p>
            <a:r>
              <a:rPr lang="vi-VN" dirty="0">
                <a:latin typeface="tim"/>
              </a:rPr>
              <a:t>Biểu đồ lớp</a:t>
            </a:r>
            <a:endParaRPr lang="en-US" dirty="0">
              <a:latin typeface="tim"/>
            </a:endParaRPr>
          </a:p>
        </p:txBody>
      </p:sp>
      <p:pic>
        <p:nvPicPr>
          <p:cNvPr id="2050" name="Picture 1">
            <a:extLst>
              <a:ext uri="{FF2B5EF4-FFF2-40B4-BE49-F238E27FC236}">
                <a16:creationId xmlns:a16="http://schemas.microsoft.com/office/drawing/2014/main" id="{14362019-3ED5-5D2F-4AE7-28C95FE408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2390" y="715409"/>
            <a:ext cx="6590521" cy="558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8325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789104" y="2414854"/>
            <a:ext cx="6645965" cy="1325563"/>
          </a:xfrm>
          <a:noFill/>
        </p:spPr>
        <p:txBody>
          <a:bodyPr/>
          <a:lstStyle/>
          <a:p>
            <a:r>
              <a:rPr lang="vi-VN" b="1" dirty="0">
                <a:latin typeface="Times New Roman" panose="02020603050405020304" pitchFamily="18" charset="0"/>
                <a:cs typeface="Times New Roman" panose="02020603050405020304" pitchFamily="18" charset="0"/>
              </a:rPr>
              <a:t>4. Triển khai website</a:t>
            </a:r>
          </a:p>
        </p:txBody>
      </p:sp>
      <p:pic>
        <p:nvPicPr>
          <p:cNvPr id="20" name="Picture Placeholder 19" descr="City lights at night">
            <a:extLst>
              <a:ext uri="{FF2B5EF4-FFF2-40B4-BE49-F238E27FC236}">
                <a16:creationId xmlns:a16="http://schemas.microsoft.com/office/drawing/2014/main" id="{E5D7764F-CE06-1A00-3555-ACAE6ACDFE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2" b="52"/>
          <a:stretch/>
        </p:blipFill>
        <p:spPr/>
      </p:pic>
    </p:spTree>
    <p:extLst>
      <p:ext uri="{BB962C8B-B14F-4D97-AF65-F5344CB8AC3E}">
        <p14:creationId xmlns:p14="http://schemas.microsoft.com/office/powerpoint/2010/main" val="2737241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D83DA-3C05-83CD-C1DA-BAA202C0E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479FB-535C-1B52-8D5D-AA2C0C24291D}"/>
              </a:ext>
            </a:extLst>
          </p:cNvPr>
          <p:cNvSpPr>
            <a:spLocks noGrp="1"/>
          </p:cNvSpPr>
          <p:nvPr>
            <p:ph type="ctrTitle"/>
          </p:nvPr>
        </p:nvSpPr>
        <p:spPr>
          <a:xfrm>
            <a:off x="797799" y="2712515"/>
            <a:ext cx="6597182" cy="1256713"/>
          </a:xfrm>
          <a:noFill/>
        </p:spPr>
        <p:txBody>
          <a:bodyPr>
            <a:noAutofit/>
          </a:bodyPr>
          <a:lstStyle/>
          <a:p>
            <a:r>
              <a:rPr lang="vi-VN" b="1" dirty="0">
                <a:latin typeface="Times New Roman" panose="02020603050405020304" pitchFamily="18" charset="0"/>
                <a:cs typeface="Times New Roman" panose="02020603050405020304" pitchFamily="18" charset="0"/>
              </a:rPr>
              <a:t>5. kết luận</a:t>
            </a:r>
          </a:p>
        </p:txBody>
      </p:sp>
      <p:pic>
        <p:nvPicPr>
          <p:cNvPr id="43" name="Picture Placeholder 42" descr="A plane flying over a city">
            <a:extLst>
              <a:ext uri="{FF2B5EF4-FFF2-40B4-BE49-F238E27FC236}">
                <a16:creationId xmlns:a16="http://schemas.microsoft.com/office/drawing/2014/main" id="{F145E8DA-B1D9-4E97-16EA-A2556328BF0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9" r="39"/>
          <a:stretch/>
        </p:blipFill>
        <p:spPr/>
      </p:pic>
    </p:spTree>
    <p:extLst>
      <p:ext uri="{BB962C8B-B14F-4D97-AF65-F5344CB8AC3E}">
        <p14:creationId xmlns:p14="http://schemas.microsoft.com/office/powerpoint/2010/main" val="1221653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34B7F-1160-8B1C-09CE-A79983B96516}"/>
            </a:ext>
          </a:extLst>
        </p:cNvPr>
        <p:cNvGrpSpPr/>
        <p:nvPr/>
      </p:nvGrpSpPr>
      <p:grpSpPr>
        <a:xfrm>
          <a:off x="0" y="0"/>
          <a:ext cx="0" cy="0"/>
          <a:chOff x="0" y="0"/>
          <a:chExt cx="0" cy="0"/>
        </a:xfrm>
      </p:grpSpPr>
      <p:sp>
        <p:nvSpPr>
          <p:cNvPr id="3" name="Content Placeholder 3">
            <a:extLst>
              <a:ext uri="{FF2B5EF4-FFF2-40B4-BE49-F238E27FC236}">
                <a16:creationId xmlns:a16="http://schemas.microsoft.com/office/drawing/2014/main" id="{90B98858-72F3-7CA1-6980-1168516B9221}"/>
              </a:ext>
            </a:extLst>
          </p:cNvPr>
          <p:cNvSpPr txBox="1">
            <a:spLocks/>
          </p:cNvSpPr>
          <p:nvPr/>
        </p:nvSpPr>
        <p:spPr>
          <a:xfrm>
            <a:off x="1073426" y="1686813"/>
            <a:ext cx="11096436" cy="1878197"/>
          </a:xfrm>
          <a:prstGeom prst="rect">
            <a:avLst/>
          </a:prstGeom>
        </p:spPr>
        <p:txBody>
          <a:bodyPr>
            <a:normAutofit/>
          </a:bodyPr>
          <a:lst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1500" dirty="0">
                <a:latin typeface="Times New Roman" panose="02020603050405020304" pitchFamily="18" charset="0"/>
                <a:cs typeface="Times New Roman" panose="02020603050405020304" pitchFamily="18" charset="0"/>
              </a:rPr>
              <a:t>- Đề tài đã hoàn thành việc phân tích thiết kế hệ thống quản lý cửa hàng bán mô hình theo hướng đối tượng, xây dựng đẩy đủ các biểu đồ UML và mô hình cơ sở dữ liệu theo yêu cầu</a:t>
            </a:r>
            <a:endParaRPr lang="en-US" sz="1500" dirty="0">
              <a:latin typeface="Times New Roman" panose="02020603050405020304" pitchFamily="18" charset="0"/>
              <a:cs typeface="Times New Roman" panose="02020603050405020304" pitchFamily="18" charset="0"/>
            </a:endParaRPr>
          </a:p>
        </p:txBody>
      </p:sp>
      <p:sp>
        <p:nvSpPr>
          <p:cNvPr id="4" name="Slide Number Placeholder 1">
            <a:extLst>
              <a:ext uri="{FF2B5EF4-FFF2-40B4-BE49-F238E27FC236}">
                <a16:creationId xmlns:a16="http://schemas.microsoft.com/office/drawing/2014/main" id="{066535B4-502B-CBC4-FC5A-F1354B82836C}"/>
              </a:ext>
            </a:extLst>
          </p:cNvPr>
          <p:cNvSpPr txBox="1">
            <a:spLocks/>
          </p:cNvSpPr>
          <p:nvPr/>
        </p:nvSpPr>
        <p:spPr>
          <a:xfrm>
            <a:off x="11178898" y="6449509"/>
            <a:ext cx="1295400" cy="87489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AB70BE-1769-45B8-85A6-0C837432C7E6}" type="slidenum">
              <a:rPr lang="en-US" smtClean="0"/>
              <a:pPr/>
              <a:t>12</a:t>
            </a:fld>
            <a:endParaRPr lang="en-US" dirty="0"/>
          </a:p>
        </p:txBody>
      </p:sp>
      <p:sp>
        <p:nvSpPr>
          <p:cNvPr id="5" name="TextBox 4">
            <a:extLst>
              <a:ext uri="{FF2B5EF4-FFF2-40B4-BE49-F238E27FC236}">
                <a16:creationId xmlns:a16="http://schemas.microsoft.com/office/drawing/2014/main" id="{2FF87D33-4A16-454E-9F81-A15A2CD942D2}"/>
              </a:ext>
            </a:extLst>
          </p:cNvPr>
          <p:cNvSpPr txBox="1"/>
          <p:nvPr/>
        </p:nvSpPr>
        <p:spPr>
          <a:xfrm>
            <a:off x="865672" y="1041628"/>
            <a:ext cx="1755609"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Kết quả đạt được</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BC9246A-7E58-9DA3-61E9-E243CB721EEB}"/>
              </a:ext>
            </a:extLst>
          </p:cNvPr>
          <p:cNvSpPr txBox="1"/>
          <p:nvPr/>
        </p:nvSpPr>
        <p:spPr>
          <a:xfrm>
            <a:off x="865672" y="2450713"/>
            <a:ext cx="947695" cy="369332"/>
          </a:xfrm>
          <a:prstGeom prst="rect">
            <a:avLst/>
          </a:prstGeom>
          <a:noFill/>
        </p:spPr>
        <p:txBody>
          <a:bodyPr wrap="square" rtlCol="0">
            <a:spAutoFit/>
          </a:bodyPr>
          <a:lstStyle/>
          <a:p>
            <a:r>
              <a:rPr lang="vi-VN" dirty="0">
                <a:latin typeface="Times New Roman" panose="02020603050405020304" pitchFamily="18" charset="0"/>
                <a:cs typeface="Times New Roman" panose="02020603050405020304" pitchFamily="18" charset="0"/>
              </a:rPr>
              <a:t>Hạn chế</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08DB075-0F6C-8EAA-3EA7-534629049128}"/>
              </a:ext>
            </a:extLst>
          </p:cNvPr>
          <p:cNvSpPr txBox="1"/>
          <p:nvPr/>
        </p:nvSpPr>
        <p:spPr>
          <a:xfrm>
            <a:off x="860862" y="3890720"/>
            <a:ext cx="1765227"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Hướng phát triển</a:t>
            </a: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FFD2032-0D64-D057-B628-61E0D71A3ACD}"/>
              </a:ext>
            </a:extLst>
          </p:cNvPr>
          <p:cNvSpPr txBox="1"/>
          <p:nvPr/>
        </p:nvSpPr>
        <p:spPr>
          <a:xfrm>
            <a:off x="1012057" y="4557437"/>
            <a:ext cx="10367741" cy="553998"/>
          </a:xfrm>
          <a:prstGeom prst="rect">
            <a:avLst/>
          </a:prstGeom>
          <a:noFill/>
        </p:spPr>
        <p:txBody>
          <a:bodyPr wrap="square">
            <a:spAutoFit/>
          </a:bodyPr>
          <a:lstStyle/>
          <a:p>
            <a:r>
              <a:rPr lang="vi-VN"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Xây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dựng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thử</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nghiệm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hệ</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thống</a:t>
            </a:r>
            <a:r>
              <a:rPr lang="en-US" sz="1500" dirty="0">
                <a:latin typeface="Times New Roman" panose="02020603050405020304" pitchFamily="18" charset="0"/>
                <a:cs typeface="Times New Roman" panose="02020603050405020304" pitchFamily="18" charset="0"/>
              </a:rPr>
              <a:t> website </a:t>
            </a:r>
            <a:r>
              <a:rPr lang="en-US" sz="1500" dirty="0" err="1">
                <a:latin typeface="Times New Roman" panose="02020603050405020304" pitchFamily="18" charset="0"/>
                <a:cs typeface="Times New Roman" panose="02020603050405020304" pitchFamily="18" charset="0"/>
              </a:rPr>
              <a:t>bán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hình</a:t>
            </a:r>
            <a:r>
              <a:rPr lang="en-US" sz="1500" dirty="0">
                <a:latin typeface="Times New Roman" panose="02020603050405020304" pitchFamily="18" charset="0"/>
                <a:cs typeface="Times New Roman" panose="02020603050405020304" pitchFamily="18" charset="0"/>
              </a:rPr>
              <a:t> ở </a:t>
            </a:r>
            <a:r>
              <a:rPr lang="en-US" sz="1500" dirty="0" err="1">
                <a:latin typeface="Times New Roman" panose="02020603050405020304" pitchFamily="18" charset="0"/>
                <a:cs typeface="Times New Roman" panose="02020603050405020304" pitchFamily="18" charset="0"/>
              </a:rPr>
              <a:t>quy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cửa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vừa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nhỏ</a:t>
            </a:r>
            <a:r>
              <a:rPr lang="en-US" sz="1500" dirty="0">
                <a:latin typeface="Times New Roman" panose="02020603050405020304" pitchFamily="18" charset="0"/>
                <a:cs typeface="Times New Roman" panose="02020603050405020304" pitchFamily="18" charset="0"/>
              </a:rPr>
              <a:t>.</a:t>
            </a:r>
          </a:p>
          <a:p>
            <a:r>
              <a:rPr lang="vi-VN"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Tích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hợp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công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nghệ</a:t>
            </a:r>
            <a:r>
              <a:rPr lang="en-US" sz="1500" dirty="0">
                <a:latin typeface="Times New Roman" panose="02020603050405020304" pitchFamily="18" charset="0"/>
                <a:cs typeface="Times New Roman" panose="02020603050405020304" pitchFamily="18" charset="0"/>
              </a:rPr>
              <a:t> AI </a:t>
            </a:r>
            <a:r>
              <a:rPr lang="en-US" sz="1500" dirty="0" err="1">
                <a:latin typeface="Times New Roman" panose="02020603050405020304" pitchFamily="18" charset="0"/>
                <a:cs typeface="Times New Roman" panose="02020603050405020304" pitchFamily="18" charset="0"/>
              </a:rPr>
              <a:t>để</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động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phân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tích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hành</a:t>
            </a:r>
            <a:r>
              <a:rPr lang="en-US" sz="1500" dirty="0">
                <a:latin typeface="Times New Roman" panose="02020603050405020304" pitchFamily="18" charset="0"/>
                <a:cs typeface="Times New Roman" panose="02020603050405020304" pitchFamily="18" charset="0"/>
              </a:rPr>
              <a:t> vi </a:t>
            </a:r>
            <a:r>
              <a:rPr lang="en-US" sz="1500" dirty="0" err="1">
                <a:latin typeface="Times New Roman" panose="02020603050405020304" pitchFamily="18" charset="0"/>
                <a:cs typeface="Times New Roman" panose="02020603050405020304" pitchFamily="18" charset="0"/>
              </a:rPr>
              <a:t>mua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sắm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đề</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xuất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sản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phẩm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phù</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hợp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từng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khách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a:t>
            </a:r>
          </a:p>
        </p:txBody>
      </p:sp>
      <p:sp>
        <p:nvSpPr>
          <p:cNvPr id="16" name="TextBox 15">
            <a:extLst>
              <a:ext uri="{FF2B5EF4-FFF2-40B4-BE49-F238E27FC236}">
                <a16:creationId xmlns:a16="http://schemas.microsoft.com/office/drawing/2014/main" id="{B5DE965A-3968-DC05-C666-53AFD0A89BD5}"/>
              </a:ext>
            </a:extLst>
          </p:cNvPr>
          <p:cNvSpPr txBox="1"/>
          <p:nvPr/>
        </p:nvSpPr>
        <p:spPr>
          <a:xfrm>
            <a:off x="1073426" y="3233238"/>
            <a:ext cx="10609743" cy="553998"/>
          </a:xfrm>
          <a:prstGeom prst="rect">
            <a:avLst/>
          </a:prstGeom>
          <a:noFill/>
        </p:spPr>
        <p:txBody>
          <a:bodyPr wrap="square" rtlCol="0">
            <a:spAutoFit/>
          </a:bodyPr>
          <a:lstStyle/>
          <a:p>
            <a:r>
              <a:rPr lang="vi-VN" sz="1500" dirty="0">
                <a:latin typeface="Times New Roman" panose="02020603050405020304" pitchFamily="18" charset="0"/>
                <a:cs typeface="Times New Roman" panose="02020603050405020304" pitchFamily="18" charset="0"/>
              </a:rPr>
              <a:t>- Hệ thống mới dừng lại ở mức phân tích thiết kế, chưa triển khai và thử nhiệm thực tế, mỗi biểu đồ và nghiệp vụ chưa ảnh hưởng đẩy đủ tình huống trên thực tế</a:t>
            </a: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201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descr="Close-up of a bridge with wires">
            <a:extLst>
              <a:ext uri="{FF2B5EF4-FFF2-40B4-BE49-F238E27FC236}">
                <a16:creationId xmlns:a16="http://schemas.microsoft.com/office/drawing/2014/main" id="{E461669C-A7BA-D639-22CB-B5FBBE698B38}"/>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0" r="20"/>
          <a:stretch/>
        </p:blipFill>
        <p:spPr>
          <a:noFill/>
        </p:spPr>
      </p:pic>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lstStyle/>
          <a:p>
            <a:r>
              <a:rPr lang="en-US" b="1" dirty="0"/>
              <a:t>THANK YOU</a:t>
            </a:r>
          </a:p>
        </p:txBody>
      </p:sp>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2.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{2195FFA2-6DD4-4919-9ABF-44BDDFC45F90}TF020710ce-b2a3-4743-8ec4-0abcd2574951ef9f6aa4_win32-415a623b9e9a</Template>
  <TotalTime>167</TotalTime>
  <Words>628</Words>
  <Application>Microsoft Office PowerPoint</Application>
  <PresentationFormat>Widescreen</PresentationFormat>
  <Paragraphs>62</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Calibri</vt:lpstr>
      <vt:lpstr>tim</vt:lpstr>
      <vt:lpstr>Times New Roman</vt:lpstr>
      <vt:lpstr>Univers Condensed Light</vt:lpstr>
      <vt:lpstr>Walbaum Display Light</vt:lpstr>
      <vt:lpstr>AngleLinesVTI</vt:lpstr>
      <vt:lpstr>Đồ án 2 : THIẾT KẾ WEBSITE BÁN MÔ HÌNH </vt:lpstr>
      <vt:lpstr>Mục lục</vt:lpstr>
      <vt:lpstr> Giới thiệu đề tài</vt:lpstr>
      <vt:lpstr>PowerPoint Presentation</vt:lpstr>
      <vt:lpstr>2. Cơ sở lý thuyết</vt:lpstr>
      <vt:lpstr>2. Thiết kế giao diện với HTML &amp; CSS  HTML: Ngôn ngữ đánh dấu mô tả cấu trúc trang web. CSS: Định dạng và trình bày giao diện, giúp website đẹp và dễ bảo trì. </vt:lpstr>
      <vt:lpstr>3. Phân tích thiết kế</vt:lpstr>
      <vt:lpstr>Biểu đồ use case</vt:lpstr>
      <vt:lpstr>Biểu đồ lớp</vt:lpstr>
      <vt:lpstr>4. Triển khai website</vt:lpstr>
      <vt:lpstr>5. kết luận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 nguyen</dc:creator>
  <cp:lastModifiedBy>nam nguyen</cp:lastModifiedBy>
  <cp:revision>2</cp:revision>
  <dcterms:created xsi:type="dcterms:W3CDTF">2025-12-08T02:46:07Z</dcterms:created>
  <dcterms:modified xsi:type="dcterms:W3CDTF">2025-12-18T02:16:08Z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